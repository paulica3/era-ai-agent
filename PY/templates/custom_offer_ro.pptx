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3" r:id="rId7"/>
    <p:sldId id="272" r:id="rId8"/>
    <p:sldId id="261" r:id="rId9"/>
    <p:sldId id="262" r:id="rId10"/>
    <p:sldId id="263" r:id="rId11"/>
    <p:sldId id="264" r:id="rId12"/>
    <p:sldId id="265" r:id="rId13"/>
    <p:sldId id="266" r:id="rId14"/>
    <p:sldId id="267" r:id="rId15"/>
    <p:sldId id="268" r:id="rId16"/>
    <p:sldId id="269" r:id="rId17"/>
    <p:sldId id="270" r:id="rId18"/>
    <p:sldId id="271" r:id="rId19"/>
  </p:sldIdLst>
  <p:sldSz cx="13344525" cy="829945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14">
          <p15:clr>
            <a:srgbClr val="A4A3A4"/>
          </p15:clr>
        </p15:guide>
        <p15:guide id="2" pos="420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ye520NtAUYpLDSqaC4w4y14t9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599C68-CCEA-4331-8874-6C1E036581AA}">
  <a:tblStyle styleId="{73599C68-CCEA-4331-8874-6C1E036581A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FF0782A-B248-4C6F-8606-AE48E0E161FE}"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1128" y="72"/>
      </p:cViewPr>
      <p:guideLst>
        <p:guide orient="horz" pos="2614"/>
        <p:guide pos="42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3" Type="http://customschemas.google.com/relationships/presentationmetadata" Target="meta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364"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5: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947738" y="1143000"/>
            <a:ext cx="49625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919175" y="553297"/>
            <a:ext cx="4303956" cy="1936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502"/>
              <a:buFont typeface="Calibri"/>
              <a:buNone/>
              <a:defRPr sz="3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a:spLocks noGrp="1"/>
          </p:cNvSpPr>
          <p:nvPr>
            <p:ph type="pic" idx="2"/>
          </p:nvPr>
        </p:nvSpPr>
        <p:spPr>
          <a:xfrm>
            <a:off x="5673161" y="1194968"/>
            <a:ext cx="6755666" cy="5897989"/>
          </a:xfrm>
          <a:prstGeom prst="rect">
            <a:avLst/>
          </a:prstGeom>
          <a:noFill/>
          <a:ln>
            <a:noFill/>
          </a:ln>
        </p:spPr>
        <p:txBody>
          <a:bodyPr/>
          <a:lstStyle/>
          <a:p>
            <a:endParaRPr lang="en-US"/>
          </a:p>
        </p:txBody>
      </p:sp>
      <p:sp>
        <p:nvSpPr>
          <p:cNvPr id="18" name="Google Shape;18;p18"/>
          <p:cNvSpPr txBox="1">
            <a:spLocks noGrp="1"/>
          </p:cNvSpPr>
          <p:nvPr>
            <p:ph type="body" idx="1"/>
          </p:nvPr>
        </p:nvSpPr>
        <p:spPr>
          <a:xfrm>
            <a:off x="919175" y="2489835"/>
            <a:ext cx="4303956" cy="46127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chemeClr val="dk1"/>
              </a:buClr>
              <a:buSzPts val="1751"/>
              <a:buNone/>
              <a:defRPr sz="1751"/>
            </a:lvl1pPr>
            <a:lvl2pPr marL="914400" lvl="1" indent="-228600" algn="l">
              <a:lnSpc>
                <a:spcPct val="90000"/>
              </a:lnSpc>
              <a:spcBef>
                <a:spcPts val="547"/>
              </a:spcBef>
              <a:spcAft>
                <a:spcPts val="0"/>
              </a:spcAft>
              <a:buClr>
                <a:schemeClr val="dk1"/>
              </a:buClr>
              <a:buSzPts val="1532"/>
              <a:buNone/>
              <a:defRPr sz="1532"/>
            </a:lvl2pPr>
            <a:lvl3pPr marL="1371600" lvl="2" indent="-228600" algn="l">
              <a:lnSpc>
                <a:spcPct val="90000"/>
              </a:lnSpc>
              <a:spcBef>
                <a:spcPts val="547"/>
              </a:spcBef>
              <a:spcAft>
                <a:spcPts val="0"/>
              </a:spcAft>
              <a:buClr>
                <a:schemeClr val="dk1"/>
              </a:buClr>
              <a:buSzPts val="1313"/>
              <a:buNone/>
              <a:defRPr sz="1313"/>
            </a:lvl3pPr>
            <a:lvl4pPr marL="1828800" lvl="3" indent="-228600" algn="l">
              <a:lnSpc>
                <a:spcPct val="90000"/>
              </a:lnSpc>
              <a:spcBef>
                <a:spcPts val="547"/>
              </a:spcBef>
              <a:spcAft>
                <a:spcPts val="0"/>
              </a:spcAft>
              <a:buClr>
                <a:schemeClr val="dk1"/>
              </a:buClr>
              <a:buSzPts val="1095"/>
              <a:buNone/>
              <a:defRPr sz="1095"/>
            </a:lvl4pPr>
            <a:lvl5pPr marL="2286000" lvl="4" indent="-228600" algn="l">
              <a:lnSpc>
                <a:spcPct val="90000"/>
              </a:lnSpc>
              <a:spcBef>
                <a:spcPts val="547"/>
              </a:spcBef>
              <a:spcAft>
                <a:spcPts val="0"/>
              </a:spcAft>
              <a:buClr>
                <a:schemeClr val="dk1"/>
              </a:buClr>
              <a:buSzPts val="1095"/>
              <a:buNone/>
              <a:defRPr sz="1095"/>
            </a:lvl5pPr>
            <a:lvl6pPr marL="2743200" lvl="5" indent="-228600" algn="l">
              <a:lnSpc>
                <a:spcPct val="90000"/>
              </a:lnSpc>
              <a:spcBef>
                <a:spcPts val="547"/>
              </a:spcBef>
              <a:spcAft>
                <a:spcPts val="0"/>
              </a:spcAft>
              <a:buClr>
                <a:schemeClr val="dk1"/>
              </a:buClr>
              <a:buSzPts val="1095"/>
              <a:buNone/>
              <a:defRPr sz="1095"/>
            </a:lvl6pPr>
            <a:lvl7pPr marL="3200400" lvl="6" indent="-228600" algn="l">
              <a:lnSpc>
                <a:spcPct val="90000"/>
              </a:lnSpc>
              <a:spcBef>
                <a:spcPts val="547"/>
              </a:spcBef>
              <a:spcAft>
                <a:spcPts val="0"/>
              </a:spcAft>
              <a:buClr>
                <a:schemeClr val="dk1"/>
              </a:buClr>
              <a:buSzPts val="1095"/>
              <a:buNone/>
              <a:defRPr sz="1095"/>
            </a:lvl7pPr>
            <a:lvl8pPr marL="3657600" lvl="7" indent="-228600" algn="l">
              <a:lnSpc>
                <a:spcPct val="90000"/>
              </a:lnSpc>
              <a:spcBef>
                <a:spcPts val="547"/>
              </a:spcBef>
              <a:spcAft>
                <a:spcPts val="0"/>
              </a:spcAft>
              <a:buClr>
                <a:schemeClr val="dk1"/>
              </a:buClr>
              <a:buSzPts val="1095"/>
              <a:buNone/>
              <a:defRPr sz="1095"/>
            </a:lvl8pPr>
            <a:lvl9pPr marL="4114800" lvl="8" indent="-228600" algn="l">
              <a:lnSpc>
                <a:spcPct val="90000"/>
              </a:lnSpc>
              <a:spcBef>
                <a:spcPts val="547"/>
              </a:spcBef>
              <a:spcAft>
                <a:spcPts val="0"/>
              </a:spcAft>
              <a:buClr>
                <a:schemeClr val="dk1"/>
              </a:buClr>
              <a:buSzPts val="1095"/>
              <a:buNone/>
              <a:defRPr sz="1095"/>
            </a:lvl9pPr>
          </a:lstStyle>
          <a:p>
            <a:endParaRPr/>
          </a:p>
        </p:txBody>
      </p:sp>
      <p:sp>
        <p:nvSpPr>
          <p:cNvPr id="19" name="Google Shape;19;p18"/>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9"/>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9"/>
          <p:cNvSpPr txBox="1">
            <a:spLocks noGrp="1"/>
          </p:cNvSpPr>
          <p:nvPr>
            <p:ph type="body" idx="1"/>
          </p:nvPr>
        </p:nvSpPr>
        <p:spPr>
          <a:xfrm>
            <a:off x="917436" y="2209344"/>
            <a:ext cx="1150965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25" name="Google Shape;25;p19"/>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20"/>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0"/>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21"/>
          <p:cNvSpPr txBox="1">
            <a:spLocks noGrp="1"/>
          </p:cNvSpPr>
          <p:nvPr>
            <p:ph type="ctrTitle"/>
          </p:nvPr>
        </p:nvSpPr>
        <p:spPr>
          <a:xfrm>
            <a:off x="1668066" y="1358267"/>
            <a:ext cx="10008394" cy="2889438"/>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567"/>
              <a:buFont typeface="Calibri"/>
              <a:buNone/>
              <a:defRPr sz="65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subTitle" idx="1"/>
          </p:nvPr>
        </p:nvSpPr>
        <p:spPr>
          <a:xfrm>
            <a:off x="1668066" y="4359133"/>
            <a:ext cx="10008394" cy="200377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95"/>
              </a:spcBef>
              <a:spcAft>
                <a:spcPts val="0"/>
              </a:spcAft>
              <a:buClr>
                <a:schemeClr val="dk1"/>
              </a:buClr>
              <a:buSzPts val="2627"/>
              <a:buNone/>
              <a:defRPr sz="2627"/>
            </a:lvl1pPr>
            <a:lvl2pPr lvl="1" algn="ctr">
              <a:lnSpc>
                <a:spcPct val="90000"/>
              </a:lnSpc>
              <a:spcBef>
                <a:spcPts val="547"/>
              </a:spcBef>
              <a:spcAft>
                <a:spcPts val="0"/>
              </a:spcAft>
              <a:buClr>
                <a:schemeClr val="dk1"/>
              </a:buClr>
              <a:buSzPts val="2189"/>
              <a:buNone/>
              <a:defRPr sz="2189"/>
            </a:lvl2pPr>
            <a:lvl3pPr lvl="2" algn="ctr">
              <a:lnSpc>
                <a:spcPct val="90000"/>
              </a:lnSpc>
              <a:spcBef>
                <a:spcPts val="547"/>
              </a:spcBef>
              <a:spcAft>
                <a:spcPts val="0"/>
              </a:spcAft>
              <a:buClr>
                <a:schemeClr val="dk1"/>
              </a:buClr>
              <a:buSzPts val="1970"/>
              <a:buNone/>
              <a:defRPr sz="1970"/>
            </a:lvl3pPr>
            <a:lvl4pPr lvl="3" algn="ctr">
              <a:lnSpc>
                <a:spcPct val="90000"/>
              </a:lnSpc>
              <a:spcBef>
                <a:spcPts val="547"/>
              </a:spcBef>
              <a:spcAft>
                <a:spcPts val="0"/>
              </a:spcAft>
              <a:buClr>
                <a:schemeClr val="dk1"/>
              </a:buClr>
              <a:buSzPts val="1751"/>
              <a:buNone/>
              <a:defRPr sz="1751"/>
            </a:lvl4pPr>
            <a:lvl5pPr lvl="4" algn="ctr">
              <a:lnSpc>
                <a:spcPct val="90000"/>
              </a:lnSpc>
              <a:spcBef>
                <a:spcPts val="547"/>
              </a:spcBef>
              <a:spcAft>
                <a:spcPts val="0"/>
              </a:spcAft>
              <a:buClr>
                <a:schemeClr val="dk1"/>
              </a:buClr>
              <a:buSzPts val="1751"/>
              <a:buNone/>
              <a:defRPr sz="1751"/>
            </a:lvl5pPr>
            <a:lvl6pPr lvl="5" algn="ctr">
              <a:lnSpc>
                <a:spcPct val="90000"/>
              </a:lnSpc>
              <a:spcBef>
                <a:spcPts val="547"/>
              </a:spcBef>
              <a:spcAft>
                <a:spcPts val="0"/>
              </a:spcAft>
              <a:buClr>
                <a:schemeClr val="dk1"/>
              </a:buClr>
              <a:buSzPts val="1751"/>
              <a:buNone/>
              <a:defRPr sz="1751"/>
            </a:lvl6pPr>
            <a:lvl7pPr lvl="6" algn="ctr">
              <a:lnSpc>
                <a:spcPct val="90000"/>
              </a:lnSpc>
              <a:spcBef>
                <a:spcPts val="547"/>
              </a:spcBef>
              <a:spcAft>
                <a:spcPts val="0"/>
              </a:spcAft>
              <a:buClr>
                <a:schemeClr val="dk1"/>
              </a:buClr>
              <a:buSzPts val="1751"/>
              <a:buNone/>
              <a:defRPr sz="1751"/>
            </a:lvl7pPr>
            <a:lvl8pPr lvl="7" algn="ctr">
              <a:lnSpc>
                <a:spcPct val="90000"/>
              </a:lnSpc>
              <a:spcBef>
                <a:spcPts val="547"/>
              </a:spcBef>
              <a:spcAft>
                <a:spcPts val="0"/>
              </a:spcAft>
              <a:buClr>
                <a:schemeClr val="dk1"/>
              </a:buClr>
              <a:buSzPts val="1751"/>
              <a:buNone/>
              <a:defRPr sz="1751"/>
            </a:lvl8pPr>
            <a:lvl9pPr lvl="8" algn="ctr">
              <a:lnSpc>
                <a:spcPct val="90000"/>
              </a:lnSpc>
              <a:spcBef>
                <a:spcPts val="547"/>
              </a:spcBef>
              <a:spcAft>
                <a:spcPts val="0"/>
              </a:spcAft>
              <a:buClr>
                <a:schemeClr val="dk1"/>
              </a:buClr>
              <a:buSzPts val="1751"/>
              <a:buNone/>
              <a:defRPr sz="1751"/>
            </a:lvl9pPr>
          </a:lstStyle>
          <a:p>
            <a:endParaRPr/>
          </a:p>
        </p:txBody>
      </p:sp>
      <p:sp>
        <p:nvSpPr>
          <p:cNvPr id="36" name="Google Shape;36;p21"/>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910486" y="2069100"/>
            <a:ext cx="11509653" cy="34523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567"/>
              <a:buFont typeface="Calibri"/>
              <a:buNone/>
              <a:defRPr sz="65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2"/>
          <p:cNvSpPr txBox="1">
            <a:spLocks noGrp="1"/>
          </p:cNvSpPr>
          <p:nvPr>
            <p:ph type="body" idx="1"/>
          </p:nvPr>
        </p:nvSpPr>
        <p:spPr>
          <a:xfrm>
            <a:off x="910486" y="5554101"/>
            <a:ext cx="11509653" cy="181550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rgbClr val="888888"/>
              </a:buClr>
              <a:buSzPts val="2627"/>
              <a:buNone/>
              <a:defRPr sz="2627">
                <a:solidFill>
                  <a:srgbClr val="888888"/>
                </a:solidFill>
              </a:defRPr>
            </a:lvl1pPr>
            <a:lvl2pPr marL="914400" lvl="1" indent="-228600" algn="l">
              <a:lnSpc>
                <a:spcPct val="90000"/>
              </a:lnSpc>
              <a:spcBef>
                <a:spcPts val="547"/>
              </a:spcBef>
              <a:spcAft>
                <a:spcPts val="0"/>
              </a:spcAft>
              <a:buClr>
                <a:srgbClr val="888888"/>
              </a:buClr>
              <a:buSzPts val="2189"/>
              <a:buNone/>
              <a:defRPr sz="2189">
                <a:solidFill>
                  <a:srgbClr val="888888"/>
                </a:solidFill>
              </a:defRPr>
            </a:lvl2pPr>
            <a:lvl3pPr marL="1371600" lvl="2" indent="-228600" algn="l">
              <a:lnSpc>
                <a:spcPct val="90000"/>
              </a:lnSpc>
              <a:spcBef>
                <a:spcPts val="547"/>
              </a:spcBef>
              <a:spcAft>
                <a:spcPts val="0"/>
              </a:spcAft>
              <a:buClr>
                <a:srgbClr val="888888"/>
              </a:buClr>
              <a:buSzPts val="1970"/>
              <a:buNone/>
              <a:defRPr sz="1970">
                <a:solidFill>
                  <a:srgbClr val="888888"/>
                </a:solidFill>
              </a:defRPr>
            </a:lvl3pPr>
            <a:lvl4pPr marL="1828800" lvl="3" indent="-228600" algn="l">
              <a:lnSpc>
                <a:spcPct val="90000"/>
              </a:lnSpc>
              <a:spcBef>
                <a:spcPts val="547"/>
              </a:spcBef>
              <a:spcAft>
                <a:spcPts val="0"/>
              </a:spcAft>
              <a:buClr>
                <a:srgbClr val="888888"/>
              </a:buClr>
              <a:buSzPts val="1751"/>
              <a:buNone/>
              <a:defRPr sz="1751">
                <a:solidFill>
                  <a:srgbClr val="888888"/>
                </a:solidFill>
              </a:defRPr>
            </a:lvl4pPr>
            <a:lvl5pPr marL="2286000" lvl="4" indent="-228600" algn="l">
              <a:lnSpc>
                <a:spcPct val="90000"/>
              </a:lnSpc>
              <a:spcBef>
                <a:spcPts val="547"/>
              </a:spcBef>
              <a:spcAft>
                <a:spcPts val="0"/>
              </a:spcAft>
              <a:buClr>
                <a:srgbClr val="888888"/>
              </a:buClr>
              <a:buSzPts val="1751"/>
              <a:buNone/>
              <a:defRPr sz="1751">
                <a:solidFill>
                  <a:srgbClr val="888888"/>
                </a:solidFill>
              </a:defRPr>
            </a:lvl5pPr>
            <a:lvl6pPr marL="2743200" lvl="5" indent="-228600" algn="l">
              <a:lnSpc>
                <a:spcPct val="90000"/>
              </a:lnSpc>
              <a:spcBef>
                <a:spcPts val="547"/>
              </a:spcBef>
              <a:spcAft>
                <a:spcPts val="0"/>
              </a:spcAft>
              <a:buClr>
                <a:srgbClr val="888888"/>
              </a:buClr>
              <a:buSzPts val="1751"/>
              <a:buNone/>
              <a:defRPr sz="1751">
                <a:solidFill>
                  <a:srgbClr val="888888"/>
                </a:solidFill>
              </a:defRPr>
            </a:lvl6pPr>
            <a:lvl7pPr marL="3200400" lvl="6" indent="-228600" algn="l">
              <a:lnSpc>
                <a:spcPct val="90000"/>
              </a:lnSpc>
              <a:spcBef>
                <a:spcPts val="547"/>
              </a:spcBef>
              <a:spcAft>
                <a:spcPts val="0"/>
              </a:spcAft>
              <a:buClr>
                <a:srgbClr val="888888"/>
              </a:buClr>
              <a:buSzPts val="1751"/>
              <a:buNone/>
              <a:defRPr sz="1751">
                <a:solidFill>
                  <a:srgbClr val="888888"/>
                </a:solidFill>
              </a:defRPr>
            </a:lvl7pPr>
            <a:lvl8pPr marL="3657600" lvl="7" indent="-228600" algn="l">
              <a:lnSpc>
                <a:spcPct val="90000"/>
              </a:lnSpc>
              <a:spcBef>
                <a:spcPts val="547"/>
              </a:spcBef>
              <a:spcAft>
                <a:spcPts val="0"/>
              </a:spcAft>
              <a:buClr>
                <a:srgbClr val="888888"/>
              </a:buClr>
              <a:buSzPts val="1751"/>
              <a:buNone/>
              <a:defRPr sz="1751">
                <a:solidFill>
                  <a:srgbClr val="888888"/>
                </a:solidFill>
              </a:defRPr>
            </a:lvl8pPr>
            <a:lvl9pPr marL="4114800" lvl="8" indent="-228600" algn="l">
              <a:lnSpc>
                <a:spcPct val="90000"/>
              </a:lnSpc>
              <a:spcBef>
                <a:spcPts val="547"/>
              </a:spcBef>
              <a:spcAft>
                <a:spcPts val="0"/>
              </a:spcAft>
              <a:buClr>
                <a:srgbClr val="888888"/>
              </a:buClr>
              <a:buSzPts val="1751"/>
              <a:buNone/>
              <a:defRPr sz="1751">
                <a:solidFill>
                  <a:srgbClr val="888888"/>
                </a:solidFill>
              </a:defRPr>
            </a:lvl9pPr>
          </a:lstStyle>
          <a:p>
            <a:endParaRPr/>
          </a:p>
        </p:txBody>
      </p:sp>
      <p:sp>
        <p:nvSpPr>
          <p:cNvPr id="42" name="Google Shape;42;p22"/>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body" idx="1"/>
          </p:nvPr>
        </p:nvSpPr>
        <p:spPr>
          <a:xfrm>
            <a:off x="917436" y="2209344"/>
            <a:ext cx="567142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48" name="Google Shape;48;p23"/>
          <p:cNvSpPr txBox="1">
            <a:spLocks noGrp="1"/>
          </p:cNvSpPr>
          <p:nvPr>
            <p:ph type="body" idx="2"/>
          </p:nvPr>
        </p:nvSpPr>
        <p:spPr>
          <a:xfrm>
            <a:off x="6755666" y="2209344"/>
            <a:ext cx="5671423" cy="52659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49" name="Google Shape;49;p23"/>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24"/>
          <p:cNvSpPr txBox="1">
            <a:spLocks noGrp="1"/>
          </p:cNvSpPr>
          <p:nvPr>
            <p:ph type="title"/>
          </p:nvPr>
        </p:nvSpPr>
        <p:spPr>
          <a:xfrm>
            <a:off x="919174"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4"/>
          <p:cNvSpPr txBox="1">
            <a:spLocks noGrp="1"/>
          </p:cNvSpPr>
          <p:nvPr>
            <p:ph type="body" idx="1"/>
          </p:nvPr>
        </p:nvSpPr>
        <p:spPr>
          <a:xfrm>
            <a:off x="919175" y="2034519"/>
            <a:ext cx="5645359" cy="99708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95"/>
              </a:spcBef>
              <a:spcAft>
                <a:spcPts val="0"/>
              </a:spcAft>
              <a:buClr>
                <a:schemeClr val="dk1"/>
              </a:buClr>
              <a:buSzPts val="2627"/>
              <a:buNone/>
              <a:defRPr sz="2627" b="1"/>
            </a:lvl1pPr>
            <a:lvl2pPr marL="914400" lvl="1" indent="-228600" algn="l">
              <a:lnSpc>
                <a:spcPct val="90000"/>
              </a:lnSpc>
              <a:spcBef>
                <a:spcPts val="547"/>
              </a:spcBef>
              <a:spcAft>
                <a:spcPts val="0"/>
              </a:spcAft>
              <a:buClr>
                <a:schemeClr val="dk1"/>
              </a:buClr>
              <a:buSzPts val="2189"/>
              <a:buNone/>
              <a:defRPr sz="2189" b="1"/>
            </a:lvl2pPr>
            <a:lvl3pPr marL="1371600" lvl="2" indent="-228600" algn="l">
              <a:lnSpc>
                <a:spcPct val="90000"/>
              </a:lnSpc>
              <a:spcBef>
                <a:spcPts val="547"/>
              </a:spcBef>
              <a:spcAft>
                <a:spcPts val="0"/>
              </a:spcAft>
              <a:buClr>
                <a:schemeClr val="dk1"/>
              </a:buClr>
              <a:buSzPts val="1970"/>
              <a:buNone/>
              <a:defRPr sz="1970" b="1"/>
            </a:lvl3pPr>
            <a:lvl4pPr marL="1828800" lvl="3" indent="-228600" algn="l">
              <a:lnSpc>
                <a:spcPct val="90000"/>
              </a:lnSpc>
              <a:spcBef>
                <a:spcPts val="547"/>
              </a:spcBef>
              <a:spcAft>
                <a:spcPts val="0"/>
              </a:spcAft>
              <a:buClr>
                <a:schemeClr val="dk1"/>
              </a:buClr>
              <a:buSzPts val="1751"/>
              <a:buNone/>
              <a:defRPr sz="1751" b="1"/>
            </a:lvl4pPr>
            <a:lvl5pPr marL="2286000" lvl="4" indent="-228600" algn="l">
              <a:lnSpc>
                <a:spcPct val="90000"/>
              </a:lnSpc>
              <a:spcBef>
                <a:spcPts val="547"/>
              </a:spcBef>
              <a:spcAft>
                <a:spcPts val="0"/>
              </a:spcAft>
              <a:buClr>
                <a:schemeClr val="dk1"/>
              </a:buClr>
              <a:buSzPts val="1751"/>
              <a:buNone/>
              <a:defRPr sz="1751" b="1"/>
            </a:lvl5pPr>
            <a:lvl6pPr marL="2743200" lvl="5" indent="-228600" algn="l">
              <a:lnSpc>
                <a:spcPct val="90000"/>
              </a:lnSpc>
              <a:spcBef>
                <a:spcPts val="547"/>
              </a:spcBef>
              <a:spcAft>
                <a:spcPts val="0"/>
              </a:spcAft>
              <a:buClr>
                <a:schemeClr val="dk1"/>
              </a:buClr>
              <a:buSzPts val="1751"/>
              <a:buNone/>
              <a:defRPr sz="1751" b="1"/>
            </a:lvl6pPr>
            <a:lvl7pPr marL="3200400" lvl="6" indent="-228600" algn="l">
              <a:lnSpc>
                <a:spcPct val="90000"/>
              </a:lnSpc>
              <a:spcBef>
                <a:spcPts val="547"/>
              </a:spcBef>
              <a:spcAft>
                <a:spcPts val="0"/>
              </a:spcAft>
              <a:buClr>
                <a:schemeClr val="dk1"/>
              </a:buClr>
              <a:buSzPts val="1751"/>
              <a:buNone/>
              <a:defRPr sz="1751" b="1"/>
            </a:lvl7pPr>
            <a:lvl8pPr marL="3657600" lvl="7" indent="-228600" algn="l">
              <a:lnSpc>
                <a:spcPct val="90000"/>
              </a:lnSpc>
              <a:spcBef>
                <a:spcPts val="547"/>
              </a:spcBef>
              <a:spcAft>
                <a:spcPts val="0"/>
              </a:spcAft>
              <a:buClr>
                <a:schemeClr val="dk1"/>
              </a:buClr>
              <a:buSzPts val="1751"/>
              <a:buNone/>
              <a:defRPr sz="1751" b="1"/>
            </a:lvl8pPr>
            <a:lvl9pPr marL="4114800" lvl="8" indent="-228600" algn="l">
              <a:lnSpc>
                <a:spcPct val="90000"/>
              </a:lnSpc>
              <a:spcBef>
                <a:spcPts val="547"/>
              </a:spcBef>
              <a:spcAft>
                <a:spcPts val="0"/>
              </a:spcAft>
              <a:buClr>
                <a:schemeClr val="dk1"/>
              </a:buClr>
              <a:buSzPts val="1751"/>
              <a:buNone/>
              <a:defRPr sz="1751" b="1"/>
            </a:lvl9pPr>
          </a:lstStyle>
          <a:p>
            <a:endParaRPr/>
          </a:p>
        </p:txBody>
      </p:sp>
      <p:sp>
        <p:nvSpPr>
          <p:cNvPr id="55" name="Google Shape;55;p24"/>
          <p:cNvSpPr txBox="1">
            <a:spLocks noGrp="1"/>
          </p:cNvSpPr>
          <p:nvPr>
            <p:ph type="body" idx="2"/>
          </p:nvPr>
        </p:nvSpPr>
        <p:spPr>
          <a:xfrm>
            <a:off x="919175" y="3031605"/>
            <a:ext cx="5645359" cy="445903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56" name="Google Shape;56;p24"/>
          <p:cNvSpPr txBox="1">
            <a:spLocks noGrp="1"/>
          </p:cNvSpPr>
          <p:nvPr>
            <p:ph type="body" idx="3"/>
          </p:nvPr>
        </p:nvSpPr>
        <p:spPr>
          <a:xfrm>
            <a:off x="6755666" y="2034519"/>
            <a:ext cx="5673161" cy="99708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95"/>
              </a:spcBef>
              <a:spcAft>
                <a:spcPts val="0"/>
              </a:spcAft>
              <a:buClr>
                <a:schemeClr val="dk1"/>
              </a:buClr>
              <a:buSzPts val="2627"/>
              <a:buNone/>
              <a:defRPr sz="2627" b="1"/>
            </a:lvl1pPr>
            <a:lvl2pPr marL="914400" lvl="1" indent="-228600" algn="l">
              <a:lnSpc>
                <a:spcPct val="90000"/>
              </a:lnSpc>
              <a:spcBef>
                <a:spcPts val="547"/>
              </a:spcBef>
              <a:spcAft>
                <a:spcPts val="0"/>
              </a:spcAft>
              <a:buClr>
                <a:schemeClr val="dk1"/>
              </a:buClr>
              <a:buSzPts val="2189"/>
              <a:buNone/>
              <a:defRPr sz="2189" b="1"/>
            </a:lvl2pPr>
            <a:lvl3pPr marL="1371600" lvl="2" indent="-228600" algn="l">
              <a:lnSpc>
                <a:spcPct val="90000"/>
              </a:lnSpc>
              <a:spcBef>
                <a:spcPts val="547"/>
              </a:spcBef>
              <a:spcAft>
                <a:spcPts val="0"/>
              </a:spcAft>
              <a:buClr>
                <a:schemeClr val="dk1"/>
              </a:buClr>
              <a:buSzPts val="1970"/>
              <a:buNone/>
              <a:defRPr sz="1970" b="1"/>
            </a:lvl3pPr>
            <a:lvl4pPr marL="1828800" lvl="3" indent="-228600" algn="l">
              <a:lnSpc>
                <a:spcPct val="90000"/>
              </a:lnSpc>
              <a:spcBef>
                <a:spcPts val="547"/>
              </a:spcBef>
              <a:spcAft>
                <a:spcPts val="0"/>
              </a:spcAft>
              <a:buClr>
                <a:schemeClr val="dk1"/>
              </a:buClr>
              <a:buSzPts val="1751"/>
              <a:buNone/>
              <a:defRPr sz="1751" b="1"/>
            </a:lvl4pPr>
            <a:lvl5pPr marL="2286000" lvl="4" indent="-228600" algn="l">
              <a:lnSpc>
                <a:spcPct val="90000"/>
              </a:lnSpc>
              <a:spcBef>
                <a:spcPts val="547"/>
              </a:spcBef>
              <a:spcAft>
                <a:spcPts val="0"/>
              </a:spcAft>
              <a:buClr>
                <a:schemeClr val="dk1"/>
              </a:buClr>
              <a:buSzPts val="1751"/>
              <a:buNone/>
              <a:defRPr sz="1751" b="1"/>
            </a:lvl5pPr>
            <a:lvl6pPr marL="2743200" lvl="5" indent="-228600" algn="l">
              <a:lnSpc>
                <a:spcPct val="90000"/>
              </a:lnSpc>
              <a:spcBef>
                <a:spcPts val="547"/>
              </a:spcBef>
              <a:spcAft>
                <a:spcPts val="0"/>
              </a:spcAft>
              <a:buClr>
                <a:schemeClr val="dk1"/>
              </a:buClr>
              <a:buSzPts val="1751"/>
              <a:buNone/>
              <a:defRPr sz="1751" b="1"/>
            </a:lvl6pPr>
            <a:lvl7pPr marL="3200400" lvl="6" indent="-228600" algn="l">
              <a:lnSpc>
                <a:spcPct val="90000"/>
              </a:lnSpc>
              <a:spcBef>
                <a:spcPts val="547"/>
              </a:spcBef>
              <a:spcAft>
                <a:spcPts val="0"/>
              </a:spcAft>
              <a:buClr>
                <a:schemeClr val="dk1"/>
              </a:buClr>
              <a:buSzPts val="1751"/>
              <a:buNone/>
              <a:defRPr sz="1751" b="1"/>
            </a:lvl7pPr>
            <a:lvl8pPr marL="3657600" lvl="7" indent="-228600" algn="l">
              <a:lnSpc>
                <a:spcPct val="90000"/>
              </a:lnSpc>
              <a:spcBef>
                <a:spcPts val="547"/>
              </a:spcBef>
              <a:spcAft>
                <a:spcPts val="0"/>
              </a:spcAft>
              <a:buClr>
                <a:schemeClr val="dk1"/>
              </a:buClr>
              <a:buSzPts val="1751"/>
              <a:buNone/>
              <a:defRPr sz="1751" b="1"/>
            </a:lvl8pPr>
            <a:lvl9pPr marL="4114800" lvl="8" indent="-228600" algn="l">
              <a:lnSpc>
                <a:spcPct val="90000"/>
              </a:lnSpc>
              <a:spcBef>
                <a:spcPts val="547"/>
              </a:spcBef>
              <a:spcAft>
                <a:spcPts val="0"/>
              </a:spcAft>
              <a:buClr>
                <a:schemeClr val="dk1"/>
              </a:buClr>
              <a:buSzPts val="1751"/>
              <a:buNone/>
              <a:defRPr sz="1751" b="1"/>
            </a:lvl9pPr>
          </a:lstStyle>
          <a:p>
            <a:endParaRPr/>
          </a:p>
        </p:txBody>
      </p:sp>
      <p:sp>
        <p:nvSpPr>
          <p:cNvPr id="57" name="Google Shape;57;p24"/>
          <p:cNvSpPr txBox="1">
            <a:spLocks noGrp="1"/>
          </p:cNvSpPr>
          <p:nvPr>
            <p:ph type="body" idx="4"/>
          </p:nvPr>
        </p:nvSpPr>
        <p:spPr>
          <a:xfrm>
            <a:off x="6755666" y="3031605"/>
            <a:ext cx="5673161" cy="445903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58" name="Google Shape;58;p24"/>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25"/>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919175" y="553297"/>
            <a:ext cx="4303956" cy="1936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502"/>
              <a:buFont typeface="Calibri"/>
              <a:buNone/>
              <a:defRPr sz="350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txBox="1">
            <a:spLocks noGrp="1"/>
          </p:cNvSpPr>
          <p:nvPr>
            <p:ph type="body" idx="1"/>
          </p:nvPr>
        </p:nvSpPr>
        <p:spPr>
          <a:xfrm>
            <a:off x="5673161" y="1194968"/>
            <a:ext cx="6755666" cy="5897989"/>
          </a:xfrm>
          <a:prstGeom prst="rect">
            <a:avLst/>
          </a:prstGeom>
          <a:noFill/>
          <a:ln>
            <a:noFill/>
          </a:ln>
        </p:spPr>
        <p:txBody>
          <a:bodyPr spcFirstLastPara="1" wrap="square" lIns="91425" tIns="45700" rIns="91425" bIns="45700" anchor="t" anchorCtr="0">
            <a:normAutofit/>
          </a:bodyPr>
          <a:lstStyle>
            <a:lvl1pPr marL="457200" lvl="0" indent="-450977" algn="l">
              <a:lnSpc>
                <a:spcPct val="90000"/>
              </a:lnSpc>
              <a:spcBef>
                <a:spcPts val="1095"/>
              </a:spcBef>
              <a:spcAft>
                <a:spcPts val="0"/>
              </a:spcAft>
              <a:buClr>
                <a:schemeClr val="dk1"/>
              </a:buClr>
              <a:buSzPts val="3502"/>
              <a:buChar char="•"/>
              <a:defRPr sz="3502"/>
            </a:lvl1pPr>
            <a:lvl2pPr marL="914400" lvl="1" indent="-423228" algn="l">
              <a:lnSpc>
                <a:spcPct val="90000"/>
              </a:lnSpc>
              <a:spcBef>
                <a:spcPts val="547"/>
              </a:spcBef>
              <a:spcAft>
                <a:spcPts val="0"/>
              </a:spcAft>
              <a:buClr>
                <a:schemeClr val="dk1"/>
              </a:buClr>
              <a:buSzPts val="3065"/>
              <a:buChar char="•"/>
              <a:defRPr sz="3065"/>
            </a:lvl2pPr>
            <a:lvl3pPr marL="1371600" lvl="2" indent="-395415" algn="l">
              <a:lnSpc>
                <a:spcPct val="90000"/>
              </a:lnSpc>
              <a:spcBef>
                <a:spcPts val="547"/>
              </a:spcBef>
              <a:spcAft>
                <a:spcPts val="0"/>
              </a:spcAft>
              <a:buClr>
                <a:schemeClr val="dk1"/>
              </a:buClr>
              <a:buSzPts val="2627"/>
              <a:buChar char="•"/>
              <a:defRPr sz="2627"/>
            </a:lvl3pPr>
            <a:lvl4pPr marL="1828800" lvl="3" indent="-367602" algn="l">
              <a:lnSpc>
                <a:spcPct val="90000"/>
              </a:lnSpc>
              <a:spcBef>
                <a:spcPts val="547"/>
              </a:spcBef>
              <a:spcAft>
                <a:spcPts val="0"/>
              </a:spcAft>
              <a:buClr>
                <a:schemeClr val="dk1"/>
              </a:buClr>
              <a:buSzPts val="2189"/>
              <a:buChar char="•"/>
              <a:defRPr sz="2189"/>
            </a:lvl4pPr>
            <a:lvl5pPr marL="2286000" lvl="4" indent="-367602" algn="l">
              <a:lnSpc>
                <a:spcPct val="90000"/>
              </a:lnSpc>
              <a:spcBef>
                <a:spcPts val="547"/>
              </a:spcBef>
              <a:spcAft>
                <a:spcPts val="0"/>
              </a:spcAft>
              <a:buClr>
                <a:schemeClr val="dk1"/>
              </a:buClr>
              <a:buSzPts val="2189"/>
              <a:buChar char="•"/>
              <a:defRPr sz="2189"/>
            </a:lvl5pPr>
            <a:lvl6pPr marL="2743200" lvl="5" indent="-367602" algn="l">
              <a:lnSpc>
                <a:spcPct val="90000"/>
              </a:lnSpc>
              <a:spcBef>
                <a:spcPts val="547"/>
              </a:spcBef>
              <a:spcAft>
                <a:spcPts val="0"/>
              </a:spcAft>
              <a:buClr>
                <a:schemeClr val="dk1"/>
              </a:buClr>
              <a:buSzPts val="2189"/>
              <a:buChar char="•"/>
              <a:defRPr sz="2189"/>
            </a:lvl6pPr>
            <a:lvl7pPr marL="3200400" lvl="6" indent="-367602" algn="l">
              <a:lnSpc>
                <a:spcPct val="90000"/>
              </a:lnSpc>
              <a:spcBef>
                <a:spcPts val="547"/>
              </a:spcBef>
              <a:spcAft>
                <a:spcPts val="0"/>
              </a:spcAft>
              <a:buClr>
                <a:schemeClr val="dk1"/>
              </a:buClr>
              <a:buSzPts val="2189"/>
              <a:buChar char="•"/>
              <a:defRPr sz="2189"/>
            </a:lvl7pPr>
            <a:lvl8pPr marL="3657600" lvl="7" indent="-367602" algn="l">
              <a:lnSpc>
                <a:spcPct val="90000"/>
              </a:lnSpc>
              <a:spcBef>
                <a:spcPts val="547"/>
              </a:spcBef>
              <a:spcAft>
                <a:spcPts val="0"/>
              </a:spcAft>
              <a:buClr>
                <a:schemeClr val="dk1"/>
              </a:buClr>
              <a:buSzPts val="2189"/>
              <a:buChar char="•"/>
              <a:defRPr sz="2189"/>
            </a:lvl8pPr>
            <a:lvl9pPr marL="4114800" lvl="8" indent="-367602" algn="l">
              <a:lnSpc>
                <a:spcPct val="90000"/>
              </a:lnSpc>
              <a:spcBef>
                <a:spcPts val="547"/>
              </a:spcBef>
              <a:spcAft>
                <a:spcPts val="0"/>
              </a:spcAft>
              <a:buClr>
                <a:schemeClr val="dk1"/>
              </a:buClr>
              <a:buSzPts val="2189"/>
              <a:buChar char="•"/>
              <a:defRPr sz="2189"/>
            </a:lvl9pPr>
          </a:lstStyle>
          <a:p>
            <a:endParaRPr/>
          </a:p>
        </p:txBody>
      </p:sp>
      <p:sp>
        <p:nvSpPr>
          <p:cNvPr id="68" name="Google Shape;68;p26"/>
          <p:cNvSpPr txBox="1">
            <a:spLocks noGrp="1"/>
          </p:cNvSpPr>
          <p:nvPr>
            <p:ph type="body" idx="2"/>
          </p:nvPr>
        </p:nvSpPr>
        <p:spPr>
          <a:xfrm>
            <a:off x="919175" y="2489835"/>
            <a:ext cx="4303956" cy="461272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95"/>
              </a:spcBef>
              <a:spcAft>
                <a:spcPts val="0"/>
              </a:spcAft>
              <a:buClr>
                <a:schemeClr val="dk1"/>
              </a:buClr>
              <a:buSzPts val="1751"/>
              <a:buNone/>
              <a:defRPr sz="1751"/>
            </a:lvl1pPr>
            <a:lvl2pPr marL="914400" lvl="1" indent="-228600" algn="l">
              <a:lnSpc>
                <a:spcPct val="90000"/>
              </a:lnSpc>
              <a:spcBef>
                <a:spcPts val="547"/>
              </a:spcBef>
              <a:spcAft>
                <a:spcPts val="0"/>
              </a:spcAft>
              <a:buClr>
                <a:schemeClr val="dk1"/>
              </a:buClr>
              <a:buSzPts val="1532"/>
              <a:buNone/>
              <a:defRPr sz="1532"/>
            </a:lvl2pPr>
            <a:lvl3pPr marL="1371600" lvl="2" indent="-228600" algn="l">
              <a:lnSpc>
                <a:spcPct val="90000"/>
              </a:lnSpc>
              <a:spcBef>
                <a:spcPts val="547"/>
              </a:spcBef>
              <a:spcAft>
                <a:spcPts val="0"/>
              </a:spcAft>
              <a:buClr>
                <a:schemeClr val="dk1"/>
              </a:buClr>
              <a:buSzPts val="1313"/>
              <a:buNone/>
              <a:defRPr sz="1313"/>
            </a:lvl3pPr>
            <a:lvl4pPr marL="1828800" lvl="3" indent="-228600" algn="l">
              <a:lnSpc>
                <a:spcPct val="90000"/>
              </a:lnSpc>
              <a:spcBef>
                <a:spcPts val="547"/>
              </a:spcBef>
              <a:spcAft>
                <a:spcPts val="0"/>
              </a:spcAft>
              <a:buClr>
                <a:schemeClr val="dk1"/>
              </a:buClr>
              <a:buSzPts val="1095"/>
              <a:buNone/>
              <a:defRPr sz="1095"/>
            </a:lvl4pPr>
            <a:lvl5pPr marL="2286000" lvl="4" indent="-228600" algn="l">
              <a:lnSpc>
                <a:spcPct val="90000"/>
              </a:lnSpc>
              <a:spcBef>
                <a:spcPts val="547"/>
              </a:spcBef>
              <a:spcAft>
                <a:spcPts val="0"/>
              </a:spcAft>
              <a:buClr>
                <a:schemeClr val="dk1"/>
              </a:buClr>
              <a:buSzPts val="1095"/>
              <a:buNone/>
              <a:defRPr sz="1095"/>
            </a:lvl5pPr>
            <a:lvl6pPr marL="2743200" lvl="5" indent="-228600" algn="l">
              <a:lnSpc>
                <a:spcPct val="90000"/>
              </a:lnSpc>
              <a:spcBef>
                <a:spcPts val="547"/>
              </a:spcBef>
              <a:spcAft>
                <a:spcPts val="0"/>
              </a:spcAft>
              <a:buClr>
                <a:schemeClr val="dk1"/>
              </a:buClr>
              <a:buSzPts val="1095"/>
              <a:buNone/>
              <a:defRPr sz="1095"/>
            </a:lvl6pPr>
            <a:lvl7pPr marL="3200400" lvl="6" indent="-228600" algn="l">
              <a:lnSpc>
                <a:spcPct val="90000"/>
              </a:lnSpc>
              <a:spcBef>
                <a:spcPts val="547"/>
              </a:spcBef>
              <a:spcAft>
                <a:spcPts val="0"/>
              </a:spcAft>
              <a:buClr>
                <a:schemeClr val="dk1"/>
              </a:buClr>
              <a:buSzPts val="1095"/>
              <a:buNone/>
              <a:defRPr sz="1095"/>
            </a:lvl7pPr>
            <a:lvl8pPr marL="3657600" lvl="7" indent="-228600" algn="l">
              <a:lnSpc>
                <a:spcPct val="90000"/>
              </a:lnSpc>
              <a:spcBef>
                <a:spcPts val="547"/>
              </a:spcBef>
              <a:spcAft>
                <a:spcPts val="0"/>
              </a:spcAft>
              <a:buClr>
                <a:schemeClr val="dk1"/>
              </a:buClr>
              <a:buSzPts val="1095"/>
              <a:buNone/>
              <a:defRPr sz="1095"/>
            </a:lvl8pPr>
            <a:lvl9pPr marL="4114800" lvl="8" indent="-228600" algn="l">
              <a:lnSpc>
                <a:spcPct val="90000"/>
              </a:lnSpc>
              <a:spcBef>
                <a:spcPts val="547"/>
              </a:spcBef>
              <a:spcAft>
                <a:spcPts val="0"/>
              </a:spcAft>
              <a:buClr>
                <a:schemeClr val="dk1"/>
              </a:buClr>
              <a:buSzPts val="1095"/>
              <a:buNone/>
              <a:defRPr sz="1095"/>
            </a:lvl9pPr>
          </a:lstStyle>
          <a:p>
            <a:endParaRPr/>
          </a:p>
        </p:txBody>
      </p:sp>
      <p:sp>
        <p:nvSpPr>
          <p:cNvPr id="69" name="Google Shape;69;p26"/>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4039300" y="-912520"/>
            <a:ext cx="5265925" cy="1150965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471683" y="2519863"/>
            <a:ext cx="7033400" cy="28774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633453" y="-274147"/>
            <a:ext cx="7033400" cy="846543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95"/>
              </a:spcBef>
              <a:spcAft>
                <a:spcPts val="0"/>
              </a:spcAft>
              <a:buClr>
                <a:schemeClr val="dk1"/>
              </a:buClr>
              <a:buSzPts val="1800"/>
              <a:buChar char="•"/>
              <a:defRPr/>
            </a:lvl1pPr>
            <a:lvl2pPr marL="914400" lvl="1" indent="-342900" algn="l">
              <a:lnSpc>
                <a:spcPct val="90000"/>
              </a:lnSpc>
              <a:spcBef>
                <a:spcPts val="547"/>
              </a:spcBef>
              <a:spcAft>
                <a:spcPts val="0"/>
              </a:spcAft>
              <a:buClr>
                <a:schemeClr val="dk1"/>
              </a:buClr>
              <a:buSzPts val="1800"/>
              <a:buChar char="•"/>
              <a:defRPr/>
            </a:lvl2pPr>
            <a:lvl3pPr marL="1371600" lvl="2" indent="-342900" algn="l">
              <a:lnSpc>
                <a:spcPct val="90000"/>
              </a:lnSpc>
              <a:spcBef>
                <a:spcPts val="547"/>
              </a:spcBef>
              <a:spcAft>
                <a:spcPts val="0"/>
              </a:spcAft>
              <a:buClr>
                <a:schemeClr val="dk1"/>
              </a:buClr>
              <a:buSzPts val="1800"/>
              <a:buChar char="•"/>
              <a:defRPr/>
            </a:lvl3pPr>
            <a:lvl4pPr marL="1828800" lvl="3" indent="-342900" algn="l">
              <a:lnSpc>
                <a:spcPct val="90000"/>
              </a:lnSpc>
              <a:spcBef>
                <a:spcPts val="547"/>
              </a:spcBef>
              <a:spcAft>
                <a:spcPts val="0"/>
              </a:spcAft>
              <a:buClr>
                <a:schemeClr val="dk1"/>
              </a:buClr>
              <a:buSzPts val="1800"/>
              <a:buChar char="•"/>
              <a:defRPr/>
            </a:lvl4pPr>
            <a:lvl5pPr marL="2286000" lvl="4" indent="-342900" algn="l">
              <a:lnSpc>
                <a:spcPct val="90000"/>
              </a:lnSpc>
              <a:spcBef>
                <a:spcPts val="547"/>
              </a:spcBef>
              <a:spcAft>
                <a:spcPts val="0"/>
              </a:spcAft>
              <a:buClr>
                <a:schemeClr val="dk1"/>
              </a:buClr>
              <a:buSzPts val="1800"/>
              <a:buChar char="•"/>
              <a:defRPr/>
            </a:lvl5pPr>
            <a:lvl6pPr marL="2743200" lvl="5" indent="-342900" algn="l">
              <a:lnSpc>
                <a:spcPct val="90000"/>
              </a:lnSpc>
              <a:spcBef>
                <a:spcPts val="547"/>
              </a:spcBef>
              <a:spcAft>
                <a:spcPts val="0"/>
              </a:spcAft>
              <a:buClr>
                <a:schemeClr val="dk1"/>
              </a:buClr>
              <a:buSzPts val="1800"/>
              <a:buChar char="•"/>
              <a:defRPr/>
            </a:lvl6pPr>
            <a:lvl7pPr marL="3200400" lvl="6" indent="-342900" algn="l">
              <a:lnSpc>
                <a:spcPct val="90000"/>
              </a:lnSpc>
              <a:spcBef>
                <a:spcPts val="547"/>
              </a:spcBef>
              <a:spcAft>
                <a:spcPts val="0"/>
              </a:spcAft>
              <a:buClr>
                <a:schemeClr val="dk1"/>
              </a:buClr>
              <a:buSzPts val="1800"/>
              <a:buChar char="•"/>
              <a:defRPr/>
            </a:lvl7pPr>
            <a:lvl8pPr marL="3657600" lvl="7" indent="-342900" algn="l">
              <a:lnSpc>
                <a:spcPct val="90000"/>
              </a:lnSpc>
              <a:spcBef>
                <a:spcPts val="547"/>
              </a:spcBef>
              <a:spcAft>
                <a:spcPts val="0"/>
              </a:spcAft>
              <a:buClr>
                <a:schemeClr val="dk1"/>
              </a:buClr>
              <a:buSzPts val="1800"/>
              <a:buChar char="•"/>
              <a:defRPr/>
            </a:lvl8pPr>
            <a:lvl9pPr marL="4114800" lvl="8" indent="-342900" algn="l">
              <a:lnSpc>
                <a:spcPct val="90000"/>
              </a:lnSpc>
              <a:spcBef>
                <a:spcPts val="547"/>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816"/>
              <a:buFont typeface="Calibri"/>
              <a:buNone/>
              <a:defRPr sz="4816"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917436" y="2209344"/>
            <a:ext cx="11509653" cy="5265925"/>
          </a:xfrm>
          <a:prstGeom prst="rect">
            <a:avLst/>
          </a:prstGeom>
          <a:noFill/>
          <a:ln>
            <a:noFill/>
          </a:ln>
        </p:spPr>
        <p:txBody>
          <a:bodyPr spcFirstLastPara="1" wrap="square" lIns="91425" tIns="45700" rIns="91425" bIns="45700" anchor="t" anchorCtr="0">
            <a:normAutofit/>
          </a:bodyPr>
          <a:lstStyle>
            <a:lvl1pPr marL="457200" marR="0" lvl="0" indent="-423228" algn="l" rtl="0">
              <a:lnSpc>
                <a:spcPct val="90000"/>
              </a:lnSpc>
              <a:spcBef>
                <a:spcPts val="1095"/>
              </a:spcBef>
              <a:spcAft>
                <a:spcPts val="0"/>
              </a:spcAft>
              <a:buClr>
                <a:schemeClr val="dk1"/>
              </a:buClr>
              <a:buSzPts val="3065"/>
              <a:buFont typeface="Arial"/>
              <a:buChar char="•"/>
              <a:defRPr sz="3065" b="0" i="0" u="none" strike="noStrike" cap="none">
                <a:solidFill>
                  <a:schemeClr val="dk1"/>
                </a:solidFill>
                <a:latin typeface="Calibri"/>
                <a:ea typeface="Calibri"/>
                <a:cs typeface="Calibri"/>
                <a:sym typeface="Calibri"/>
              </a:defRPr>
            </a:lvl1pPr>
            <a:lvl2pPr marL="914400" marR="0" lvl="1" indent="-395415" algn="l" rtl="0">
              <a:lnSpc>
                <a:spcPct val="90000"/>
              </a:lnSpc>
              <a:spcBef>
                <a:spcPts val="547"/>
              </a:spcBef>
              <a:spcAft>
                <a:spcPts val="0"/>
              </a:spcAft>
              <a:buClr>
                <a:schemeClr val="dk1"/>
              </a:buClr>
              <a:buSzPts val="2627"/>
              <a:buFont typeface="Arial"/>
              <a:buChar char="•"/>
              <a:defRPr sz="2627" b="0" i="0" u="none" strike="noStrike" cap="none">
                <a:solidFill>
                  <a:schemeClr val="dk1"/>
                </a:solidFill>
                <a:latin typeface="Calibri"/>
                <a:ea typeface="Calibri"/>
                <a:cs typeface="Calibri"/>
                <a:sym typeface="Calibri"/>
              </a:defRPr>
            </a:lvl2pPr>
            <a:lvl3pPr marL="1371600" marR="0" lvl="2" indent="-367602" algn="l" rtl="0">
              <a:lnSpc>
                <a:spcPct val="90000"/>
              </a:lnSpc>
              <a:spcBef>
                <a:spcPts val="547"/>
              </a:spcBef>
              <a:spcAft>
                <a:spcPts val="0"/>
              </a:spcAft>
              <a:buClr>
                <a:schemeClr val="dk1"/>
              </a:buClr>
              <a:buSzPts val="2189"/>
              <a:buFont typeface="Arial"/>
              <a:buChar char="•"/>
              <a:defRPr sz="2189" b="0" i="0" u="none" strike="noStrike" cap="none">
                <a:solidFill>
                  <a:schemeClr val="dk1"/>
                </a:solidFill>
                <a:latin typeface="Calibri"/>
                <a:ea typeface="Calibri"/>
                <a:cs typeface="Calibri"/>
                <a:sym typeface="Calibri"/>
              </a:defRPr>
            </a:lvl3pPr>
            <a:lvl4pPr marL="1828800" marR="0" lvl="3"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4pPr>
            <a:lvl5pPr marL="2286000" marR="0" lvl="4"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5pPr>
            <a:lvl6pPr marL="2743200" marR="0" lvl="5"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6pPr>
            <a:lvl7pPr marL="3200400" marR="0" lvl="6"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7pPr>
            <a:lvl8pPr marL="3657600" marR="0" lvl="7"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8pPr>
            <a:lvl9pPr marL="4114800" marR="0" lvl="8" indent="-353695" algn="l" rtl="0">
              <a:lnSpc>
                <a:spcPct val="90000"/>
              </a:lnSpc>
              <a:spcBef>
                <a:spcPts val="547"/>
              </a:spcBef>
              <a:spcAft>
                <a:spcPts val="0"/>
              </a:spcAft>
              <a:buClr>
                <a:schemeClr val="dk1"/>
              </a:buClr>
              <a:buSzPts val="1970"/>
              <a:buFont typeface="Arial"/>
              <a:buChar char="•"/>
              <a:defRPr sz="197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917436" y="7692361"/>
            <a:ext cx="3002518" cy="44186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3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313"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45"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313" b="0" i="0" u="none" strike="noStrike" cap="none">
                <a:solidFill>
                  <a:srgbClr val="888888"/>
                </a:solidFill>
                <a:latin typeface="Calibri"/>
                <a:ea typeface="Calibri"/>
                <a:cs typeface="Calibri"/>
                <a:sym typeface="Calibri"/>
              </a:defRPr>
            </a:lvl1pPr>
            <a:lvl2pPr marL="0" marR="0" lvl="1" indent="0" algn="r" rtl="0">
              <a:spcBef>
                <a:spcPts val="0"/>
              </a:spcBef>
              <a:buNone/>
              <a:defRPr sz="1313" b="0" i="0" u="none" strike="noStrike" cap="none">
                <a:solidFill>
                  <a:srgbClr val="888888"/>
                </a:solidFill>
                <a:latin typeface="Calibri"/>
                <a:ea typeface="Calibri"/>
                <a:cs typeface="Calibri"/>
                <a:sym typeface="Calibri"/>
              </a:defRPr>
            </a:lvl2pPr>
            <a:lvl3pPr marL="0" marR="0" lvl="2" indent="0" algn="r" rtl="0">
              <a:spcBef>
                <a:spcPts val="0"/>
              </a:spcBef>
              <a:buNone/>
              <a:defRPr sz="1313" b="0" i="0" u="none" strike="noStrike" cap="none">
                <a:solidFill>
                  <a:srgbClr val="888888"/>
                </a:solidFill>
                <a:latin typeface="Calibri"/>
                <a:ea typeface="Calibri"/>
                <a:cs typeface="Calibri"/>
                <a:sym typeface="Calibri"/>
              </a:defRPr>
            </a:lvl3pPr>
            <a:lvl4pPr marL="0" marR="0" lvl="3" indent="0" algn="r" rtl="0">
              <a:spcBef>
                <a:spcPts val="0"/>
              </a:spcBef>
              <a:buNone/>
              <a:defRPr sz="1313" b="0" i="0" u="none" strike="noStrike" cap="none">
                <a:solidFill>
                  <a:srgbClr val="888888"/>
                </a:solidFill>
                <a:latin typeface="Calibri"/>
                <a:ea typeface="Calibri"/>
                <a:cs typeface="Calibri"/>
                <a:sym typeface="Calibri"/>
              </a:defRPr>
            </a:lvl4pPr>
            <a:lvl5pPr marL="0" marR="0" lvl="4" indent="0" algn="r" rtl="0">
              <a:spcBef>
                <a:spcPts val="0"/>
              </a:spcBef>
              <a:buNone/>
              <a:defRPr sz="1313" b="0" i="0" u="none" strike="noStrike" cap="none">
                <a:solidFill>
                  <a:srgbClr val="888888"/>
                </a:solidFill>
                <a:latin typeface="Calibri"/>
                <a:ea typeface="Calibri"/>
                <a:cs typeface="Calibri"/>
                <a:sym typeface="Calibri"/>
              </a:defRPr>
            </a:lvl5pPr>
            <a:lvl6pPr marL="0" marR="0" lvl="5" indent="0" algn="r" rtl="0">
              <a:spcBef>
                <a:spcPts val="0"/>
              </a:spcBef>
              <a:buNone/>
              <a:defRPr sz="1313" b="0" i="0" u="none" strike="noStrike" cap="none">
                <a:solidFill>
                  <a:srgbClr val="888888"/>
                </a:solidFill>
                <a:latin typeface="Calibri"/>
                <a:ea typeface="Calibri"/>
                <a:cs typeface="Calibri"/>
                <a:sym typeface="Calibri"/>
              </a:defRPr>
            </a:lvl6pPr>
            <a:lvl7pPr marL="0" marR="0" lvl="6" indent="0" algn="r" rtl="0">
              <a:spcBef>
                <a:spcPts val="0"/>
              </a:spcBef>
              <a:buNone/>
              <a:defRPr sz="1313" b="0" i="0" u="none" strike="noStrike" cap="none">
                <a:solidFill>
                  <a:srgbClr val="888888"/>
                </a:solidFill>
                <a:latin typeface="Calibri"/>
                <a:ea typeface="Calibri"/>
                <a:cs typeface="Calibri"/>
                <a:sym typeface="Calibri"/>
              </a:defRPr>
            </a:lvl7pPr>
            <a:lvl8pPr marL="0" marR="0" lvl="7" indent="0" algn="r" rtl="0">
              <a:spcBef>
                <a:spcPts val="0"/>
              </a:spcBef>
              <a:buNone/>
              <a:defRPr sz="1313" b="0" i="0" u="none" strike="noStrike" cap="none">
                <a:solidFill>
                  <a:srgbClr val="888888"/>
                </a:solidFill>
                <a:latin typeface="Calibri"/>
                <a:ea typeface="Calibri"/>
                <a:cs typeface="Calibri"/>
                <a:sym typeface="Calibri"/>
              </a:defRPr>
            </a:lvl8pPr>
            <a:lvl9pPr marL="0" marR="0" lvl="8" indent="0" algn="r" rtl="0">
              <a:spcBef>
                <a:spcPts val="0"/>
              </a:spcBef>
              <a:buNone/>
              <a:defRPr sz="1313"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a:stretch/>
        </p:blipFill>
        <p:spPr>
          <a:xfrm>
            <a:off x="465222" y="951197"/>
            <a:ext cx="4680068" cy="1271403"/>
          </a:xfrm>
          <a:prstGeom prst="rect">
            <a:avLst/>
          </a:prstGeom>
          <a:noFill/>
          <a:ln>
            <a:noFill/>
          </a:ln>
        </p:spPr>
      </p:pic>
      <p:pic>
        <p:nvPicPr>
          <p:cNvPr id="90" name="Google Shape;90;p1"/>
          <p:cNvPicPr preferRelativeResize="0">
            <a:picLocks noGrp="1"/>
          </p:cNvPicPr>
          <p:nvPr>
            <p:ph type="pic" idx="2"/>
          </p:nvPr>
        </p:nvPicPr>
        <p:blipFill rotWithShape="1">
          <a:blip r:embed="rId4">
            <a:alphaModFix/>
          </a:blip>
          <a:srcRect l="24336" t="-389" r="7822" b="-196"/>
          <a:stretch/>
        </p:blipFill>
        <p:spPr>
          <a:xfrm>
            <a:off x="5342021" y="-83757"/>
            <a:ext cx="8831179" cy="8537946"/>
          </a:xfrm>
          <a:prstGeom prst="rect">
            <a:avLst/>
          </a:prstGeom>
          <a:noFill/>
          <a:ln>
            <a:noFill/>
          </a:ln>
        </p:spPr>
      </p:pic>
      <p:sp>
        <p:nvSpPr>
          <p:cNvPr id="91" name="Google Shape;91;p1"/>
          <p:cNvSpPr txBox="1">
            <a:spLocks noGrp="1"/>
          </p:cNvSpPr>
          <p:nvPr>
            <p:ph type="body" idx="1"/>
          </p:nvPr>
        </p:nvSpPr>
        <p:spPr>
          <a:xfrm>
            <a:off x="203922" y="2813686"/>
            <a:ext cx="5202668" cy="4878675"/>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90000"/>
              </a:lnSpc>
              <a:spcBef>
                <a:spcPts val="0"/>
              </a:spcBef>
              <a:spcAft>
                <a:spcPts val="0"/>
              </a:spcAft>
              <a:buClr>
                <a:schemeClr val="dk1"/>
              </a:buClr>
              <a:buSzPct val="100000"/>
              <a:buNone/>
            </a:pPr>
            <a:endParaRPr/>
          </a:p>
          <a:p>
            <a:pPr marL="0" lvl="0" indent="0" algn="l" rtl="0">
              <a:lnSpc>
                <a:spcPct val="90000"/>
              </a:lnSpc>
              <a:spcBef>
                <a:spcPts val="1095"/>
              </a:spcBef>
              <a:spcAft>
                <a:spcPts val="0"/>
              </a:spcAft>
              <a:buClr>
                <a:schemeClr val="dk1"/>
              </a:buClr>
              <a:buSzPct val="100000"/>
              <a:buNone/>
            </a:pPr>
            <a:endParaRPr>
              <a:latin typeface="Arial"/>
              <a:ea typeface="Arial"/>
              <a:cs typeface="Arial"/>
              <a:sym typeface="Arial"/>
            </a:endParaRPr>
          </a:p>
          <a:p>
            <a:pPr marL="0" lvl="0" indent="0" algn="l" rtl="0">
              <a:lnSpc>
                <a:spcPct val="90000"/>
              </a:lnSpc>
              <a:spcBef>
                <a:spcPts val="1095"/>
              </a:spcBef>
              <a:spcAft>
                <a:spcPts val="0"/>
              </a:spcAft>
              <a:buClr>
                <a:schemeClr val="dk1"/>
              </a:buClr>
              <a:buSzPct val="100000"/>
              <a:buNone/>
            </a:pPr>
            <a:endParaRPr sz="2079">
              <a:latin typeface="Arial"/>
              <a:ea typeface="Arial"/>
              <a:cs typeface="Arial"/>
              <a:sym typeface="Arial"/>
            </a:endParaRPr>
          </a:p>
          <a:p>
            <a:pPr marL="0" lvl="0" indent="0" algn="l" rtl="0">
              <a:lnSpc>
                <a:spcPct val="90000"/>
              </a:lnSpc>
              <a:spcBef>
                <a:spcPts val="1095"/>
              </a:spcBef>
              <a:spcAft>
                <a:spcPts val="0"/>
              </a:spcAft>
              <a:buClr>
                <a:schemeClr val="dk1"/>
              </a:buClr>
              <a:buSzPct val="100000"/>
              <a:buNone/>
            </a:pPr>
            <a:endParaRPr sz="2079">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46">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3800" b="1">
                <a:latin typeface="Cambria"/>
                <a:ea typeface="Cambria"/>
                <a:cs typeface="Cambria"/>
                <a:sym typeface="Cambria"/>
              </a:rPr>
              <a:t>Ofertă de servicii juridice</a:t>
            </a:r>
            <a:endParaRPr/>
          </a:p>
          <a:p>
            <a:pPr marL="0" lvl="0" indent="0" algn="l" rtl="0">
              <a:lnSpc>
                <a:spcPct val="90000"/>
              </a:lnSpc>
              <a:spcBef>
                <a:spcPts val="1095"/>
              </a:spcBef>
              <a:spcAft>
                <a:spcPts val="0"/>
              </a:spcAft>
              <a:buClr>
                <a:schemeClr val="dk1"/>
              </a:buClr>
              <a:buSzPct val="100000"/>
              <a:buNone/>
            </a:pPr>
            <a:endParaRPr sz="3800" b="1">
              <a:latin typeface="Cambria"/>
              <a:ea typeface="Cambria"/>
              <a:cs typeface="Cambria"/>
              <a:sym typeface="Cambria"/>
            </a:endParaRPr>
          </a:p>
          <a:p>
            <a:pPr marL="0" lvl="0" indent="0" algn="l" rtl="0">
              <a:lnSpc>
                <a:spcPct val="100000"/>
              </a:lnSpc>
              <a:spcBef>
                <a:spcPts val="0"/>
              </a:spcBef>
              <a:spcAft>
                <a:spcPts val="0"/>
              </a:spcAft>
              <a:buClr>
                <a:srgbClr val="C00000"/>
              </a:buClr>
              <a:buSzPct val="100000"/>
              <a:buNone/>
            </a:pPr>
            <a:r>
              <a:rPr lang="en-US" sz="3800" b="1">
                <a:solidFill>
                  <a:srgbClr val="C00000"/>
                </a:solidFill>
                <a:latin typeface="Cambria"/>
                <a:ea typeface="Cambria"/>
                <a:cs typeface="Cambria"/>
                <a:sym typeface="Cambria"/>
              </a:rPr>
              <a:t>VITAFOR</a:t>
            </a:r>
            <a:endParaRPr sz="3800" b="1">
              <a:solidFill>
                <a:srgbClr val="C00000"/>
              </a:solidFill>
              <a:latin typeface="Cambria"/>
              <a:ea typeface="Cambria"/>
              <a:cs typeface="Cambria"/>
              <a:sym typeface="Cambria"/>
            </a:endParaRPr>
          </a:p>
          <a:p>
            <a:pPr marL="0" lvl="0" indent="0" algn="l" rtl="0">
              <a:lnSpc>
                <a:spcPct val="100000"/>
              </a:lnSpc>
              <a:spcBef>
                <a:spcPts val="0"/>
              </a:spcBef>
              <a:spcAft>
                <a:spcPts val="0"/>
              </a:spcAft>
              <a:buClr>
                <a:schemeClr val="dk1"/>
              </a:buClr>
              <a:buSzPct val="100000"/>
              <a:buNone/>
            </a:pPr>
            <a:endParaRPr sz="3800" b="1" i="1">
              <a:solidFill>
                <a:srgbClr val="C00000"/>
              </a:solidFill>
              <a:latin typeface="Cambria"/>
              <a:ea typeface="Cambria"/>
              <a:cs typeface="Cambria"/>
              <a:sym typeface="Cambria"/>
            </a:endParaRPr>
          </a:p>
          <a:p>
            <a:pPr marL="0" lvl="0" indent="0" algn="l" rtl="0">
              <a:lnSpc>
                <a:spcPct val="100000"/>
              </a:lnSpc>
              <a:spcBef>
                <a:spcPts val="0"/>
              </a:spcBef>
              <a:spcAft>
                <a:spcPts val="0"/>
              </a:spcAft>
              <a:buClr>
                <a:srgbClr val="C00000"/>
              </a:buClr>
              <a:buSzPct val="100000"/>
              <a:buNone/>
            </a:pPr>
            <a:r>
              <a:rPr lang="en-US" sz="3800" b="1" i="1">
                <a:solidFill>
                  <a:srgbClr val="C00000"/>
                </a:solidFill>
                <a:latin typeface="Cambria"/>
                <a:ea typeface="Cambria"/>
                <a:cs typeface="Cambria"/>
                <a:sym typeface="Cambria"/>
              </a:rPr>
              <a:t> </a:t>
            </a:r>
            <a:endParaRPr sz="3800" b="1">
              <a:solidFill>
                <a:srgbClr val="C00000"/>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1900" b="1">
              <a:solidFill>
                <a:srgbClr val="DA1F28"/>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2846" i="1">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0" lvl="0" indent="0" algn="l" rtl="0">
              <a:lnSpc>
                <a:spcPct val="90000"/>
              </a:lnSpc>
              <a:spcBef>
                <a:spcPts val="1095"/>
              </a:spcBef>
              <a:spcAft>
                <a:spcPts val="0"/>
              </a:spcAft>
              <a:buClr>
                <a:schemeClr val="dk1"/>
              </a:buClr>
              <a:buSzPct val="97087"/>
              <a:buNone/>
            </a:pPr>
            <a:r>
              <a:rPr lang="en-US" i="1">
                <a:latin typeface="Cambria"/>
                <a:ea typeface="Cambria"/>
                <a:cs typeface="Cambria"/>
                <a:sym typeface="Cambria"/>
              </a:rPr>
              <a:t>14 decembrie 2025</a:t>
            </a:r>
            <a:endParaRPr/>
          </a:p>
        </p:txBody>
      </p:sp>
      <p:sp>
        <p:nvSpPr>
          <p:cNvPr id="92" name="Google Shape;92;p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970"/>
              <a:buFont typeface="Cambria"/>
              <a:buNone/>
            </a:pPr>
            <a:br>
              <a:rPr lang="en-US" sz="1970" i="1">
                <a:latin typeface="Cambria"/>
                <a:ea typeface="Cambria"/>
                <a:cs typeface="Cambria"/>
                <a:sym typeface="Cambria"/>
              </a:rPr>
            </a:br>
            <a:endParaRPr sz="1970" b="1">
              <a:latin typeface="Cambria"/>
              <a:ea typeface="Cambria"/>
              <a:cs typeface="Cambria"/>
              <a:sym typeface="Cambria"/>
            </a:endParaRPr>
          </a:p>
        </p:txBody>
      </p:sp>
      <p:sp>
        <p:nvSpPr>
          <p:cNvPr id="99" name="Google Shape;99;p2"/>
          <p:cNvSpPr txBox="1">
            <a:spLocks noGrp="1"/>
          </p:cNvSpPr>
          <p:nvPr>
            <p:ph type="body" idx="1"/>
          </p:nvPr>
        </p:nvSpPr>
        <p:spPr>
          <a:xfrm>
            <a:off x="917430" y="3371850"/>
            <a:ext cx="11509659" cy="41258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endParaRPr sz="1600">
              <a:latin typeface="Cambria"/>
              <a:ea typeface="Cambria"/>
              <a:cs typeface="Cambria"/>
              <a:sym typeface="Cambria"/>
            </a:endParaRPr>
          </a:p>
          <a:p>
            <a:pPr marL="401376" lvl="0" indent="0" algn="l" rtl="0">
              <a:lnSpc>
                <a:spcPct val="90000"/>
              </a:lnSpc>
              <a:spcBef>
                <a:spcPts val="1095"/>
              </a:spcBef>
              <a:spcAft>
                <a:spcPts val="0"/>
              </a:spcAft>
              <a:buClr>
                <a:schemeClr val="dk1"/>
              </a:buClr>
              <a:buSzPts val="5600"/>
              <a:buNone/>
            </a:pPr>
            <a:r>
              <a:rPr lang="en-US" sz="5600">
                <a:latin typeface="Cambria"/>
                <a:ea typeface="Cambria"/>
                <a:cs typeface="Cambria"/>
                <a:sym typeface="Cambria"/>
              </a:rPr>
              <a:t>			</a:t>
            </a:r>
            <a:endParaRPr/>
          </a:p>
        </p:txBody>
      </p:sp>
      <p:sp>
        <p:nvSpPr>
          <p:cNvPr id="100" name="Google Shape;100;p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ERA Profile</a:t>
            </a:r>
            <a:endParaRPr/>
          </a:p>
        </p:txBody>
      </p:sp>
      <p:sp>
        <p:nvSpPr>
          <p:cNvPr id="101" name="Google Shape;101;p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cxnSp>
        <p:nvCxnSpPr>
          <p:cNvPr id="102" name="Google Shape;102;p2"/>
          <p:cNvCxnSpPr/>
          <p:nvPr/>
        </p:nvCxnSpPr>
        <p:spPr>
          <a:xfrm rot="10800000" flipH="1">
            <a:off x="917436" y="1835336"/>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03" name="Google Shape;103;p2"/>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aphicFrame>
        <p:nvGraphicFramePr>
          <p:cNvPr id="104" name="Google Shape;104;p2"/>
          <p:cNvGraphicFramePr/>
          <p:nvPr/>
        </p:nvGraphicFramePr>
        <p:xfrm>
          <a:off x="917431" y="294932"/>
          <a:ext cx="11321400" cy="1806980"/>
        </p:xfrm>
        <a:graphic>
          <a:graphicData uri="http://schemas.openxmlformats.org/drawingml/2006/table">
            <a:tbl>
              <a:tblPr bandRow="1">
                <a:noFill/>
                <a:tableStyleId>{73599C68-CCEA-4331-8874-6C1E036581AA}</a:tableStyleId>
              </a:tblPr>
              <a:tblGrid>
                <a:gridCol w="1109875">
                  <a:extLst>
                    <a:ext uri="{9D8B030D-6E8A-4147-A177-3AD203B41FA5}">
                      <a16:colId xmlns:a16="http://schemas.microsoft.com/office/drawing/2014/main" val="20000"/>
                    </a:ext>
                  </a:extLst>
                </a:gridCol>
                <a:gridCol w="6860175">
                  <a:extLst>
                    <a:ext uri="{9D8B030D-6E8A-4147-A177-3AD203B41FA5}">
                      <a16:colId xmlns:a16="http://schemas.microsoft.com/office/drawing/2014/main" val="20001"/>
                    </a:ext>
                  </a:extLst>
                </a:gridCol>
                <a:gridCol w="3351350">
                  <a:extLst>
                    <a:ext uri="{9D8B030D-6E8A-4147-A177-3AD203B41FA5}">
                      <a16:colId xmlns:a16="http://schemas.microsoft.com/office/drawing/2014/main" val="20002"/>
                    </a:ext>
                  </a:extLst>
                </a:gridCol>
              </a:tblGrid>
              <a:tr h="1778950">
                <a:tc>
                  <a:txBody>
                    <a:bodyPr/>
                    <a:lstStyle/>
                    <a:p>
                      <a:pPr marL="0" marR="0" lvl="0" indent="0" algn="l" rtl="0">
                        <a:spcBef>
                          <a:spcPts val="0"/>
                        </a:spcBef>
                        <a:spcAft>
                          <a:spcPts val="0"/>
                        </a:spcAft>
                        <a:buNone/>
                      </a:pPr>
                      <a:endParaRPr sz="1800" b="0">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a:latin typeface="Cambria"/>
                          <a:ea typeface="Cambria"/>
                          <a:cs typeface="Cambria"/>
                          <a:sym typeface="Cambria"/>
                        </a:rPr>
                        <a:t>        </a:t>
                      </a:r>
                      <a:r>
                        <a:rPr lang="en-US" sz="1600" b="1" i="0">
                          <a:solidFill>
                            <a:schemeClr val="dk1"/>
                          </a:solidFill>
                          <a:latin typeface="Cambria"/>
                          <a:ea typeface="Cambria"/>
                          <a:cs typeface="Cambria"/>
                          <a:sym typeface="Cambria"/>
                        </a:rPr>
                        <a:t>Vitalie BÎRCĂ</a:t>
                      </a:r>
                      <a:endParaRPr/>
                    </a:p>
                    <a:p>
                      <a:pPr marL="0" marR="0" lvl="0" indent="0" algn="l" rtl="0">
                        <a:spcBef>
                          <a:spcPts val="0"/>
                        </a:spcBef>
                        <a:spcAft>
                          <a:spcPts val="0"/>
                        </a:spcAft>
                        <a:buNone/>
                      </a:pPr>
                      <a:r>
                        <a:rPr lang="en-US" sz="1600" b="0">
                          <a:latin typeface="Cambria"/>
                          <a:ea typeface="Cambria"/>
                          <a:cs typeface="Cambria"/>
                          <a:sym typeface="Cambria"/>
                        </a:rPr>
                        <a:t>        Administrator</a:t>
                      </a:r>
                      <a:endParaRPr/>
                    </a:p>
                    <a:p>
                      <a:pPr marL="0" marR="0" lvl="0" indent="0" algn="l" rtl="0">
                        <a:lnSpc>
                          <a:spcPct val="100000"/>
                        </a:lnSpc>
                        <a:spcBef>
                          <a:spcPts val="0"/>
                        </a:spcBef>
                        <a:spcAft>
                          <a:spcPts val="0"/>
                        </a:spcAft>
                        <a:buClr>
                          <a:schemeClr val="dk1"/>
                        </a:buClr>
                        <a:buSzPts val="1600"/>
                        <a:buFont typeface="Cambria"/>
                        <a:buNone/>
                      </a:pPr>
                      <a:r>
                        <a:rPr lang="en-US" sz="1600" b="0" i="0">
                          <a:solidFill>
                            <a:schemeClr val="dk1"/>
                          </a:solidFill>
                          <a:latin typeface="Cambria"/>
                          <a:ea typeface="Cambria"/>
                          <a:cs typeface="Cambria"/>
                          <a:sym typeface="Cambria"/>
                        </a:rPr>
                        <a:t>        </a:t>
                      </a:r>
                      <a:r>
                        <a:rPr lang="en-US" sz="1600" b="1">
                          <a:solidFill>
                            <a:srgbClr val="C00000"/>
                          </a:solidFill>
                          <a:latin typeface="Cambria"/>
                          <a:ea typeface="Cambria"/>
                          <a:cs typeface="Cambria"/>
                          <a:sym typeface="Cambria"/>
                        </a:rPr>
                        <a:t>VITAFOR S.R.L</a:t>
                      </a:r>
                      <a:r>
                        <a:rPr lang="en-US" sz="1600" b="1">
                          <a:solidFill>
                            <a:schemeClr val="dk1"/>
                          </a:solidFill>
                          <a:latin typeface="Cambria"/>
                          <a:ea typeface="Cambria"/>
                          <a:cs typeface="Cambria"/>
                          <a:sym typeface="Cambria"/>
                        </a:rPr>
                        <a:t> </a:t>
                      </a:r>
                      <a:endParaRPr/>
                    </a:p>
                    <a:p>
                      <a:pPr marL="0" marR="0" lvl="0" indent="0" algn="l" rtl="0">
                        <a:lnSpc>
                          <a:spcPct val="100000"/>
                        </a:lnSpc>
                        <a:spcBef>
                          <a:spcPts val="0"/>
                        </a:spcBef>
                        <a:spcAft>
                          <a:spcPts val="0"/>
                        </a:spcAft>
                        <a:buClr>
                          <a:schemeClr val="dk1"/>
                        </a:buClr>
                        <a:buSzPts val="1600"/>
                        <a:buFont typeface="Cambria"/>
                        <a:buNone/>
                      </a:pPr>
                      <a:r>
                        <a:rPr lang="en-US" sz="1600">
                          <a:solidFill>
                            <a:schemeClr val="dk1"/>
                          </a:solidFill>
                          <a:latin typeface="Cambria"/>
                          <a:ea typeface="Cambria"/>
                          <a:cs typeface="Cambria"/>
                          <a:sym typeface="Cambria"/>
                        </a:rPr>
                        <a:t>        Chișinău, str. Valea Bîcului 5/3</a:t>
                      </a:r>
                      <a:endParaRPr/>
                    </a:p>
                    <a:p>
                      <a:pPr marL="0" marR="0" lvl="0" indent="0" algn="l" rtl="0">
                        <a:lnSpc>
                          <a:spcPct val="100000"/>
                        </a:lnSpc>
                        <a:spcBef>
                          <a:spcPts val="0"/>
                        </a:spcBef>
                        <a:spcAft>
                          <a:spcPts val="0"/>
                        </a:spcAft>
                        <a:buClr>
                          <a:schemeClr val="dk1"/>
                        </a:buClr>
                        <a:buSzPts val="1600"/>
                        <a:buFont typeface="Cambria"/>
                        <a:buNone/>
                      </a:pPr>
                      <a:r>
                        <a:rPr lang="en-US" sz="1600">
                          <a:solidFill>
                            <a:schemeClr val="dk1"/>
                          </a:solidFill>
                          <a:latin typeface="Cambria"/>
                          <a:ea typeface="Cambria"/>
                          <a:cs typeface="Cambria"/>
                          <a:sym typeface="Cambria"/>
                        </a:rPr>
                        <a:t>        Republica Moldova</a:t>
                      </a:r>
                      <a:endParaRPr/>
                    </a:p>
                    <a:p>
                      <a:pPr marL="0" marR="0" lvl="0" indent="0" algn="l" rtl="0">
                        <a:lnSpc>
                          <a:spcPct val="100000"/>
                        </a:lnSpc>
                        <a:spcBef>
                          <a:spcPts val="0"/>
                        </a:spcBef>
                        <a:spcAft>
                          <a:spcPts val="0"/>
                        </a:spcAft>
                        <a:buClr>
                          <a:schemeClr val="dk1"/>
                        </a:buClr>
                        <a:buSzPts val="1600"/>
                        <a:buFont typeface="Calibri"/>
                        <a:buNone/>
                      </a:pPr>
                      <a:endParaRPr sz="1600" b="1">
                        <a:solidFill>
                          <a:srgbClr val="C00000"/>
                        </a:solidFill>
                        <a:latin typeface="Cambria"/>
                        <a:ea typeface="Cambria"/>
                        <a:cs typeface="Cambria"/>
                        <a:sym typeface="Cambria"/>
                      </a:endParaRPr>
                    </a:p>
                    <a:p>
                      <a:pPr marL="0" marR="0" lvl="0" indent="0" algn="l" rtl="0">
                        <a:lnSpc>
                          <a:spcPct val="100000"/>
                        </a:lnSpc>
                        <a:spcBef>
                          <a:spcPts val="0"/>
                        </a:spcBef>
                        <a:spcAft>
                          <a:spcPts val="0"/>
                        </a:spcAft>
                        <a:buClr>
                          <a:srgbClr val="C00000"/>
                        </a:buClr>
                        <a:buSzPts val="1600"/>
                        <a:buFont typeface="Cambria"/>
                        <a:buNone/>
                      </a:pPr>
                      <a:r>
                        <a:rPr lang="en-US" sz="1600" b="1">
                          <a:solidFill>
                            <a:srgbClr val="C00000"/>
                          </a:solidFill>
                          <a:latin typeface="Cambria"/>
                          <a:ea typeface="Cambria"/>
                          <a:cs typeface="Cambria"/>
                          <a:sym typeface="Cambria"/>
                        </a:rPr>
                        <a:t>         </a:t>
                      </a:r>
                      <a:endParaRPr sz="1600" b="0" i="0">
                        <a:solidFill>
                          <a:schemeClr val="dk1"/>
                        </a:solidFill>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1">
                          <a:solidFill>
                            <a:srgbClr val="C00000"/>
                          </a:solidFill>
                          <a:latin typeface="Cambria"/>
                          <a:ea typeface="Cambria"/>
                          <a:cs typeface="Cambria"/>
                          <a:sym typeface="Cambria"/>
                        </a:rPr>
                        <a:t>Efrim, Rosca si Asociatii</a:t>
                      </a:r>
                      <a:endParaRPr sz="1600" b="1">
                        <a:solidFill>
                          <a:srgbClr val="C00000"/>
                        </a:solidFill>
                        <a:latin typeface="Cambria"/>
                        <a:ea typeface="Cambria"/>
                        <a:cs typeface="Cambria"/>
                        <a:sym typeface="Cambria"/>
                      </a:endParaRPr>
                    </a:p>
                    <a:p>
                      <a:pPr marL="0" marR="0" lvl="0" indent="0" algn="l" rtl="0">
                        <a:spcBef>
                          <a:spcPts val="0"/>
                        </a:spcBef>
                        <a:spcAft>
                          <a:spcPts val="0"/>
                        </a:spcAft>
                        <a:buNone/>
                      </a:pPr>
                      <a:r>
                        <a:rPr lang="en-US" sz="1600" b="0">
                          <a:solidFill>
                            <a:schemeClr val="dk1"/>
                          </a:solidFill>
                          <a:latin typeface="Cambria"/>
                          <a:ea typeface="Cambria"/>
                          <a:cs typeface="Cambria"/>
                          <a:sym typeface="Cambria"/>
                        </a:rPr>
                        <a:t>Str. </a:t>
                      </a:r>
                      <a:r>
                        <a:rPr lang="en-US" sz="1600">
                          <a:latin typeface="Cambria"/>
                          <a:ea typeface="Cambria"/>
                          <a:cs typeface="Cambria"/>
                          <a:sym typeface="Cambria"/>
                        </a:rPr>
                        <a:t>Bucuresti, 72</a:t>
                      </a:r>
                      <a:endParaRPr/>
                    </a:p>
                    <a:p>
                      <a:pPr marL="0" marR="0" lvl="0" indent="0" algn="l" rtl="0">
                        <a:spcBef>
                          <a:spcPts val="0"/>
                        </a:spcBef>
                        <a:spcAft>
                          <a:spcPts val="0"/>
                        </a:spcAft>
                        <a:buNone/>
                      </a:pPr>
                      <a:r>
                        <a:rPr lang="en-US" sz="1600">
                          <a:latin typeface="Cambria"/>
                          <a:ea typeface="Cambria"/>
                          <a:cs typeface="Cambria"/>
                          <a:sym typeface="Cambria"/>
                        </a:rPr>
                        <a:t>Chisinau, MD2012</a:t>
                      </a:r>
                      <a:endParaRPr/>
                    </a:p>
                    <a:p>
                      <a:pPr marL="0" marR="0" lvl="0" indent="0" algn="l" rtl="0">
                        <a:spcBef>
                          <a:spcPts val="0"/>
                        </a:spcBef>
                        <a:spcAft>
                          <a:spcPts val="0"/>
                        </a:spcAft>
                        <a:buNone/>
                      </a:pPr>
                      <a:r>
                        <a:rPr lang="en-US" sz="1600">
                          <a:latin typeface="Cambria"/>
                          <a:ea typeface="Cambria"/>
                          <a:cs typeface="Cambria"/>
                          <a:sym typeface="Cambria"/>
                        </a:rPr>
                        <a:t>Republica Moldova</a:t>
                      </a:r>
                      <a:endParaRPr sz="1600" b="0">
                        <a:latin typeface="Cambria"/>
                        <a:ea typeface="Cambria"/>
                        <a:cs typeface="Cambria"/>
                        <a:sym typeface="Cambria"/>
                      </a:endParaRPr>
                    </a:p>
                  </a:txBody>
                  <a:tcPr marL="100075" marR="100075" marT="50050" marB="500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05" name="Google Shape;105;p2"/>
          <p:cNvGrpSpPr/>
          <p:nvPr/>
        </p:nvGrpSpPr>
        <p:grpSpPr>
          <a:xfrm>
            <a:off x="639425" y="7686554"/>
            <a:ext cx="611624" cy="278385"/>
            <a:chOff x="639425" y="7686554"/>
            <a:chExt cx="611624" cy="278385"/>
          </a:xfrm>
        </p:grpSpPr>
        <p:pic>
          <p:nvPicPr>
            <p:cNvPr id="106" name="Google Shape;106;p2"/>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07" name="Google Shape;107;p2"/>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08" name="Google Shape;108;p2"/>
          <p:cNvSpPr txBox="1"/>
          <p:nvPr/>
        </p:nvSpPr>
        <p:spPr>
          <a:xfrm>
            <a:off x="1084242" y="2102021"/>
            <a:ext cx="11342847" cy="54237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mbria"/>
                <a:ea typeface="Cambria"/>
                <a:cs typeface="Cambria"/>
                <a:sym typeface="Cambria"/>
              </a:rPr>
              <a:t>Stimate domnule BÎRCĂ</a:t>
            </a:r>
            <a:endParaRPr/>
          </a:p>
          <a:p>
            <a:pPr marL="0" marR="0" lvl="0" indent="0" algn="l" rtl="0">
              <a:spcBef>
                <a:spcPts val="0"/>
              </a:spcBef>
              <a:spcAft>
                <a:spcPts val="0"/>
              </a:spcAft>
              <a:buNone/>
            </a:pPr>
            <a:endParaRPr sz="20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Efrim, Roșca &amp; Asociații are plăcerea de a vă transmite această ofertă de servicii juridice, ca răspuns la solicitarea privind potențiala achiziție de către VITAFOR S.R.L. a 100% din părțile sociale ale Întreprinderii Mixte „Moldova Zahar”.</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Asistența noastră va acoperi, din perspectiva dreptului Republicii Moldova, etapele esențiale ale tranzacției, incluzând </a:t>
            </a:r>
            <a:r>
              <a:rPr lang="en-US" sz="1800" i="1">
                <a:solidFill>
                  <a:schemeClr val="dk1"/>
                </a:solidFill>
                <a:latin typeface="Cambria"/>
                <a:ea typeface="Cambria"/>
                <a:cs typeface="Cambria"/>
                <a:sym typeface="Cambria"/>
              </a:rPr>
              <a:t>due diligence-ul </a:t>
            </a:r>
            <a:r>
              <a:rPr lang="en-US" sz="1800">
                <a:solidFill>
                  <a:schemeClr val="dk1"/>
                </a:solidFill>
                <a:latin typeface="Cambria"/>
                <a:ea typeface="Cambria"/>
                <a:cs typeface="Cambria"/>
                <a:sym typeface="Cambria"/>
              </a:rPr>
              <a:t>juridic, structurarea tranzacției, elaborarea și negocierea contractului de vânzare-cumpărare a părților sociale, precum și suportul juridic aferent încheierii tranzacției, formalităților de </a:t>
            </a:r>
            <a:r>
              <a:rPr lang="en-US" sz="1800" i="1">
                <a:solidFill>
                  <a:schemeClr val="dk1"/>
                </a:solidFill>
                <a:latin typeface="Cambria"/>
                <a:ea typeface="Cambria"/>
                <a:cs typeface="Cambria"/>
                <a:sym typeface="Cambria"/>
              </a:rPr>
              <a:t>closing </a:t>
            </a:r>
            <a:r>
              <a:rPr lang="en-US" sz="1800">
                <a:solidFill>
                  <a:schemeClr val="dk1"/>
                </a:solidFill>
                <a:latin typeface="Cambria"/>
                <a:ea typeface="Cambria"/>
                <a:cs typeface="Cambria"/>
                <a:sym typeface="Cambria"/>
              </a:rPr>
              <a:t>și înregistrării drepturilor rezultate.</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Anexat veți regăsi domeniul propus al serviciilor, componența echipei, ipotezele de lucru și estimarea onorariilor. Rămânem la dispoziția dumneavoastră pentru orice clarificări și suntem disponibili să discutăm orice aspect relevant al Tranzacției.</a:t>
            </a:r>
            <a:endParaRPr/>
          </a:p>
          <a:p>
            <a:pPr marL="0" marR="0" lvl="0" indent="0" algn="l" rtl="0">
              <a:spcBef>
                <a:spcPts val="0"/>
              </a:spcBef>
              <a:spcAft>
                <a:spcPts val="0"/>
              </a:spcAft>
              <a:buNone/>
            </a:pPr>
            <a:endParaRPr sz="1800">
              <a:solidFill>
                <a:schemeClr val="dk1"/>
              </a:solidFill>
              <a:latin typeface="Cambria"/>
              <a:ea typeface="Cambria"/>
              <a:cs typeface="Cambria"/>
              <a:sym typeface="Cambria"/>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Cu respect,</a:t>
            </a:r>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Oleg EFRIM</a:t>
            </a:r>
            <a:endParaRPr/>
          </a:p>
          <a:p>
            <a:pPr marL="0" marR="0" lvl="0" indent="0" algn="l" rtl="0">
              <a:spcBef>
                <a:spcPts val="0"/>
              </a:spcBef>
              <a:spcAft>
                <a:spcPts val="0"/>
              </a:spcAft>
              <a:buNone/>
            </a:pPr>
            <a:r>
              <a:rPr lang="en-US" sz="1800">
                <a:solidFill>
                  <a:schemeClr val="dk1"/>
                </a:solidFill>
                <a:latin typeface="Cambria"/>
                <a:ea typeface="Cambria"/>
                <a:cs typeface="Cambria"/>
                <a:sym typeface="Cambria"/>
              </a:rPr>
              <a:t>Managing Partner</a:t>
            </a:r>
            <a:endParaRPr/>
          </a:p>
          <a:p>
            <a:pPr marL="4155450" marR="0" lvl="8" indent="0" algn="l" rtl="0">
              <a:spcBef>
                <a:spcPts val="0"/>
              </a:spcBef>
              <a:spcAft>
                <a:spcPts val="0"/>
              </a:spcAft>
              <a:buNone/>
            </a:pPr>
            <a:endParaRPr sz="2045"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Secțiunea 1 </a:t>
            </a:r>
            <a:br>
              <a:rPr lang="en-US" sz="2900" b="1">
                <a:solidFill>
                  <a:schemeClr val="lt1"/>
                </a:solidFill>
                <a:latin typeface="Cambria"/>
                <a:ea typeface="Cambria"/>
                <a:cs typeface="Cambria"/>
                <a:sym typeface="Cambria"/>
              </a:rPr>
            </a:b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Obiectul serviciilor</a:t>
            </a:r>
            <a:endParaRPr sz="2900">
              <a:solidFill>
                <a:schemeClr val="lt1"/>
              </a:solidFill>
            </a:endParaRPr>
          </a:p>
        </p:txBody>
      </p:sp>
      <p:sp>
        <p:nvSpPr>
          <p:cNvPr id="115" name="Google Shape;115;p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116" name="Google Shape;116;p3"/>
          <p:cNvGrpSpPr/>
          <p:nvPr/>
        </p:nvGrpSpPr>
        <p:grpSpPr>
          <a:xfrm>
            <a:off x="639425" y="7686554"/>
            <a:ext cx="611624" cy="278385"/>
            <a:chOff x="639425" y="7686554"/>
            <a:chExt cx="611624" cy="278385"/>
          </a:xfrm>
        </p:grpSpPr>
        <p:pic>
          <p:nvPicPr>
            <p:cNvPr id="117" name="Google Shape;117;p3"/>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18" name="Google Shape;118;p3"/>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19" name="Google Shape;119;p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body" idx="1"/>
          </p:nvPr>
        </p:nvSpPr>
        <p:spPr>
          <a:xfrm>
            <a:off x="917436" y="996596"/>
            <a:ext cx="11716212" cy="6663625"/>
          </a:xfrm>
          <a:prstGeom prst="rect">
            <a:avLst/>
          </a:prstGeom>
          <a:noFill/>
          <a:ln>
            <a:noFill/>
          </a:ln>
        </p:spPr>
        <p:txBody>
          <a:bodyPr spcFirstLastPara="1" wrap="square" lIns="91425" tIns="45700" rIns="91425" bIns="45700" anchor="ctr" anchorCtr="0">
            <a:normAutofit fontScale="55000" lnSpcReduction="20000"/>
          </a:bodyPr>
          <a:lstStyle/>
          <a:p>
            <a:pPr marL="0" lvl="0" indent="0" algn="just" rtl="0">
              <a:lnSpc>
                <a:spcPct val="90000"/>
              </a:lnSpc>
              <a:spcBef>
                <a:spcPts val="0"/>
              </a:spcBef>
              <a:spcAft>
                <a:spcPts val="0"/>
              </a:spcAft>
              <a:buClr>
                <a:srgbClr val="C00000"/>
              </a:buClr>
              <a:buSzPct val="100000"/>
              <a:buNone/>
            </a:pPr>
            <a:r>
              <a:rPr lang="en-US" sz="3600" b="1">
                <a:solidFill>
                  <a:srgbClr val="C00000"/>
                </a:solidFill>
                <a:latin typeface="Cambria"/>
                <a:ea typeface="Cambria"/>
                <a:cs typeface="Cambria"/>
                <a:sym typeface="Cambria"/>
              </a:rPr>
              <a:t>Descrierea serviciilor: </a:t>
            </a:r>
            <a:endParaRPr/>
          </a:p>
          <a:p>
            <a:pPr marL="0" lvl="0" indent="0" algn="l" rtl="0">
              <a:lnSpc>
                <a:spcPct val="90000"/>
              </a:lnSpc>
              <a:spcBef>
                <a:spcPts val="1095"/>
              </a:spcBef>
              <a:spcAft>
                <a:spcPts val="0"/>
              </a:spcAft>
              <a:buClr>
                <a:schemeClr val="dk1"/>
              </a:buClr>
              <a:buSzPct val="100000"/>
              <a:buNone/>
            </a:pPr>
            <a:r>
              <a:rPr lang="en-US" sz="3300">
                <a:latin typeface="Cambria"/>
                <a:ea typeface="Cambria"/>
                <a:cs typeface="Cambria"/>
                <a:sym typeface="Cambria"/>
              </a:rPr>
              <a:t>Propunerea noastră are ca obiect acordarea unei asistențe juridice și tranzacționale complete în legătură cu potențiala achiziție a 100% din părțile sociale ale unei întreprinderi producătoare de zahăr (denumită în continuare „Societatea-țintă”), acoperind toate etapele tranzacției, de la consultanța preliminară până la asistența ulterioară finalizării acesteia.</a:t>
            </a:r>
            <a:endParaRPr/>
          </a:p>
          <a:p>
            <a:pPr marL="0" lvl="0" indent="0" algn="l" rtl="0">
              <a:lnSpc>
                <a:spcPct val="90000"/>
              </a:lnSpc>
              <a:spcBef>
                <a:spcPts val="1095"/>
              </a:spcBef>
              <a:spcAft>
                <a:spcPts val="0"/>
              </a:spcAft>
              <a:buClr>
                <a:srgbClr val="C00000"/>
              </a:buClr>
              <a:buSzPct val="100000"/>
              <a:buNone/>
            </a:pPr>
            <a:r>
              <a:rPr lang="en-US" sz="3300" b="1">
                <a:solidFill>
                  <a:srgbClr val="C00000"/>
                </a:solidFill>
                <a:latin typeface="Cambria"/>
                <a:ea typeface="Cambria"/>
                <a:cs typeface="Cambria"/>
                <a:sym typeface="Cambria"/>
              </a:rPr>
              <a:t>Etapa  I –  Due diligence juridic (Analiză de tip ‘’Red Flags’’)</a:t>
            </a:r>
            <a:endParaRPr/>
          </a:p>
          <a:p>
            <a:pPr marL="0" lvl="0" indent="0" algn="l" rtl="0">
              <a:lnSpc>
                <a:spcPct val="90000"/>
              </a:lnSpc>
              <a:spcBef>
                <a:spcPts val="1095"/>
              </a:spcBef>
              <a:spcAft>
                <a:spcPts val="0"/>
              </a:spcAft>
              <a:buClr>
                <a:schemeClr val="dk1"/>
              </a:buClr>
              <a:buSzPct val="100000"/>
              <a:buNone/>
            </a:pPr>
            <a:r>
              <a:rPr lang="en-US" sz="6400" u="sng">
                <a:latin typeface="Cambria"/>
                <a:ea typeface="Cambria"/>
                <a:cs typeface="Cambria"/>
                <a:sym typeface="Cambria"/>
              </a:rPr>
              <a:t> </a:t>
            </a:r>
            <a:endParaRPr sz="6000">
              <a:latin typeface="Cambria"/>
              <a:ea typeface="Cambria"/>
              <a:cs typeface="Cambria"/>
              <a:sym typeface="Cambria"/>
            </a:endParaRPr>
          </a:p>
          <a:p>
            <a:pPr marL="500405" lvl="1" indent="0" algn="just" rtl="0">
              <a:lnSpc>
                <a:spcPct val="90000"/>
              </a:lnSpc>
              <a:spcBef>
                <a:spcPts val="547"/>
              </a:spcBef>
              <a:spcAft>
                <a:spcPts val="0"/>
              </a:spcAft>
              <a:buClr>
                <a:schemeClr val="dk1"/>
              </a:buClr>
              <a:buSzPct val="100000"/>
              <a:buNone/>
            </a:pPr>
            <a:endParaRPr sz="64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4800">
                <a:latin typeface="Cambria"/>
                <a:ea typeface="Cambria"/>
                <a:cs typeface="Cambria"/>
                <a:sym typeface="Cambria"/>
              </a:rPr>
              <a:t> </a:t>
            </a:r>
            <a:endParaRPr>
              <a:latin typeface="Cambria"/>
              <a:ea typeface="Cambria"/>
              <a:cs typeface="Cambria"/>
              <a:sym typeface="Cambria"/>
            </a:endParaRPr>
          </a:p>
          <a:p>
            <a:pPr marL="250203" lvl="0" indent="0" algn="l" rtl="0">
              <a:lnSpc>
                <a:spcPct val="90000"/>
              </a:lnSpc>
              <a:spcBef>
                <a:spcPts val="1095"/>
              </a:spcBef>
              <a:spcAft>
                <a:spcPts val="0"/>
              </a:spcAft>
              <a:buClr>
                <a:schemeClr val="dk1"/>
              </a:buClr>
              <a:buSzPct val="100000"/>
              <a:buNone/>
            </a:pPr>
            <a:endParaRPr sz="7200">
              <a:latin typeface="Cambria"/>
              <a:ea typeface="Cambria"/>
              <a:cs typeface="Cambria"/>
              <a:sym typeface="Cambria"/>
            </a:endParaRPr>
          </a:p>
          <a:p>
            <a:pPr marL="250203" lvl="0" indent="-117488" algn="l" rtl="0">
              <a:lnSpc>
                <a:spcPct val="90000"/>
              </a:lnSpc>
              <a:spcBef>
                <a:spcPts val="1095"/>
              </a:spcBef>
              <a:spcAft>
                <a:spcPts val="0"/>
              </a:spcAft>
              <a:buClr>
                <a:schemeClr val="dk1"/>
              </a:buClr>
              <a:buSzPct val="100000"/>
              <a:buFont typeface="Calibri"/>
              <a:buNone/>
            </a:pPr>
            <a:endParaRPr sz="3800">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Font typeface="Calibri"/>
              <a:buNone/>
            </a:pPr>
            <a:endParaRPr>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endParaRPr sz="2300">
              <a:latin typeface="Cambria"/>
              <a:ea typeface="Cambria"/>
              <a:cs typeface="Cambria"/>
              <a:sym typeface="Cambria"/>
            </a:endParaRPr>
          </a:p>
          <a:p>
            <a:pPr marL="0" lvl="0" indent="0" algn="just" rtl="0">
              <a:lnSpc>
                <a:spcPct val="125000"/>
              </a:lnSpc>
              <a:spcBef>
                <a:spcPts val="1095"/>
              </a:spcBef>
              <a:spcAft>
                <a:spcPts val="0"/>
              </a:spcAft>
              <a:buClr>
                <a:schemeClr val="dk1"/>
              </a:buClr>
              <a:buSzPct val="100000"/>
              <a:buNone/>
            </a:pPr>
            <a:r>
              <a:rPr lang="en-US" sz="7200" u="sng">
                <a:latin typeface="Cambria"/>
                <a:ea typeface="Cambria"/>
                <a:cs typeface="Cambria"/>
                <a:sym typeface="Cambria"/>
              </a:rPr>
              <a:t> </a:t>
            </a:r>
            <a:endParaRPr sz="72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7200">
                <a:latin typeface="Cambria"/>
                <a:ea typeface="Cambria"/>
                <a:cs typeface="Cambria"/>
                <a:sym typeface="Cambria"/>
              </a:rPr>
              <a:t> </a:t>
            </a:r>
            <a:br>
              <a:rPr lang="en-US" sz="1200">
                <a:latin typeface="Cambria"/>
                <a:ea typeface="Cambria"/>
                <a:cs typeface="Cambria"/>
                <a:sym typeface="Cambria"/>
              </a:rPr>
            </a:br>
            <a:endParaRPr sz="1200">
              <a:latin typeface="Cambria"/>
              <a:ea typeface="Cambria"/>
              <a:cs typeface="Cambria"/>
              <a:sym typeface="Cambria"/>
            </a:endParaRPr>
          </a:p>
          <a:p>
            <a:pPr marL="0" lvl="0" indent="0" algn="l" rtl="0">
              <a:lnSpc>
                <a:spcPct val="90000"/>
              </a:lnSpc>
              <a:spcBef>
                <a:spcPts val="1095"/>
              </a:spcBef>
              <a:spcAft>
                <a:spcPts val="0"/>
              </a:spcAft>
              <a:buClr>
                <a:srgbClr val="212121"/>
              </a:buClr>
              <a:buSzPct val="100000"/>
              <a:buNone/>
            </a:pPr>
            <a:r>
              <a:rPr lang="en-US" sz="2000" i="0">
                <a:solidFill>
                  <a:srgbClr val="212121"/>
                </a:solidFill>
                <a:latin typeface="Cambria"/>
                <a:ea typeface="Cambria"/>
                <a:cs typeface="Cambria"/>
                <a:sym typeface="Cambria"/>
              </a:rPr>
              <a:t> </a:t>
            </a:r>
            <a:endParaRPr sz="2000">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None/>
            </a:pPr>
            <a:endParaRPr>
              <a:latin typeface="Cambria"/>
              <a:ea typeface="Cambria"/>
              <a:cs typeface="Cambria"/>
              <a:sym typeface="Cambria"/>
            </a:endParaRPr>
          </a:p>
        </p:txBody>
      </p:sp>
      <p:sp>
        <p:nvSpPr>
          <p:cNvPr id="126" name="Google Shape;126;p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cxnSp>
        <p:nvCxnSpPr>
          <p:cNvPr id="127" name="Google Shape;127;p4"/>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28" name="Google Shape;128;p4"/>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29" name="Google Shape;129;p4"/>
          <p:cNvGrpSpPr/>
          <p:nvPr/>
        </p:nvGrpSpPr>
        <p:grpSpPr>
          <a:xfrm>
            <a:off x="639425" y="7686554"/>
            <a:ext cx="611624" cy="278385"/>
            <a:chOff x="639425" y="7686554"/>
            <a:chExt cx="611624" cy="278385"/>
          </a:xfrm>
        </p:grpSpPr>
        <p:pic>
          <p:nvPicPr>
            <p:cNvPr id="130" name="Google Shape;130;p4"/>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31" name="Google Shape;131;p4"/>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32" name="Google Shape;132;p4"/>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1: </a:t>
            </a:r>
            <a:r>
              <a:rPr lang="en-US" sz="1400" b="1">
                <a:solidFill>
                  <a:schemeClr val="dk1"/>
                </a:solidFill>
                <a:latin typeface="Cambria"/>
                <a:ea typeface="Cambria"/>
                <a:cs typeface="Cambria"/>
                <a:sym typeface="Cambria"/>
              </a:rPr>
              <a:t> Descrierea serviciilor</a:t>
            </a:r>
            <a:endParaRPr sz="1400" b="1">
              <a:solidFill>
                <a:schemeClr val="dk1"/>
              </a:solidFill>
              <a:latin typeface="Cambria"/>
              <a:ea typeface="Cambria"/>
              <a:cs typeface="Cambria"/>
              <a:sym typeface="Cambria"/>
            </a:endParaRPr>
          </a:p>
        </p:txBody>
      </p:sp>
      <p:sp>
        <p:nvSpPr>
          <p:cNvPr id="133" name="Google Shape;133;p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Ofertă de servicii juridice</a:t>
            </a:r>
            <a:endParaRPr/>
          </a:p>
          <a:p>
            <a:pPr marL="0" lvl="0" indent="0" algn="ctr" rtl="0">
              <a:spcBef>
                <a:spcPts val="0"/>
              </a:spcBef>
              <a:spcAft>
                <a:spcPts val="0"/>
              </a:spcAft>
              <a:buNone/>
            </a:pPr>
            <a:endParaRPr sz="1000" b="1">
              <a:latin typeface="Cambria"/>
              <a:ea typeface="Cambria"/>
              <a:cs typeface="Cambria"/>
              <a:sym typeface="Cambria"/>
            </a:endParaRPr>
          </a:p>
        </p:txBody>
      </p:sp>
      <p:graphicFrame>
        <p:nvGraphicFramePr>
          <p:cNvPr id="134" name="Google Shape;134;p4"/>
          <p:cNvGraphicFramePr/>
          <p:nvPr/>
        </p:nvGraphicFramePr>
        <p:xfrm>
          <a:off x="1084242" y="2855175"/>
          <a:ext cx="11342850" cy="5098875"/>
        </p:xfrm>
        <a:graphic>
          <a:graphicData uri="http://schemas.openxmlformats.org/drawingml/2006/table">
            <a:tbl>
              <a:tblPr firstRow="1" bandRow="1">
                <a:noFill/>
                <a:tableStyleId>{6FF0782A-B248-4C6F-8606-AE48E0E161FE}</a:tableStyleId>
              </a:tblPr>
              <a:tblGrid>
                <a:gridCol w="5671425">
                  <a:extLst>
                    <a:ext uri="{9D8B030D-6E8A-4147-A177-3AD203B41FA5}">
                      <a16:colId xmlns:a16="http://schemas.microsoft.com/office/drawing/2014/main" val="20000"/>
                    </a:ext>
                  </a:extLst>
                </a:gridCol>
                <a:gridCol w="5671425">
                  <a:extLst>
                    <a:ext uri="{9D8B030D-6E8A-4147-A177-3AD203B41FA5}">
                      <a16:colId xmlns:a16="http://schemas.microsoft.com/office/drawing/2014/main" val="20001"/>
                    </a:ext>
                  </a:extLst>
                </a:gridCol>
              </a:tblGrid>
              <a:tr h="5098875">
                <a:tc>
                  <a:txBody>
                    <a:bodyPr/>
                    <a:lstStyle/>
                    <a:p>
                      <a:pPr marL="0" marR="0" lvl="0" indent="0" algn="l" rtl="0">
                        <a:spcBef>
                          <a:spcPts val="0"/>
                        </a:spcBef>
                        <a:spcAft>
                          <a:spcPts val="0"/>
                        </a:spcAft>
                        <a:buClr>
                          <a:schemeClr val="dk1"/>
                        </a:buClr>
                        <a:buSzPts val="1600"/>
                        <a:buFont typeface="Cambria"/>
                        <a:buNone/>
                      </a:pPr>
                      <a:r>
                        <a:rPr lang="en-US" sz="1600" b="1" u="none">
                          <a:solidFill>
                            <a:schemeClr val="dk1"/>
                          </a:solidFill>
                          <a:latin typeface="Cambria"/>
                          <a:ea typeface="Cambria"/>
                          <a:cs typeface="Cambria"/>
                          <a:sym typeface="Cambria"/>
                        </a:rPr>
                        <a:t>1. Organizarea, coordonarea și efectuarea analizei de due diligence juridic asupra documentelor puse la dispoziția noastră</a:t>
                      </a:r>
                      <a:endParaRPr/>
                    </a:p>
                    <a:p>
                      <a:pPr marL="0" marR="0" lvl="0" indent="0" algn="l" rtl="0">
                        <a:spcBef>
                          <a:spcPts val="0"/>
                        </a:spcBef>
                        <a:spcAft>
                          <a:spcPts val="0"/>
                        </a:spcAft>
                        <a:buClr>
                          <a:schemeClr val="dk1"/>
                        </a:buClr>
                        <a:buSzPts val="1600"/>
                        <a:buFont typeface="Calibri"/>
                        <a:buNone/>
                      </a:pPr>
                      <a:endParaRPr sz="1600" b="0" u="sng">
                        <a:solidFill>
                          <a:schemeClr val="dk1"/>
                        </a:solidFill>
                        <a:latin typeface="Cambria"/>
                        <a:ea typeface="Cambria"/>
                        <a:cs typeface="Cambria"/>
                        <a:sym typeface="Cambria"/>
                      </a:endParaRPr>
                    </a:p>
                    <a:p>
                      <a:pPr marL="0" marR="0" lvl="0" indent="0" algn="l" rtl="0">
                        <a:spcBef>
                          <a:spcPts val="0"/>
                        </a:spcBef>
                        <a:spcAft>
                          <a:spcPts val="0"/>
                        </a:spcAft>
                        <a:buClr>
                          <a:schemeClr val="dk1"/>
                        </a:buClr>
                        <a:buSzPts val="1600"/>
                        <a:buFont typeface="Cambria"/>
                        <a:buNone/>
                      </a:pPr>
                      <a:r>
                        <a:rPr lang="en-US" sz="1600" b="0">
                          <a:solidFill>
                            <a:schemeClr val="dk1"/>
                          </a:solidFill>
                          <a:latin typeface="Cambria"/>
                          <a:ea typeface="Cambria"/>
                          <a:cs typeface="Cambria"/>
                          <a:sym typeface="Cambria"/>
                        </a:rPr>
                        <a:t>Analiza va include, fără a se limita la, următoarele domenii:</a:t>
                      </a:r>
                      <a:endParaRPr/>
                    </a:p>
                    <a:p>
                      <a:pPr marL="0" marR="0" lvl="0" indent="0" algn="l" rtl="0">
                        <a:spcBef>
                          <a:spcPts val="0"/>
                        </a:spcBef>
                        <a:spcAft>
                          <a:spcPts val="0"/>
                        </a:spcAft>
                        <a:buClr>
                          <a:schemeClr val="dk1"/>
                        </a:buClr>
                        <a:buSzPts val="1600"/>
                        <a:buFont typeface="Calibri"/>
                        <a:buNone/>
                      </a:pP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Aspecte corporative și de structură a capitalului (statut juridic, guvernanță corporativă, structura asociaților, restricții la transferul părților sociale, reorganizări anterioare);</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Drepturi asupra activelor, inclusiv terenuri, clădiri industriale, instalații de producție, silozuri, utilaje și alte active fixe</a:t>
                      </a:r>
                      <a:endParaRPr/>
                    </a:p>
                    <a:p>
                      <a:pPr marL="0" marR="0" lvl="0" indent="-101600" algn="l" rtl="0">
                        <a:lnSpc>
                          <a:spcPct val="100000"/>
                        </a:lnSpc>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Autorizații și conformitate regulatorie, inclusiv autorizații de producție, autorizații de mediu, avize sanitar-veterinare și fitosanitare, cerințe de siguranță alimentară și standarde tehnice aplicabile; Dreptul mediului, inclusiv obligații privind emisiile, gestionarea deșeurilor, utilizarea resurselor de apă, eventuale contaminări istorice și măsuri de remediere;</a:t>
                      </a:r>
                      <a:endParaRPr/>
                    </a:p>
                    <a:p>
                      <a:pPr marL="0" marR="0" lvl="0" indent="0" algn="l" rtl="0">
                        <a:spcBef>
                          <a:spcPts val="0"/>
                        </a:spcBef>
                        <a:spcAft>
                          <a:spcPts val="0"/>
                        </a:spcAft>
                        <a:buNone/>
                      </a:pPr>
                      <a:endParaRPr sz="1600" b="0">
                        <a:solidFill>
                          <a:schemeClr val="dk1"/>
                        </a:solidFill>
                      </a:endParaRPr>
                    </a:p>
                  </a:txBody>
                  <a:tcPr marL="91450" marR="91450" marT="45725" marB="45725"/>
                </a:tc>
                <a:tc>
                  <a:txBody>
                    <a:bodyPr/>
                    <a:lstStyle/>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Contracte de aprovizionare cu materii prime agricole, inclusiv contracte de livrare a sfeclei de zahăr, aranjamente pe termen lung și riscuri de dependență;</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Energie și utilități, inclusiv contracte de furnizare și particularități legate de consumul intensiv de energie</a:t>
                      </a:r>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Contracte comerciale semnificative, inclusiv contracte de vânzare, distribuție, logistică, depozitare, prestări de servicii și outsourcing;</a:t>
                      </a:r>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Finanțări și garanții, inclusiv contracte de credit, gajuri, ipoteci și eventuale scheme de sprijin sau subvenții;</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Dreptul muncii, inclusiv contracte colective, relații cu sindicatele, personal-cheie și riscuri sociale;</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Litigii și proceduri administrative, inclusiv controale, sancțiuni sau investigații în curs;</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Tehnologia informației, proprietate intelectuală și know-how, inclusiv mărci, licențe și tehnologii de producție;</a:t>
                      </a:r>
                      <a:endParaRPr sz="1600" b="0">
                        <a:solidFill>
                          <a:schemeClr val="dk1"/>
                        </a:solidFill>
                        <a:latin typeface="Cambria"/>
                        <a:ea typeface="Cambria"/>
                        <a:cs typeface="Cambria"/>
                        <a:sym typeface="Cambria"/>
                      </a:endParaRPr>
                    </a:p>
                    <a:p>
                      <a:pPr marL="0" marR="0" lvl="0" indent="-101600" algn="l" rtl="0">
                        <a:spcBef>
                          <a:spcPts val="0"/>
                        </a:spcBef>
                        <a:spcAft>
                          <a:spcPts val="0"/>
                        </a:spcAft>
                        <a:buClr>
                          <a:schemeClr val="dk1"/>
                        </a:buClr>
                        <a:buSzPts val="1600"/>
                        <a:buFont typeface="Noto Sans Symbols"/>
                        <a:buChar char="▪"/>
                      </a:pPr>
                      <a:r>
                        <a:rPr lang="en-US" sz="1600" b="0">
                          <a:solidFill>
                            <a:schemeClr val="dk1"/>
                          </a:solidFill>
                          <a:latin typeface="Cambria"/>
                          <a:ea typeface="Cambria"/>
                          <a:cs typeface="Cambria"/>
                          <a:sym typeface="Cambria"/>
                        </a:rPr>
                        <a:t>Aspecte de concurență, investiții străine și alte cerințe regulatorii, în măsura în care sunt aplicabile tranzacției.</a:t>
                      </a:r>
                      <a:endParaRPr/>
                    </a:p>
                    <a:p>
                      <a:pPr marL="0" marR="0" lvl="0" indent="0" algn="l" rtl="0">
                        <a:spcBef>
                          <a:spcPts val="0"/>
                        </a:spcBef>
                        <a:spcAft>
                          <a:spcPts val="0"/>
                        </a:spcAft>
                        <a:buNone/>
                      </a:pPr>
                      <a:endParaRPr sz="1600" b="0">
                        <a:solidFill>
                          <a:schemeClr val="dk1"/>
                        </a:solidFill>
                      </a:endParaRPr>
                    </a:p>
                  </a:txBody>
                  <a:tcPr marL="91450" marR="91450" marT="45725" marB="45725"/>
                </a:tc>
                <a:extLst>
                  <a:ext uri="{0D108BD9-81ED-4DB2-BD59-A6C34878D82A}">
                    <a16:rowId xmlns:a16="http://schemas.microsoft.com/office/drawing/2014/main" val="1000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t" anchorCtr="0">
            <a:normAutofit fontScale="94000"/>
          </a:bodyPr>
          <a:lstStyle/>
          <a:p>
            <a:pPr marL="0" lvl="0" indent="0" algn="just" rtl="0">
              <a:lnSpc>
                <a:spcPct val="90000"/>
              </a:lnSpc>
              <a:spcBef>
                <a:spcPts val="1095"/>
              </a:spcBef>
              <a:spcAft>
                <a:spcPts val="0"/>
              </a:spcAft>
              <a:buClr>
                <a:schemeClr val="dk1"/>
              </a:buClr>
              <a:buSzPct val="100000"/>
              <a:buNone/>
            </a:pPr>
            <a:endParaRPr lang="en-US" sz="2400" b="1" dirty="0">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2. </a:t>
            </a:r>
            <a:r>
              <a:rPr lang="en-US" sz="2400" b="1" dirty="0" err="1">
                <a:latin typeface="Cambria"/>
                <a:ea typeface="Cambria"/>
                <a:cs typeface="Cambria"/>
                <a:sym typeface="Cambria"/>
              </a:rPr>
              <a:t>Identificarea</a:t>
            </a:r>
            <a:r>
              <a:rPr lang="en-US" sz="2400" b="1" dirty="0">
                <a:latin typeface="Cambria"/>
                <a:ea typeface="Cambria"/>
                <a:cs typeface="Cambria"/>
                <a:sym typeface="Cambria"/>
              </a:rPr>
              <a:t> </a:t>
            </a:r>
            <a:r>
              <a:rPr lang="en-US" sz="2400" dirty="0" err="1">
                <a:latin typeface="Cambria"/>
                <a:ea typeface="Cambria"/>
                <a:cs typeface="Cambria"/>
                <a:sym typeface="Cambria"/>
              </a:rPr>
              <a:t>documentelor</a:t>
            </a:r>
            <a:r>
              <a:rPr lang="en-US" sz="2400" dirty="0">
                <a:latin typeface="Cambria"/>
                <a:ea typeface="Cambria"/>
                <a:cs typeface="Cambria"/>
                <a:sym typeface="Cambria"/>
              </a:rPr>
              <a:t> </a:t>
            </a:r>
            <a:r>
              <a:rPr lang="en-US" sz="2400" dirty="0" err="1">
                <a:latin typeface="Cambria"/>
                <a:ea typeface="Cambria"/>
                <a:cs typeface="Cambria"/>
                <a:sym typeface="Cambria"/>
              </a:rPr>
              <a:t>lipsă</a:t>
            </a:r>
            <a:r>
              <a:rPr lang="en-US" sz="2400" dirty="0">
                <a:latin typeface="Cambria"/>
                <a:ea typeface="Cambria"/>
                <a:cs typeface="Cambria"/>
                <a:sym typeface="Cambria"/>
              </a:rPr>
              <a:t>, </a:t>
            </a:r>
            <a:r>
              <a:rPr lang="en-US" sz="2400" dirty="0" err="1">
                <a:latin typeface="Cambria"/>
                <a:ea typeface="Cambria"/>
                <a:cs typeface="Cambria"/>
                <a:sym typeface="Cambria"/>
              </a:rPr>
              <a:t>formularea</a:t>
            </a:r>
            <a:r>
              <a:rPr lang="en-US" sz="2400" dirty="0">
                <a:latin typeface="Cambria"/>
                <a:ea typeface="Cambria"/>
                <a:cs typeface="Cambria"/>
                <a:sym typeface="Cambria"/>
              </a:rPr>
              <a:t> de </a:t>
            </a:r>
            <a:r>
              <a:rPr lang="en-US" sz="2400" dirty="0" err="1">
                <a:latin typeface="Cambria"/>
                <a:ea typeface="Cambria"/>
                <a:cs typeface="Cambria"/>
                <a:sym typeface="Cambria"/>
              </a:rPr>
              <a:t>solicitări</a:t>
            </a:r>
            <a:r>
              <a:rPr lang="en-US" sz="2400" dirty="0">
                <a:latin typeface="Cambria"/>
                <a:ea typeface="Cambria"/>
                <a:cs typeface="Cambria"/>
                <a:sym typeface="Cambria"/>
              </a:rPr>
              <a:t> </a:t>
            </a:r>
            <a:r>
              <a:rPr lang="en-US" sz="2400" dirty="0" err="1">
                <a:latin typeface="Cambria"/>
                <a:ea typeface="Cambria"/>
                <a:cs typeface="Cambria"/>
                <a:sym typeface="Cambria"/>
              </a:rPr>
              <a:t>suplimentare</a:t>
            </a:r>
            <a:r>
              <a:rPr lang="en-US" sz="2400" dirty="0">
                <a:latin typeface="Cambria"/>
                <a:ea typeface="Cambria"/>
                <a:cs typeface="Cambria"/>
                <a:sym typeface="Cambria"/>
              </a:rPr>
              <a:t> de </a:t>
            </a:r>
            <a:r>
              <a:rPr lang="en-US" sz="2400" dirty="0" err="1">
                <a:latin typeface="Cambria"/>
                <a:ea typeface="Cambria"/>
                <a:cs typeface="Cambria"/>
                <a:sym typeface="Cambria"/>
              </a:rPr>
              <a:t>informații</a:t>
            </a:r>
            <a:r>
              <a:rPr lang="en-US" sz="2400" dirty="0">
                <a:latin typeface="Cambria"/>
                <a:ea typeface="Cambria"/>
                <a:cs typeface="Cambria"/>
                <a:sym typeface="Cambria"/>
              </a:rPr>
              <a:t> </a:t>
            </a:r>
            <a:r>
              <a:rPr lang="en-US" sz="2400" dirty="0" err="1">
                <a:latin typeface="Cambria"/>
                <a:ea typeface="Cambria"/>
                <a:cs typeface="Cambria"/>
                <a:sym typeface="Cambria"/>
              </a:rPr>
              <a:t>și</a:t>
            </a:r>
            <a:r>
              <a:rPr lang="en-US" sz="2400" dirty="0">
                <a:latin typeface="Cambria"/>
                <a:ea typeface="Cambria"/>
                <a:cs typeface="Cambria"/>
                <a:sym typeface="Cambria"/>
              </a:rPr>
              <a:t> </a:t>
            </a:r>
            <a:r>
              <a:rPr lang="en-US" sz="2400" dirty="0" err="1">
                <a:latin typeface="Cambria"/>
                <a:ea typeface="Cambria"/>
                <a:cs typeface="Cambria"/>
                <a:sym typeface="Cambria"/>
              </a:rPr>
              <a:t>desfășurarea</a:t>
            </a:r>
            <a:r>
              <a:rPr lang="en-US" sz="2400" dirty="0">
                <a:latin typeface="Cambria"/>
                <a:ea typeface="Cambria"/>
                <a:cs typeface="Cambria"/>
                <a:sym typeface="Cambria"/>
              </a:rPr>
              <a:t>, </a:t>
            </a:r>
            <a:r>
              <a:rPr lang="en-US" sz="2400" dirty="0" err="1">
                <a:latin typeface="Cambria"/>
                <a:ea typeface="Cambria"/>
                <a:cs typeface="Cambria"/>
                <a:sym typeface="Cambria"/>
              </a:rPr>
              <a:t>după</a:t>
            </a:r>
            <a:r>
              <a:rPr lang="en-US" sz="2400" dirty="0">
                <a:latin typeface="Cambria"/>
                <a:ea typeface="Cambria"/>
                <a:cs typeface="Cambria"/>
                <a:sym typeface="Cambria"/>
              </a:rPr>
              <a:t> </a:t>
            </a:r>
            <a:r>
              <a:rPr lang="en-US" sz="2400" dirty="0" err="1">
                <a:latin typeface="Cambria"/>
                <a:ea typeface="Cambria"/>
                <a:cs typeface="Cambria"/>
                <a:sym typeface="Cambria"/>
              </a:rPr>
              <a:t>caz</a:t>
            </a:r>
            <a:r>
              <a:rPr lang="en-US" sz="2400" dirty="0">
                <a:latin typeface="Cambria"/>
                <a:ea typeface="Cambria"/>
                <a:cs typeface="Cambria"/>
                <a:sym typeface="Cambria"/>
              </a:rPr>
              <a:t>, a </a:t>
            </a:r>
            <a:r>
              <a:rPr lang="en-US" sz="2400" dirty="0" err="1">
                <a:latin typeface="Cambria"/>
                <a:ea typeface="Cambria"/>
                <a:cs typeface="Cambria"/>
                <a:sym typeface="Cambria"/>
              </a:rPr>
              <a:t>sesiunilor</a:t>
            </a:r>
            <a:r>
              <a:rPr lang="en-US" sz="2400" dirty="0">
                <a:latin typeface="Cambria"/>
                <a:ea typeface="Cambria"/>
                <a:cs typeface="Cambria"/>
                <a:sym typeface="Cambria"/>
              </a:rPr>
              <a:t> de </a:t>
            </a:r>
            <a:r>
              <a:rPr lang="en-US" sz="2400" dirty="0" err="1">
                <a:latin typeface="Cambria"/>
                <a:ea typeface="Cambria"/>
                <a:cs typeface="Cambria"/>
                <a:sym typeface="Cambria"/>
              </a:rPr>
              <a:t>clarificare</a:t>
            </a:r>
            <a:r>
              <a:rPr lang="en-US" sz="2400" dirty="0">
                <a:latin typeface="Cambria"/>
                <a:ea typeface="Cambria"/>
                <a:cs typeface="Cambria"/>
                <a:sym typeface="Cambria"/>
              </a:rPr>
              <a:t> </a:t>
            </a:r>
            <a:r>
              <a:rPr lang="en-US" sz="2400" dirty="0" err="1">
                <a:latin typeface="Cambria"/>
                <a:ea typeface="Cambria"/>
                <a:cs typeface="Cambria"/>
                <a:sym typeface="Cambria"/>
              </a:rPr>
              <a:t>scrise</a:t>
            </a:r>
            <a:r>
              <a:rPr lang="en-US" sz="2400" dirty="0">
                <a:latin typeface="Cambria"/>
                <a:ea typeface="Cambria"/>
                <a:cs typeface="Cambria"/>
                <a:sym typeface="Cambria"/>
              </a:rPr>
              <a:t> </a:t>
            </a:r>
            <a:r>
              <a:rPr lang="en-US" sz="2400" dirty="0" err="1">
                <a:latin typeface="Cambria"/>
                <a:ea typeface="Cambria"/>
                <a:cs typeface="Cambria"/>
                <a:sym typeface="Cambria"/>
              </a:rPr>
              <a:t>sau</a:t>
            </a:r>
            <a:r>
              <a:rPr lang="en-US" sz="2400" dirty="0">
                <a:latin typeface="Cambria"/>
                <a:ea typeface="Cambria"/>
                <a:cs typeface="Cambria"/>
                <a:sym typeface="Cambria"/>
              </a:rPr>
              <a:t> </a:t>
            </a:r>
            <a:r>
              <a:rPr lang="en-US" sz="2400" dirty="0" err="1">
                <a:latin typeface="Cambria"/>
                <a:ea typeface="Cambria"/>
                <a:cs typeface="Cambria"/>
                <a:sym typeface="Cambria"/>
              </a:rPr>
              <a:t>orale</a:t>
            </a:r>
            <a:r>
              <a:rPr lang="en-US" sz="2400" dirty="0">
                <a:latin typeface="Cambria"/>
                <a:ea typeface="Cambria"/>
                <a:cs typeface="Cambria"/>
                <a:sym typeface="Cambria"/>
              </a:rPr>
              <a:t>. </a:t>
            </a:r>
            <a:endParaRPr sz="2400" dirty="0">
              <a:latin typeface="Cambria"/>
              <a:ea typeface="Cambria"/>
              <a:cs typeface="Cambria"/>
              <a:sym typeface="Cambria"/>
            </a:endParaRPr>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3. </a:t>
            </a:r>
            <a:r>
              <a:rPr lang="en-US" sz="2400" b="1" dirty="0" err="1">
                <a:latin typeface="Cambria"/>
                <a:ea typeface="Cambria"/>
                <a:cs typeface="Cambria"/>
                <a:sym typeface="Cambria"/>
              </a:rPr>
              <a:t>Elaborarea</a:t>
            </a:r>
            <a:r>
              <a:rPr lang="en-US" sz="2400" b="1" dirty="0">
                <a:latin typeface="Cambria"/>
                <a:ea typeface="Cambria"/>
                <a:cs typeface="Cambria"/>
                <a:sym typeface="Cambria"/>
              </a:rPr>
              <a:t> </a:t>
            </a:r>
            <a:r>
              <a:rPr lang="en-US" sz="2400" dirty="0" err="1">
                <a:latin typeface="Cambria"/>
                <a:ea typeface="Cambria"/>
                <a:cs typeface="Cambria"/>
                <a:sym typeface="Cambria"/>
              </a:rPr>
              <a:t>și</a:t>
            </a:r>
            <a:r>
              <a:rPr lang="en-US" sz="2400" dirty="0">
                <a:latin typeface="Cambria"/>
                <a:ea typeface="Cambria"/>
                <a:cs typeface="Cambria"/>
                <a:sym typeface="Cambria"/>
              </a:rPr>
              <a:t> </a:t>
            </a:r>
            <a:r>
              <a:rPr lang="en-US" sz="2400" dirty="0" err="1">
                <a:latin typeface="Cambria"/>
                <a:ea typeface="Cambria"/>
                <a:cs typeface="Cambria"/>
                <a:sym typeface="Cambria"/>
              </a:rPr>
              <a:t>actualizarea</a:t>
            </a:r>
            <a:r>
              <a:rPr lang="en-US" sz="2400" dirty="0">
                <a:latin typeface="Cambria"/>
                <a:ea typeface="Cambria"/>
                <a:cs typeface="Cambria"/>
                <a:sym typeface="Cambria"/>
              </a:rPr>
              <a:t> </a:t>
            </a:r>
            <a:r>
              <a:rPr lang="en-US" sz="2400" dirty="0" err="1">
                <a:latin typeface="Cambria"/>
                <a:ea typeface="Cambria"/>
                <a:cs typeface="Cambria"/>
                <a:sym typeface="Cambria"/>
              </a:rPr>
              <a:t>periodică</a:t>
            </a:r>
            <a:r>
              <a:rPr lang="en-US" sz="2400" dirty="0">
                <a:latin typeface="Cambria"/>
                <a:ea typeface="Cambria"/>
                <a:cs typeface="Cambria"/>
                <a:sym typeface="Cambria"/>
              </a:rPr>
              <a:t> a </a:t>
            </a:r>
            <a:r>
              <a:rPr lang="en-US" sz="2400" dirty="0" err="1">
                <a:latin typeface="Cambria"/>
                <a:ea typeface="Cambria"/>
                <a:cs typeface="Cambria"/>
                <a:sym typeface="Cambria"/>
              </a:rPr>
              <a:t>unui</a:t>
            </a:r>
            <a:r>
              <a:rPr lang="en-US" sz="2400" dirty="0">
                <a:latin typeface="Cambria"/>
                <a:ea typeface="Cambria"/>
                <a:cs typeface="Cambria"/>
                <a:sym typeface="Cambria"/>
              </a:rPr>
              <a:t> </a:t>
            </a:r>
            <a:r>
              <a:rPr lang="en-US" sz="2400" dirty="0" err="1">
                <a:latin typeface="Cambria"/>
                <a:ea typeface="Cambria"/>
                <a:cs typeface="Cambria"/>
                <a:sym typeface="Cambria"/>
              </a:rPr>
              <a:t>raport</a:t>
            </a:r>
            <a:r>
              <a:rPr lang="en-US" sz="2400" dirty="0">
                <a:latin typeface="Cambria"/>
                <a:ea typeface="Cambria"/>
                <a:cs typeface="Cambria"/>
                <a:sym typeface="Cambria"/>
              </a:rPr>
              <a:t> de due diligence juridic de tip „red flags”, care </a:t>
            </a:r>
            <a:r>
              <a:rPr lang="en-US" sz="2400" dirty="0" err="1">
                <a:latin typeface="Cambria"/>
                <a:ea typeface="Cambria"/>
                <a:cs typeface="Cambria"/>
                <a:sym typeface="Cambria"/>
              </a:rPr>
              <a:t>va</a:t>
            </a:r>
            <a:r>
              <a:rPr lang="en-US" sz="2400" dirty="0">
                <a:latin typeface="Cambria"/>
                <a:ea typeface="Cambria"/>
                <a:cs typeface="Cambria"/>
                <a:sym typeface="Cambria"/>
              </a:rPr>
              <a:t> include:</a:t>
            </a:r>
            <a:endParaRPr sz="2400" dirty="0">
              <a:latin typeface="Cambria"/>
              <a:ea typeface="Cambria"/>
              <a:cs typeface="Cambria"/>
              <a:sym typeface="Cambria"/>
            </a:endParaRPr>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a:latin typeface="Cambria"/>
                <a:ea typeface="Cambria"/>
                <a:cs typeface="Cambria"/>
                <a:sym typeface="Cambria"/>
              </a:rPr>
              <a:t>un </a:t>
            </a:r>
            <a:r>
              <a:rPr lang="en-US" sz="2400" dirty="0" err="1">
                <a:latin typeface="Cambria"/>
                <a:ea typeface="Cambria"/>
                <a:cs typeface="Cambria"/>
                <a:sym typeface="Cambria"/>
              </a:rPr>
              <a:t>rezumat</a:t>
            </a:r>
            <a:r>
              <a:rPr lang="en-US" sz="2400" dirty="0">
                <a:latin typeface="Cambria"/>
                <a:ea typeface="Cambria"/>
                <a:cs typeface="Cambria"/>
                <a:sym typeface="Cambria"/>
              </a:rPr>
              <a:t> </a:t>
            </a:r>
            <a:r>
              <a:rPr lang="en-US" sz="2400" dirty="0" err="1">
                <a:latin typeface="Cambria"/>
                <a:ea typeface="Cambria"/>
                <a:cs typeface="Cambria"/>
                <a:sym typeface="Cambria"/>
              </a:rPr>
              <a:t>executiv</a:t>
            </a:r>
            <a:r>
              <a:rPr lang="en-US" sz="2400" dirty="0">
                <a:latin typeface="Cambria"/>
                <a:ea typeface="Cambria"/>
                <a:cs typeface="Cambria"/>
                <a:sym typeface="Cambria"/>
              </a:rPr>
              <a:t> al </a:t>
            </a:r>
            <a:r>
              <a:rPr lang="en-US" sz="2400" dirty="0" err="1">
                <a:latin typeface="Cambria"/>
                <a:ea typeface="Cambria"/>
                <a:cs typeface="Cambria"/>
                <a:sym typeface="Cambria"/>
              </a:rPr>
              <a:t>principalelor</a:t>
            </a:r>
            <a:r>
              <a:rPr lang="en-US" sz="2400" dirty="0">
                <a:latin typeface="Cambria"/>
                <a:ea typeface="Cambria"/>
                <a:cs typeface="Cambria"/>
                <a:sym typeface="Cambria"/>
              </a:rPr>
              <a:t> </a:t>
            </a:r>
            <a:r>
              <a:rPr lang="en-US" sz="2400" dirty="0" err="1">
                <a:latin typeface="Cambria"/>
                <a:ea typeface="Cambria"/>
                <a:cs typeface="Cambria"/>
                <a:sym typeface="Cambria"/>
              </a:rPr>
              <a:t>constatări</a:t>
            </a:r>
            <a:r>
              <a:rPr lang="en-US" sz="2400" dirty="0">
                <a:latin typeface="Cambria"/>
                <a:ea typeface="Cambria"/>
                <a:cs typeface="Cambria"/>
                <a:sym typeface="Cambria"/>
              </a:rPr>
              <a:t>;</a:t>
            </a:r>
            <a:endParaRPr sz="2400" dirty="0"/>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a:latin typeface="Cambria"/>
                <a:ea typeface="Cambria"/>
                <a:cs typeface="Cambria"/>
                <a:sym typeface="Cambria"/>
              </a:rPr>
              <a:t>o </a:t>
            </a:r>
            <a:r>
              <a:rPr lang="en-US" sz="2400" dirty="0" err="1">
                <a:latin typeface="Cambria"/>
                <a:ea typeface="Cambria"/>
                <a:cs typeface="Cambria"/>
                <a:sym typeface="Cambria"/>
              </a:rPr>
              <a:t>listă</a:t>
            </a:r>
            <a:r>
              <a:rPr lang="en-US" sz="2400" dirty="0">
                <a:latin typeface="Cambria"/>
                <a:ea typeface="Cambria"/>
                <a:cs typeface="Cambria"/>
                <a:sym typeface="Cambria"/>
              </a:rPr>
              <a:t> a </a:t>
            </a:r>
            <a:r>
              <a:rPr lang="en-US" sz="2400" dirty="0" err="1">
                <a:latin typeface="Cambria"/>
                <a:ea typeface="Cambria"/>
                <a:cs typeface="Cambria"/>
                <a:sym typeface="Cambria"/>
              </a:rPr>
              <a:t>riscurilor</a:t>
            </a:r>
            <a:r>
              <a:rPr lang="en-US" sz="2400" dirty="0">
                <a:latin typeface="Cambria"/>
                <a:ea typeface="Cambria"/>
                <a:cs typeface="Cambria"/>
                <a:sym typeface="Cambria"/>
              </a:rPr>
              <a:t> </a:t>
            </a:r>
            <a:r>
              <a:rPr lang="en-US" sz="2400" dirty="0" err="1">
                <a:latin typeface="Cambria"/>
                <a:ea typeface="Cambria"/>
                <a:cs typeface="Cambria"/>
                <a:sym typeface="Cambria"/>
              </a:rPr>
              <a:t>esențiale</a:t>
            </a:r>
            <a:r>
              <a:rPr lang="en-US" sz="2400" dirty="0">
                <a:latin typeface="Cambria"/>
                <a:ea typeface="Cambria"/>
                <a:cs typeface="Cambria"/>
                <a:sym typeface="Cambria"/>
              </a:rPr>
              <a:t>, cu </a:t>
            </a:r>
            <a:r>
              <a:rPr lang="en-US" sz="2400" dirty="0" err="1">
                <a:latin typeface="Cambria"/>
                <a:ea typeface="Cambria"/>
                <a:cs typeface="Cambria"/>
                <a:sym typeface="Cambria"/>
              </a:rPr>
              <a:t>recomandări</a:t>
            </a:r>
            <a:r>
              <a:rPr lang="en-US" sz="2400" dirty="0">
                <a:latin typeface="Cambria"/>
                <a:ea typeface="Cambria"/>
                <a:cs typeface="Cambria"/>
                <a:sym typeface="Cambria"/>
              </a:rPr>
              <a:t> </a:t>
            </a:r>
            <a:r>
              <a:rPr lang="en-US" sz="2400" dirty="0" err="1">
                <a:latin typeface="Cambria"/>
                <a:ea typeface="Cambria"/>
                <a:cs typeface="Cambria"/>
                <a:sym typeface="Cambria"/>
              </a:rPr>
              <a:t>privind</a:t>
            </a:r>
            <a:r>
              <a:rPr lang="en-US" sz="2400" dirty="0">
                <a:latin typeface="Cambria"/>
                <a:ea typeface="Cambria"/>
                <a:cs typeface="Cambria"/>
                <a:sym typeface="Cambria"/>
              </a:rPr>
              <a:t> </a:t>
            </a:r>
            <a:r>
              <a:rPr lang="en-US" sz="2400" dirty="0" err="1">
                <a:latin typeface="Cambria"/>
                <a:ea typeface="Cambria"/>
                <a:cs typeface="Cambria"/>
                <a:sym typeface="Cambria"/>
              </a:rPr>
              <a:t>eliminarea</a:t>
            </a:r>
            <a:r>
              <a:rPr lang="en-US" sz="2400" dirty="0">
                <a:latin typeface="Cambria"/>
                <a:ea typeface="Cambria"/>
                <a:cs typeface="Cambria"/>
                <a:sym typeface="Cambria"/>
              </a:rPr>
              <a:t>, </a:t>
            </a:r>
            <a:r>
              <a:rPr lang="en-US" sz="2400" dirty="0" err="1">
                <a:latin typeface="Cambria"/>
                <a:ea typeface="Cambria"/>
                <a:cs typeface="Cambria"/>
                <a:sym typeface="Cambria"/>
              </a:rPr>
              <a:t>limitarea</a:t>
            </a:r>
            <a:r>
              <a:rPr lang="en-US" sz="2400" dirty="0">
                <a:latin typeface="Cambria"/>
                <a:ea typeface="Cambria"/>
                <a:cs typeface="Cambria"/>
                <a:sym typeface="Cambria"/>
              </a:rPr>
              <a:t> </a:t>
            </a:r>
            <a:r>
              <a:rPr lang="en-US" sz="2400" dirty="0" err="1">
                <a:latin typeface="Cambria"/>
                <a:ea typeface="Cambria"/>
                <a:cs typeface="Cambria"/>
                <a:sym typeface="Cambria"/>
              </a:rPr>
              <a:t>sau</a:t>
            </a:r>
            <a:r>
              <a:rPr lang="en-US" sz="2400" dirty="0">
                <a:latin typeface="Cambria"/>
                <a:ea typeface="Cambria"/>
                <a:cs typeface="Cambria"/>
                <a:sym typeface="Cambria"/>
              </a:rPr>
              <a:t> </a:t>
            </a:r>
            <a:r>
              <a:rPr lang="en-US" sz="2400" dirty="0" err="1">
                <a:latin typeface="Cambria"/>
                <a:ea typeface="Cambria"/>
                <a:cs typeface="Cambria"/>
                <a:sym typeface="Cambria"/>
              </a:rPr>
              <a:t>reflectarea</a:t>
            </a:r>
            <a:r>
              <a:rPr lang="en-US" sz="2400" dirty="0">
                <a:latin typeface="Cambria"/>
                <a:ea typeface="Cambria"/>
                <a:cs typeface="Cambria"/>
                <a:sym typeface="Cambria"/>
              </a:rPr>
              <a:t> </a:t>
            </a:r>
            <a:r>
              <a:rPr lang="en-US" sz="2400" dirty="0" err="1">
                <a:latin typeface="Cambria"/>
                <a:ea typeface="Cambria"/>
                <a:cs typeface="Cambria"/>
                <a:sym typeface="Cambria"/>
              </a:rPr>
              <a:t>acestora</a:t>
            </a:r>
            <a:r>
              <a:rPr lang="en-US" sz="2400" dirty="0">
                <a:latin typeface="Cambria"/>
                <a:ea typeface="Cambria"/>
                <a:cs typeface="Cambria"/>
                <a:sym typeface="Cambria"/>
              </a:rPr>
              <a:t> </a:t>
            </a:r>
            <a:r>
              <a:rPr lang="en-US" sz="2400" dirty="0" err="1">
                <a:latin typeface="Cambria"/>
                <a:ea typeface="Cambria"/>
                <a:cs typeface="Cambria"/>
                <a:sym typeface="Cambria"/>
              </a:rPr>
              <a:t>în</a:t>
            </a:r>
            <a:r>
              <a:rPr lang="en-US" sz="2400" dirty="0">
                <a:latin typeface="Cambria"/>
                <a:ea typeface="Cambria"/>
                <a:cs typeface="Cambria"/>
                <a:sym typeface="Cambria"/>
              </a:rPr>
              <a:t> </a:t>
            </a:r>
            <a:r>
              <a:rPr lang="en-US" sz="2400" dirty="0" err="1">
                <a:latin typeface="Cambria"/>
                <a:ea typeface="Cambria"/>
                <a:cs typeface="Cambria"/>
                <a:sym typeface="Cambria"/>
              </a:rPr>
              <a:t>documentația</a:t>
            </a:r>
            <a:r>
              <a:rPr lang="en-US" sz="2400" dirty="0">
                <a:latin typeface="Cambria"/>
                <a:ea typeface="Cambria"/>
                <a:cs typeface="Cambria"/>
                <a:sym typeface="Cambria"/>
              </a:rPr>
              <a:t> </a:t>
            </a:r>
            <a:r>
              <a:rPr lang="en-US" sz="2400" dirty="0" err="1">
                <a:latin typeface="Cambria"/>
                <a:ea typeface="Cambria"/>
                <a:cs typeface="Cambria"/>
                <a:sym typeface="Cambria"/>
              </a:rPr>
              <a:t>tranzacției</a:t>
            </a:r>
            <a:r>
              <a:rPr lang="en-US" sz="2400" dirty="0">
                <a:latin typeface="Cambria"/>
                <a:ea typeface="Cambria"/>
                <a:cs typeface="Cambria"/>
                <a:sym typeface="Cambria"/>
              </a:rPr>
              <a:t>;</a:t>
            </a:r>
            <a:endParaRPr sz="2400" dirty="0"/>
          </a:p>
          <a:p>
            <a:pPr marL="750608" lvl="1" indent="-250203" algn="just" rtl="0">
              <a:lnSpc>
                <a:spcPct val="90000"/>
              </a:lnSpc>
              <a:spcBef>
                <a:spcPts val="547"/>
              </a:spcBef>
              <a:spcAft>
                <a:spcPts val="0"/>
              </a:spcAft>
              <a:buClr>
                <a:schemeClr val="dk1"/>
              </a:buClr>
              <a:buSzPct val="100000"/>
              <a:buFont typeface="Noto Sans Symbols"/>
              <a:buChar char="▪"/>
            </a:pPr>
            <a:r>
              <a:rPr lang="en-US" sz="2400" dirty="0" err="1">
                <a:latin typeface="Cambria"/>
                <a:ea typeface="Cambria"/>
                <a:cs typeface="Cambria"/>
                <a:sym typeface="Cambria"/>
              </a:rPr>
              <a:t>raportul</a:t>
            </a:r>
            <a:r>
              <a:rPr lang="en-US" sz="2400" dirty="0">
                <a:latin typeface="Cambria"/>
                <a:ea typeface="Cambria"/>
                <a:cs typeface="Cambria"/>
                <a:sym typeface="Cambria"/>
              </a:rPr>
              <a:t> principal </a:t>
            </a:r>
            <a:r>
              <a:rPr lang="en-US" sz="2400" dirty="0" err="1">
                <a:latin typeface="Cambria"/>
                <a:ea typeface="Cambria"/>
                <a:cs typeface="Cambria"/>
                <a:sym typeface="Cambria"/>
              </a:rPr>
              <a:t>și</a:t>
            </a:r>
            <a:r>
              <a:rPr lang="en-US" sz="2400" dirty="0">
                <a:latin typeface="Cambria"/>
                <a:ea typeface="Cambria"/>
                <a:cs typeface="Cambria"/>
                <a:sym typeface="Cambria"/>
              </a:rPr>
              <a:t> </a:t>
            </a:r>
            <a:r>
              <a:rPr lang="en-US" sz="2400" dirty="0" err="1">
                <a:latin typeface="Cambria"/>
                <a:ea typeface="Cambria"/>
                <a:cs typeface="Cambria"/>
                <a:sym typeface="Cambria"/>
              </a:rPr>
              <a:t>anexele</a:t>
            </a:r>
            <a:r>
              <a:rPr lang="en-US" sz="2400" dirty="0">
                <a:latin typeface="Cambria"/>
                <a:ea typeface="Cambria"/>
                <a:cs typeface="Cambria"/>
                <a:sym typeface="Cambria"/>
              </a:rPr>
              <a:t> </a:t>
            </a:r>
            <a:r>
              <a:rPr lang="en-US" sz="2400" dirty="0" err="1">
                <a:latin typeface="Cambria"/>
                <a:ea typeface="Cambria"/>
                <a:cs typeface="Cambria"/>
                <a:sym typeface="Cambria"/>
              </a:rPr>
              <a:t>aferente</a:t>
            </a:r>
            <a:r>
              <a:rPr lang="en-US" sz="2400" dirty="0">
                <a:latin typeface="Cambria"/>
                <a:ea typeface="Cambria"/>
                <a:cs typeface="Cambria"/>
                <a:sym typeface="Cambria"/>
              </a:rPr>
              <a:t>, </a:t>
            </a:r>
            <a:r>
              <a:rPr lang="en-US" sz="2400" dirty="0" err="1">
                <a:latin typeface="Cambria"/>
                <a:ea typeface="Cambria"/>
                <a:cs typeface="Cambria"/>
                <a:sym typeface="Cambria"/>
              </a:rPr>
              <a:t>dacă</a:t>
            </a:r>
            <a:r>
              <a:rPr lang="en-US" sz="2400" dirty="0">
                <a:latin typeface="Cambria"/>
                <a:ea typeface="Cambria"/>
                <a:cs typeface="Cambria"/>
                <a:sym typeface="Cambria"/>
              </a:rPr>
              <a:t> </a:t>
            </a:r>
            <a:r>
              <a:rPr lang="en-US" sz="2400" dirty="0" err="1">
                <a:latin typeface="Cambria"/>
                <a:ea typeface="Cambria"/>
                <a:cs typeface="Cambria"/>
                <a:sym typeface="Cambria"/>
              </a:rPr>
              <a:t>este</a:t>
            </a:r>
            <a:r>
              <a:rPr lang="en-US" sz="2400" dirty="0">
                <a:latin typeface="Cambria"/>
                <a:ea typeface="Cambria"/>
                <a:cs typeface="Cambria"/>
                <a:sym typeface="Cambria"/>
              </a:rPr>
              <a:t> </a:t>
            </a:r>
            <a:r>
              <a:rPr lang="en-US" sz="2400" dirty="0" err="1">
                <a:latin typeface="Cambria"/>
                <a:ea typeface="Cambria"/>
                <a:cs typeface="Cambria"/>
                <a:sym typeface="Cambria"/>
              </a:rPr>
              <a:t>cazul</a:t>
            </a:r>
            <a:r>
              <a:rPr lang="en-US" sz="2400" dirty="0">
                <a:latin typeface="Cambria"/>
                <a:ea typeface="Cambria"/>
                <a:cs typeface="Cambria"/>
                <a:sym typeface="Cambria"/>
              </a:rPr>
              <a:t>. </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4. </a:t>
            </a:r>
            <a:r>
              <a:rPr lang="en-US" sz="2400" b="1" dirty="0" err="1">
                <a:latin typeface="Cambria"/>
                <a:ea typeface="Cambria"/>
                <a:cs typeface="Cambria"/>
                <a:sym typeface="Cambria"/>
              </a:rPr>
              <a:t>Participarea</a:t>
            </a:r>
            <a:r>
              <a:rPr lang="en-US" sz="2400" dirty="0">
                <a:latin typeface="Cambria"/>
                <a:ea typeface="Cambria"/>
                <a:cs typeface="Cambria"/>
                <a:sym typeface="Cambria"/>
              </a:rPr>
              <a:t> la </a:t>
            </a:r>
            <a:r>
              <a:rPr lang="en-US" sz="2400" dirty="0" err="1">
                <a:latin typeface="Cambria"/>
                <a:ea typeface="Cambria"/>
                <a:cs typeface="Cambria"/>
                <a:sym typeface="Cambria"/>
              </a:rPr>
              <a:t>întâlniri</a:t>
            </a:r>
            <a:r>
              <a:rPr lang="en-US" sz="2400" dirty="0">
                <a:latin typeface="Cambria"/>
                <a:ea typeface="Cambria"/>
                <a:cs typeface="Cambria"/>
                <a:sym typeface="Cambria"/>
              </a:rPr>
              <a:t> cu </a:t>
            </a:r>
            <a:r>
              <a:rPr lang="en-US" sz="2400" dirty="0" err="1">
                <a:latin typeface="Cambria"/>
                <a:ea typeface="Cambria"/>
                <a:cs typeface="Cambria"/>
                <a:sym typeface="Cambria"/>
              </a:rPr>
              <a:t>managementul</a:t>
            </a:r>
            <a:r>
              <a:rPr lang="en-US" sz="2400" dirty="0">
                <a:latin typeface="Cambria"/>
                <a:ea typeface="Cambria"/>
                <a:cs typeface="Cambria"/>
                <a:sym typeface="Cambria"/>
              </a:rPr>
              <a:t> </a:t>
            </a:r>
            <a:r>
              <a:rPr lang="en-US" sz="2400" dirty="0" err="1">
                <a:latin typeface="Cambria"/>
                <a:ea typeface="Cambria"/>
                <a:cs typeface="Cambria"/>
                <a:sym typeface="Cambria"/>
              </a:rPr>
              <a:t>Societății-țintă</a:t>
            </a:r>
            <a:r>
              <a:rPr lang="en-US" sz="2400" dirty="0">
                <a:latin typeface="Cambria"/>
                <a:ea typeface="Cambria"/>
                <a:cs typeface="Cambria"/>
                <a:sym typeface="Cambria"/>
              </a:rPr>
              <a:t> </a:t>
            </a:r>
            <a:r>
              <a:rPr lang="en-US" sz="2400" dirty="0" err="1">
                <a:latin typeface="Cambria"/>
                <a:ea typeface="Cambria"/>
                <a:cs typeface="Cambria"/>
                <a:sym typeface="Cambria"/>
              </a:rPr>
              <a:t>și</a:t>
            </a:r>
            <a:r>
              <a:rPr lang="en-US" sz="2400" dirty="0">
                <a:latin typeface="Cambria"/>
                <a:ea typeface="Cambria"/>
                <a:cs typeface="Cambria"/>
                <a:sym typeface="Cambria"/>
              </a:rPr>
              <a:t> cu </a:t>
            </a:r>
            <a:r>
              <a:rPr lang="en-US" sz="2400" dirty="0" err="1">
                <a:latin typeface="Cambria"/>
                <a:ea typeface="Cambria"/>
                <a:cs typeface="Cambria"/>
                <a:sym typeface="Cambria"/>
              </a:rPr>
              <a:t>alți</a:t>
            </a:r>
            <a:r>
              <a:rPr lang="en-US" sz="2400" dirty="0">
                <a:latin typeface="Cambria"/>
                <a:ea typeface="Cambria"/>
                <a:cs typeface="Cambria"/>
                <a:sym typeface="Cambria"/>
              </a:rPr>
              <a:t> </a:t>
            </a:r>
            <a:r>
              <a:rPr lang="en-US" sz="2400" dirty="0" err="1">
                <a:latin typeface="Cambria"/>
                <a:ea typeface="Cambria"/>
                <a:cs typeface="Cambria"/>
                <a:sym typeface="Cambria"/>
              </a:rPr>
              <a:t>experți</a:t>
            </a:r>
            <a:r>
              <a:rPr lang="en-US" sz="2400" dirty="0">
                <a:latin typeface="Cambria"/>
                <a:ea typeface="Cambria"/>
                <a:cs typeface="Cambria"/>
                <a:sym typeface="Cambria"/>
              </a:rPr>
              <a:t> </a:t>
            </a:r>
            <a:r>
              <a:rPr lang="en-US" sz="2400" dirty="0" err="1">
                <a:latin typeface="Cambria"/>
                <a:ea typeface="Cambria"/>
                <a:cs typeface="Cambria"/>
                <a:sym typeface="Cambria"/>
              </a:rPr>
              <a:t>relevanți</a:t>
            </a:r>
            <a:r>
              <a:rPr lang="en-US" sz="2400" dirty="0">
                <a:latin typeface="Cambria"/>
                <a:ea typeface="Cambria"/>
                <a:cs typeface="Cambria"/>
                <a:sym typeface="Cambria"/>
              </a:rPr>
              <a:t>, </a:t>
            </a:r>
            <a:r>
              <a:rPr lang="en-US" sz="2400" dirty="0" err="1">
                <a:latin typeface="Cambria"/>
                <a:ea typeface="Cambria"/>
                <a:cs typeface="Cambria"/>
                <a:sym typeface="Cambria"/>
              </a:rPr>
              <a:t>fizic</a:t>
            </a:r>
            <a:r>
              <a:rPr lang="en-US" sz="2400" dirty="0">
                <a:latin typeface="Cambria"/>
                <a:ea typeface="Cambria"/>
                <a:cs typeface="Cambria"/>
                <a:sym typeface="Cambria"/>
              </a:rPr>
              <a:t> </a:t>
            </a:r>
            <a:r>
              <a:rPr lang="en-US" sz="2400" dirty="0" err="1">
                <a:latin typeface="Cambria"/>
                <a:ea typeface="Cambria"/>
                <a:cs typeface="Cambria"/>
                <a:sym typeface="Cambria"/>
              </a:rPr>
              <a:t>sau</a:t>
            </a:r>
            <a:r>
              <a:rPr lang="en-US" sz="2400" dirty="0">
                <a:latin typeface="Cambria"/>
                <a:ea typeface="Cambria"/>
                <a:cs typeface="Cambria"/>
                <a:sym typeface="Cambria"/>
              </a:rPr>
              <a:t> </a:t>
            </a:r>
            <a:r>
              <a:rPr lang="en-US" sz="2400" dirty="0" err="1">
                <a:latin typeface="Cambria"/>
                <a:ea typeface="Cambria"/>
                <a:cs typeface="Cambria"/>
                <a:sym typeface="Cambria"/>
              </a:rPr>
              <a:t>prin</a:t>
            </a:r>
            <a:r>
              <a:rPr lang="en-US" sz="2400" dirty="0">
                <a:latin typeface="Cambria"/>
                <a:ea typeface="Cambria"/>
                <a:cs typeface="Cambria"/>
                <a:sym typeface="Cambria"/>
              </a:rPr>
              <a:t> </a:t>
            </a:r>
            <a:r>
              <a:rPr lang="en-US" sz="2400" dirty="0" err="1">
                <a:latin typeface="Cambria"/>
                <a:ea typeface="Cambria"/>
                <a:cs typeface="Cambria"/>
                <a:sym typeface="Cambria"/>
              </a:rPr>
              <a:t>mijloace</a:t>
            </a:r>
            <a:r>
              <a:rPr lang="en-US" sz="2400" dirty="0">
                <a:latin typeface="Cambria"/>
                <a:ea typeface="Cambria"/>
                <a:cs typeface="Cambria"/>
                <a:sym typeface="Cambria"/>
              </a:rPr>
              <a:t> de </a:t>
            </a:r>
            <a:r>
              <a:rPr lang="en-US" sz="2400" dirty="0" err="1">
                <a:latin typeface="Cambria"/>
                <a:ea typeface="Cambria"/>
                <a:cs typeface="Cambria"/>
                <a:sym typeface="Cambria"/>
              </a:rPr>
              <a:t>comunicare</a:t>
            </a:r>
            <a:r>
              <a:rPr lang="en-US" sz="2400" dirty="0">
                <a:latin typeface="Cambria"/>
                <a:ea typeface="Cambria"/>
                <a:cs typeface="Cambria"/>
                <a:sym typeface="Cambria"/>
              </a:rPr>
              <a:t> la </a:t>
            </a:r>
            <a:r>
              <a:rPr lang="en-US" sz="2400" dirty="0" err="1">
                <a:latin typeface="Cambria"/>
                <a:ea typeface="Cambria"/>
                <a:cs typeface="Cambria"/>
                <a:sym typeface="Cambria"/>
              </a:rPr>
              <a:t>distanță</a:t>
            </a:r>
            <a:r>
              <a:rPr lang="en-US" sz="2400" dirty="0">
                <a:latin typeface="Cambria"/>
                <a:ea typeface="Cambria"/>
                <a:cs typeface="Cambria"/>
                <a:sym typeface="Cambria"/>
              </a:rPr>
              <a:t>. </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5. </a:t>
            </a:r>
            <a:r>
              <a:rPr lang="en-US" sz="2400" b="1" dirty="0" err="1">
                <a:latin typeface="Cambria"/>
                <a:ea typeface="Cambria"/>
                <a:cs typeface="Cambria"/>
                <a:sym typeface="Cambria"/>
              </a:rPr>
              <a:t>Participarea</a:t>
            </a:r>
            <a:r>
              <a:rPr lang="en-US" sz="2400" b="1" dirty="0">
                <a:latin typeface="Cambria"/>
                <a:ea typeface="Cambria"/>
                <a:cs typeface="Cambria"/>
                <a:sym typeface="Cambria"/>
              </a:rPr>
              <a:t> </a:t>
            </a:r>
            <a:r>
              <a:rPr lang="en-US" sz="2400" dirty="0">
                <a:latin typeface="Cambria"/>
                <a:ea typeface="Cambria"/>
                <a:cs typeface="Cambria"/>
                <a:sym typeface="Cambria"/>
              </a:rPr>
              <a:t>la </a:t>
            </a:r>
            <a:r>
              <a:rPr lang="en-US" sz="2400" dirty="0" err="1">
                <a:latin typeface="Cambria"/>
                <a:ea typeface="Cambria"/>
                <a:cs typeface="Cambria"/>
                <a:sym typeface="Cambria"/>
              </a:rPr>
              <a:t>ședințe</a:t>
            </a:r>
            <a:r>
              <a:rPr lang="en-US" sz="2400" dirty="0">
                <a:latin typeface="Cambria"/>
                <a:ea typeface="Cambria"/>
                <a:cs typeface="Cambria"/>
                <a:sym typeface="Cambria"/>
              </a:rPr>
              <a:t> </a:t>
            </a:r>
            <a:r>
              <a:rPr lang="en-US" sz="2400" dirty="0" err="1">
                <a:latin typeface="Cambria"/>
                <a:ea typeface="Cambria"/>
                <a:cs typeface="Cambria"/>
                <a:sym typeface="Cambria"/>
              </a:rPr>
              <a:t>periodice</a:t>
            </a:r>
            <a:r>
              <a:rPr lang="en-US" sz="2400" dirty="0">
                <a:latin typeface="Cambria"/>
                <a:ea typeface="Cambria"/>
                <a:cs typeface="Cambria"/>
                <a:sym typeface="Cambria"/>
              </a:rPr>
              <a:t> de </a:t>
            </a:r>
            <a:r>
              <a:rPr lang="en-US" sz="2400" dirty="0" err="1">
                <a:latin typeface="Cambria"/>
                <a:ea typeface="Cambria"/>
                <a:cs typeface="Cambria"/>
                <a:sym typeface="Cambria"/>
              </a:rPr>
              <a:t>actualizare</a:t>
            </a:r>
            <a:r>
              <a:rPr lang="en-US" sz="2400" dirty="0">
                <a:latin typeface="Cambria"/>
                <a:ea typeface="Cambria"/>
                <a:cs typeface="Cambria"/>
                <a:sym typeface="Cambria"/>
              </a:rPr>
              <a:t> cu </a:t>
            </a:r>
            <a:r>
              <a:rPr lang="en-US" sz="2400" dirty="0" err="1">
                <a:latin typeface="Cambria"/>
                <a:ea typeface="Cambria"/>
                <a:cs typeface="Cambria"/>
                <a:sym typeface="Cambria"/>
              </a:rPr>
              <a:t>Clientul</a:t>
            </a:r>
            <a:r>
              <a:rPr lang="en-US" sz="2400" dirty="0">
                <a:latin typeface="Cambria"/>
                <a:ea typeface="Cambria"/>
                <a:cs typeface="Cambria"/>
                <a:sym typeface="Cambria"/>
              </a:rPr>
              <a:t> </a:t>
            </a:r>
            <a:r>
              <a:rPr lang="en-US" sz="2400" dirty="0" err="1">
                <a:latin typeface="Cambria"/>
                <a:ea typeface="Cambria"/>
                <a:cs typeface="Cambria"/>
                <a:sym typeface="Cambria"/>
              </a:rPr>
              <a:t>și</a:t>
            </a:r>
            <a:r>
              <a:rPr lang="en-US" sz="2400" dirty="0">
                <a:latin typeface="Cambria"/>
                <a:ea typeface="Cambria"/>
                <a:cs typeface="Cambria"/>
                <a:sym typeface="Cambria"/>
              </a:rPr>
              <a:t> </a:t>
            </a:r>
            <a:r>
              <a:rPr lang="en-US" sz="2400" dirty="0" err="1">
                <a:latin typeface="Cambria"/>
                <a:ea typeface="Cambria"/>
                <a:cs typeface="Cambria"/>
                <a:sym typeface="Cambria"/>
              </a:rPr>
              <a:t>consultanții</a:t>
            </a:r>
            <a:r>
              <a:rPr lang="en-US" sz="2400" dirty="0">
                <a:latin typeface="Cambria"/>
                <a:ea typeface="Cambria"/>
                <a:cs typeface="Cambria"/>
                <a:sym typeface="Cambria"/>
              </a:rPr>
              <a:t> </a:t>
            </a:r>
            <a:r>
              <a:rPr lang="en-US" sz="2400" dirty="0" err="1">
                <a:latin typeface="Cambria"/>
                <a:ea typeface="Cambria"/>
                <a:cs typeface="Cambria"/>
                <a:sym typeface="Cambria"/>
              </a:rPr>
              <a:t>acestuia</a:t>
            </a:r>
            <a:r>
              <a:rPr lang="en-US" sz="2400" dirty="0">
                <a:latin typeface="Cambria"/>
                <a:ea typeface="Cambria"/>
                <a:cs typeface="Cambria"/>
                <a:sym typeface="Cambria"/>
              </a:rPr>
              <a:t>.</a:t>
            </a:r>
            <a:endParaRPr sz="2400" dirty="0"/>
          </a:p>
          <a:p>
            <a:pPr marL="0" lvl="0" indent="0" algn="just" rtl="0">
              <a:lnSpc>
                <a:spcPct val="90000"/>
              </a:lnSpc>
              <a:spcBef>
                <a:spcPts val="1095"/>
              </a:spcBef>
              <a:spcAft>
                <a:spcPts val="0"/>
              </a:spcAft>
              <a:buClr>
                <a:schemeClr val="dk1"/>
              </a:buClr>
              <a:buSzPct val="100000"/>
              <a:buNone/>
            </a:pPr>
            <a:r>
              <a:rPr lang="en-US" sz="2400" b="1" dirty="0">
                <a:latin typeface="Cambria"/>
                <a:ea typeface="Cambria"/>
                <a:cs typeface="Cambria"/>
                <a:sym typeface="Cambria"/>
              </a:rPr>
              <a:t>6. </a:t>
            </a:r>
            <a:r>
              <a:rPr lang="en-US" sz="2400" dirty="0" err="1">
                <a:latin typeface="Cambria"/>
                <a:ea typeface="Cambria"/>
                <a:cs typeface="Cambria"/>
                <a:sym typeface="Cambria"/>
              </a:rPr>
              <a:t>Informarea</a:t>
            </a:r>
            <a:r>
              <a:rPr lang="en-US" sz="2400" dirty="0">
                <a:latin typeface="Cambria"/>
                <a:ea typeface="Cambria"/>
                <a:cs typeface="Cambria"/>
                <a:sym typeface="Cambria"/>
              </a:rPr>
              <a:t> </a:t>
            </a:r>
            <a:r>
              <a:rPr lang="en-US" sz="2400" dirty="0" err="1">
                <a:latin typeface="Cambria"/>
                <a:ea typeface="Cambria"/>
                <a:cs typeface="Cambria"/>
                <a:sym typeface="Cambria"/>
              </a:rPr>
              <a:t>promptă</a:t>
            </a:r>
            <a:r>
              <a:rPr lang="en-US" sz="2400" dirty="0">
                <a:latin typeface="Cambria"/>
                <a:ea typeface="Cambria"/>
                <a:cs typeface="Cambria"/>
                <a:sym typeface="Cambria"/>
              </a:rPr>
              <a:t> a </a:t>
            </a:r>
            <a:r>
              <a:rPr lang="en-US" sz="2400" dirty="0" err="1">
                <a:latin typeface="Cambria"/>
                <a:ea typeface="Cambria"/>
                <a:cs typeface="Cambria"/>
                <a:sym typeface="Cambria"/>
              </a:rPr>
              <a:t>Clientului</a:t>
            </a:r>
            <a:r>
              <a:rPr lang="en-US" sz="2400" dirty="0">
                <a:latin typeface="Cambria"/>
                <a:ea typeface="Cambria"/>
                <a:cs typeface="Cambria"/>
                <a:sym typeface="Cambria"/>
              </a:rPr>
              <a:t> cu </a:t>
            </a:r>
            <a:r>
              <a:rPr lang="en-US" sz="2400" dirty="0" err="1">
                <a:latin typeface="Cambria"/>
                <a:ea typeface="Cambria"/>
                <a:cs typeface="Cambria"/>
                <a:sym typeface="Cambria"/>
              </a:rPr>
              <a:t>privire</a:t>
            </a:r>
            <a:r>
              <a:rPr lang="en-US" sz="2400" dirty="0">
                <a:latin typeface="Cambria"/>
                <a:ea typeface="Cambria"/>
                <a:cs typeface="Cambria"/>
                <a:sym typeface="Cambria"/>
              </a:rPr>
              <a:t> la </a:t>
            </a:r>
            <a:r>
              <a:rPr lang="en-US" sz="2400" dirty="0" err="1">
                <a:latin typeface="Cambria"/>
                <a:ea typeface="Cambria"/>
                <a:cs typeface="Cambria"/>
                <a:sym typeface="Cambria"/>
              </a:rPr>
              <a:t>orice</a:t>
            </a:r>
            <a:r>
              <a:rPr lang="en-US" sz="2400" dirty="0">
                <a:latin typeface="Cambria"/>
                <a:ea typeface="Cambria"/>
                <a:cs typeface="Cambria"/>
                <a:sym typeface="Cambria"/>
              </a:rPr>
              <a:t> </a:t>
            </a:r>
            <a:r>
              <a:rPr lang="en-US" sz="2400" dirty="0" err="1">
                <a:latin typeface="Cambria"/>
                <a:ea typeface="Cambria"/>
                <a:cs typeface="Cambria"/>
                <a:sym typeface="Cambria"/>
              </a:rPr>
              <a:t>risc</a:t>
            </a:r>
            <a:r>
              <a:rPr lang="en-US" sz="2400" dirty="0">
                <a:latin typeface="Cambria"/>
                <a:ea typeface="Cambria"/>
                <a:cs typeface="Cambria"/>
                <a:sym typeface="Cambria"/>
              </a:rPr>
              <a:t> </a:t>
            </a:r>
            <a:r>
              <a:rPr lang="en-US" sz="2400" dirty="0" err="1">
                <a:latin typeface="Cambria"/>
                <a:ea typeface="Cambria"/>
                <a:cs typeface="Cambria"/>
                <a:sym typeface="Cambria"/>
              </a:rPr>
              <a:t>semnificativ</a:t>
            </a:r>
            <a:r>
              <a:rPr lang="en-US" sz="2400" dirty="0">
                <a:latin typeface="Cambria"/>
                <a:ea typeface="Cambria"/>
                <a:cs typeface="Cambria"/>
                <a:sym typeface="Cambria"/>
              </a:rPr>
              <a:t> </a:t>
            </a:r>
            <a:r>
              <a:rPr lang="en-US" sz="2400" dirty="0" err="1">
                <a:latin typeface="Cambria"/>
                <a:ea typeface="Cambria"/>
                <a:cs typeface="Cambria"/>
                <a:sym typeface="Cambria"/>
              </a:rPr>
              <a:t>identificat</a:t>
            </a:r>
            <a:r>
              <a:rPr lang="en-US" sz="2400" dirty="0">
                <a:latin typeface="Cambria"/>
                <a:ea typeface="Cambria"/>
                <a:cs typeface="Cambria"/>
                <a:sym typeface="Cambria"/>
              </a:rPr>
              <a:t> pe </a:t>
            </a:r>
            <a:r>
              <a:rPr lang="en-US" sz="2400" dirty="0" err="1">
                <a:latin typeface="Cambria"/>
                <a:ea typeface="Cambria"/>
                <a:cs typeface="Cambria"/>
                <a:sym typeface="Cambria"/>
              </a:rPr>
              <a:t>parcursul</a:t>
            </a:r>
            <a:r>
              <a:rPr lang="en-US" sz="2400" dirty="0">
                <a:latin typeface="Cambria"/>
                <a:ea typeface="Cambria"/>
                <a:cs typeface="Cambria"/>
                <a:sym typeface="Cambria"/>
              </a:rPr>
              <a:t> </a:t>
            </a:r>
            <a:r>
              <a:rPr lang="en-US" sz="2400" dirty="0" err="1">
                <a:latin typeface="Cambria"/>
                <a:ea typeface="Cambria"/>
                <a:cs typeface="Cambria"/>
                <a:sym typeface="Cambria"/>
              </a:rPr>
              <a:t>analizei</a:t>
            </a:r>
            <a:r>
              <a:rPr lang="en-US" sz="2400" dirty="0">
                <a:latin typeface="Cambria"/>
                <a:ea typeface="Cambria"/>
                <a:cs typeface="Cambria"/>
                <a:sym typeface="Cambria"/>
              </a:rPr>
              <a:t>, </a:t>
            </a:r>
            <a:r>
              <a:rPr lang="en-US" sz="2400" dirty="0" err="1">
                <a:latin typeface="Cambria"/>
                <a:ea typeface="Cambria"/>
                <a:cs typeface="Cambria"/>
                <a:sym typeface="Cambria"/>
              </a:rPr>
              <a:t>inclusiv</a:t>
            </a:r>
            <a:r>
              <a:rPr lang="en-US" sz="2400" dirty="0">
                <a:latin typeface="Cambria"/>
                <a:ea typeface="Cambria"/>
                <a:cs typeface="Cambria"/>
                <a:sym typeface="Cambria"/>
              </a:rPr>
              <a:t> </a:t>
            </a:r>
            <a:r>
              <a:rPr lang="en-US" sz="2400" dirty="0" err="1">
                <a:latin typeface="Cambria"/>
                <a:ea typeface="Cambria"/>
                <a:cs typeface="Cambria"/>
                <a:sym typeface="Cambria"/>
              </a:rPr>
              <a:t>riscuri</a:t>
            </a:r>
            <a:r>
              <a:rPr lang="en-US" sz="2400" dirty="0">
                <a:latin typeface="Cambria"/>
                <a:ea typeface="Cambria"/>
                <a:cs typeface="Cambria"/>
                <a:sym typeface="Cambria"/>
              </a:rPr>
              <a:t> care </a:t>
            </a:r>
            <a:r>
              <a:rPr lang="en-US" sz="2400" dirty="0" err="1">
                <a:latin typeface="Cambria"/>
                <a:ea typeface="Cambria"/>
                <a:cs typeface="Cambria"/>
                <a:sym typeface="Cambria"/>
              </a:rPr>
              <a:t>depășesc</a:t>
            </a:r>
            <a:r>
              <a:rPr lang="en-US" sz="2400" dirty="0">
                <a:latin typeface="Cambria"/>
                <a:ea typeface="Cambria"/>
                <a:cs typeface="Cambria"/>
                <a:sym typeface="Cambria"/>
              </a:rPr>
              <a:t> </a:t>
            </a:r>
            <a:r>
              <a:rPr lang="en-US" sz="2400" dirty="0" err="1">
                <a:latin typeface="Cambria"/>
                <a:ea typeface="Cambria"/>
                <a:cs typeface="Cambria"/>
                <a:sym typeface="Cambria"/>
              </a:rPr>
              <a:t>domeniul</a:t>
            </a:r>
            <a:r>
              <a:rPr lang="en-US" sz="2400" dirty="0">
                <a:latin typeface="Cambria"/>
                <a:ea typeface="Cambria"/>
                <a:cs typeface="Cambria"/>
                <a:sym typeface="Cambria"/>
              </a:rPr>
              <a:t> </a:t>
            </a:r>
            <a:r>
              <a:rPr lang="en-US" sz="2400" dirty="0" err="1">
                <a:latin typeface="Cambria"/>
                <a:ea typeface="Cambria"/>
                <a:cs typeface="Cambria"/>
                <a:sym typeface="Cambria"/>
              </a:rPr>
              <a:t>inițial</a:t>
            </a:r>
            <a:r>
              <a:rPr lang="en-US" sz="2400" dirty="0">
                <a:latin typeface="Cambria"/>
                <a:ea typeface="Cambria"/>
                <a:cs typeface="Cambria"/>
                <a:sym typeface="Cambria"/>
              </a:rPr>
              <a:t> </a:t>
            </a:r>
            <a:r>
              <a:rPr lang="en-US" sz="2400" dirty="0" err="1">
                <a:latin typeface="Cambria"/>
                <a:ea typeface="Cambria"/>
                <a:cs typeface="Cambria"/>
                <a:sym typeface="Cambria"/>
              </a:rPr>
              <a:t>convenit</a:t>
            </a:r>
            <a:r>
              <a:rPr lang="en-US" sz="2400" dirty="0">
                <a:latin typeface="Cambria"/>
                <a:ea typeface="Cambria"/>
                <a:cs typeface="Cambria"/>
                <a:sym typeface="Cambria"/>
              </a:rPr>
              <a:t>, </a:t>
            </a:r>
            <a:r>
              <a:rPr lang="en-US" sz="2400" dirty="0" err="1">
                <a:latin typeface="Cambria"/>
                <a:ea typeface="Cambria"/>
                <a:cs typeface="Cambria"/>
                <a:sym typeface="Cambria"/>
              </a:rPr>
              <a:t>dar</a:t>
            </a:r>
            <a:r>
              <a:rPr lang="en-US" sz="2400" dirty="0">
                <a:latin typeface="Cambria"/>
                <a:ea typeface="Cambria"/>
                <a:cs typeface="Cambria"/>
                <a:sym typeface="Cambria"/>
              </a:rPr>
              <a:t> sunt </a:t>
            </a:r>
            <a:r>
              <a:rPr lang="en-US" sz="2400" dirty="0" err="1">
                <a:latin typeface="Cambria"/>
                <a:ea typeface="Cambria"/>
                <a:cs typeface="Cambria"/>
                <a:sym typeface="Cambria"/>
              </a:rPr>
              <a:t>relevante</a:t>
            </a:r>
            <a:r>
              <a:rPr lang="en-US" sz="2400" dirty="0">
                <a:latin typeface="Cambria"/>
                <a:ea typeface="Cambria"/>
                <a:cs typeface="Cambria"/>
                <a:sym typeface="Cambria"/>
              </a:rPr>
              <a:t> </a:t>
            </a:r>
            <a:r>
              <a:rPr lang="en-US" sz="2400" dirty="0" err="1">
                <a:latin typeface="Cambria"/>
                <a:ea typeface="Cambria"/>
                <a:cs typeface="Cambria"/>
                <a:sym typeface="Cambria"/>
              </a:rPr>
              <a:t>pentru</a:t>
            </a:r>
            <a:r>
              <a:rPr lang="en-US" sz="2400" dirty="0">
                <a:latin typeface="Cambria"/>
                <a:ea typeface="Cambria"/>
                <a:cs typeface="Cambria"/>
                <a:sym typeface="Cambria"/>
              </a:rPr>
              <a:t> </a:t>
            </a:r>
            <a:r>
              <a:rPr lang="en-US" sz="2400" dirty="0" err="1">
                <a:latin typeface="Cambria"/>
                <a:ea typeface="Cambria"/>
                <a:cs typeface="Cambria"/>
                <a:sym typeface="Cambria"/>
              </a:rPr>
              <a:t>tranzacție</a:t>
            </a:r>
            <a:endParaRPr sz="2400"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1: </a:t>
            </a:r>
            <a:r>
              <a:rPr lang="en-US" sz="1400" b="1">
                <a:solidFill>
                  <a:schemeClr val="dk1"/>
                </a:solidFill>
                <a:latin typeface="Cambria"/>
                <a:ea typeface="Cambria"/>
                <a:cs typeface="Cambria"/>
                <a:sym typeface="Cambria"/>
              </a:rPr>
              <a:t> Descrierea serviciilor</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t" anchorCtr="0">
            <a:normAutofit fontScale="30000" lnSpcReduction="10000"/>
          </a:bodyPr>
          <a:lstStyle/>
          <a:p>
            <a:pPr marL="0" lvl="0" indent="0" algn="just" rtl="0">
              <a:lnSpc>
                <a:spcPct val="90000"/>
              </a:lnSpc>
              <a:spcBef>
                <a:spcPts val="1095"/>
              </a:spcBef>
              <a:spcAft>
                <a:spcPts val="0"/>
              </a:spcAft>
              <a:buClr>
                <a:srgbClr val="C00000"/>
              </a:buClr>
              <a:buSzPct val="100000"/>
              <a:buNone/>
            </a:pPr>
            <a:r>
              <a:rPr lang="en-US" sz="6400" b="1" dirty="0">
                <a:solidFill>
                  <a:srgbClr val="C00000"/>
                </a:solidFill>
                <a:latin typeface="Cambria"/>
                <a:ea typeface="Cambria"/>
                <a:cs typeface="Cambria"/>
                <a:sym typeface="Cambria"/>
              </a:rPr>
              <a:t>Etapa a II-a</a:t>
            </a:r>
            <a:endParaRPr dirty="0"/>
          </a:p>
          <a:p>
            <a:pPr marL="0" lvl="0" indent="0" algn="just" rtl="0">
              <a:lnSpc>
                <a:spcPct val="90000"/>
              </a:lnSpc>
              <a:spcBef>
                <a:spcPts val="1095"/>
              </a:spcBef>
              <a:spcAft>
                <a:spcPts val="0"/>
              </a:spcAft>
              <a:buClr>
                <a:schemeClr val="dk1"/>
              </a:buClr>
              <a:buSzPct val="100000"/>
              <a:buNone/>
            </a:pPr>
            <a:r>
              <a:rPr lang="en-US" sz="6400" b="1" dirty="0">
                <a:latin typeface="Cambria"/>
                <a:ea typeface="Cambria"/>
                <a:cs typeface="Cambria"/>
                <a:sym typeface="Cambria"/>
              </a:rPr>
              <a:t>a) </a:t>
            </a:r>
            <a:r>
              <a:rPr lang="en-US" sz="6400" b="1" dirty="0" err="1">
                <a:latin typeface="Cambria"/>
                <a:ea typeface="Cambria"/>
                <a:cs typeface="Cambria"/>
                <a:sym typeface="Cambria"/>
              </a:rPr>
              <a:t>Elaborarea</a:t>
            </a:r>
            <a:r>
              <a:rPr lang="en-US" sz="6400" b="1" dirty="0">
                <a:latin typeface="Cambria"/>
                <a:ea typeface="Cambria"/>
                <a:cs typeface="Cambria"/>
                <a:sym typeface="Cambria"/>
              </a:rPr>
              <a:t>, </a:t>
            </a:r>
            <a:r>
              <a:rPr lang="en-US" sz="6400" b="1" dirty="0" err="1">
                <a:latin typeface="Cambria"/>
                <a:ea typeface="Cambria"/>
                <a:cs typeface="Cambria"/>
                <a:sym typeface="Cambria"/>
              </a:rPr>
              <a:t>revizuirea</a:t>
            </a:r>
            <a:r>
              <a:rPr lang="en-US" sz="6400" b="1" dirty="0">
                <a:latin typeface="Cambria"/>
                <a:ea typeface="Cambria"/>
                <a:cs typeface="Cambria"/>
                <a:sym typeface="Cambria"/>
              </a:rPr>
              <a:t> </a:t>
            </a:r>
            <a:r>
              <a:rPr lang="en-US" sz="6400" b="1" dirty="0" err="1">
                <a:latin typeface="Cambria"/>
                <a:ea typeface="Cambria"/>
                <a:cs typeface="Cambria"/>
                <a:sym typeface="Cambria"/>
              </a:rPr>
              <a:t>și</a:t>
            </a:r>
            <a:r>
              <a:rPr lang="en-US" sz="6400" b="1" dirty="0">
                <a:latin typeface="Cambria"/>
                <a:ea typeface="Cambria"/>
                <a:cs typeface="Cambria"/>
                <a:sym typeface="Cambria"/>
              </a:rPr>
              <a:t> </a:t>
            </a:r>
            <a:r>
              <a:rPr lang="en-US" sz="6400" b="1" dirty="0" err="1">
                <a:latin typeface="Cambria"/>
                <a:ea typeface="Cambria"/>
                <a:cs typeface="Cambria"/>
                <a:sym typeface="Cambria"/>
              </a:rPr>
              <a:t>negocierea</a:t>
            </a:r>
            <a:r>
              <a:rPr lang="en-US" sz="6400" b="1" dirty="0">
                <a:latin typeface="Cambria"/>
                <a:ea typeface="Cambria"/>
                <a:cs typeface="Cambria"/>
                <a:sym typeface="Cambria"/>
              </a:rPr>
              <a:t> </a:t>
            </a:r>
            <a:r>
              <a:rPr lang="en-US" sz="6400" b="1" dirty="0" err="1">
                <a:latin typeface="Cambria"/>
                <a:ea typeface="Cambria"/>
                <a:cs typeface="Cambria"/>
                <a:sym typeface="Cambria"/>
              </a:rPr>
              <a:t>contractului</a:t>
            </a:r>
            <a:r>
              <a:rPr lang="en-US" sz="6400" b="1" dirty="0">
                <a:latin typeface="Cambria"/>
                <a:ea typeface="Cambria"/>
                <a:cs typeface="Cambria"/>
                <a:sym typeface="Cambria"/>
              </a:rPr>
              <a:t> de </a:t>
            </a:r>
            <a:r>
              <a:rPr lang="en-US" sz="6400" b="1" dirty="0" err="1">
                <a:latin typeface="Cambria"/>
                <a:ea typeface="Cambria"/>
                <a:cs typeface="Cambria"/>
                <a:sym typeface="Cambria"/>
              </a:rPr>
              <a:t>vânzare-cumpărare</a:t>
            </a:r>
            <a:endParaRPr sz="6400" dirty="0">
              <a:latin typeface="Cambria"/>
              <a:ea typeface="Cambria"/>
              <a:cs typeface="Cambria"/>
              <a:sym typeface="Cambria"/>
            </a:endParaRPr>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Elaborarea</a:t>
            </a:r>
            <a:r>
              <a:rPr lang="en-US" sz="6400" dirty="0">
                <a:latin typeface="Cambria"/>
                <a:ea typeface="Cambria"/>
                <a:cs typeface="Cambria"/>
                <a:sym typeface="Cambria"/>
              </a:rPr>
              <a:t> </a:t>
            </a:r>
            <a:r>
              <a:rPr lang="en-US" sz="6400" dirty="0" err="1">
                <a:latin typeface="Cambria"/>
                <a:ea typeface="Cambria"/>
                <a:cs typeface="Cambria"/>
                <a:sym typeface="Cambria"/>
              </a:rPr>
              <a:t>contractului</a:t>
            </a:r>
            <a:r>
              <a:rPr lang="en-US" sz="6400" dirty="0">
                <a:latin typeface="Cambria"/>
                <a:ea typeface="Cambria"/>
                <a:cs typeface="Cambria"/>
                <a:sym typeface="Cambria"/>
              </a:rPr>
              <a:t> de </a:t>
            </a:r>
            <a:r>
              <a:rPr lang="en-US" sz="6400" dirty="0" err="1">
                <a:latin typeface="Cambria"/>
                <a:ea typeface="Cambria"/>
                <a:cs typeface="Cambria"/>
                <a:sym typeface="Cambria"/>
              </a:rPr>
              <a:t>vânzare-cumpărare</a:t>
            </a:r>
            <a:r>
              <a:rPr lang="en-US" sz="6400" dirty="0">
                <a:latin typeface="Cambria"/>
                <a:ea typeface="Cambria"/>
                <a:cs typeface="Cambria"/>
                <a:sym typeface="Cambria"/>
              </a:rPr>
              <a:t> a </a:t>
            </a:r>
            <a:r>
              <a:rPr lang="en-US" sz="6400" dirty="0" err="1">
                <a:latin typeface="Cambria"/>
                <a:ea typeface="Cambria"/>
                <a:cs typeface="Cambria"/>
                <a:sym typeface="Cambria"/>
              </a:rPr>
              <a:t>părților</a:t>
            </a:r>
            <a:r>
              <a:rPr lang="en-US" sz="6400" dirty="0">
                <a:latin typeface="Cambria"/>
                <a:ea typeface="Cambria"/>
                <a:cs typeface="Cambria"/>
                <a:sym typeface="Cambria"/>
              </a:rPr>
              <a:t> </a:t>
            </a:r>
            <a:r>
              <a:rPr lang="en-US" sz="6400" dirty="0" err="1">
                <a:latin typeface="Cambria"/>
                <a:ea typeface="Cambria"/>
                <a:cs typeface="Cambria"/>
                <a:sym typeface="Cambria"/>
              </a:rPr>
              <a:t>sociale</a:t>
            </a:r>
            <a:r>
              <a:rPr lang="en-US" sz="6400" dirty="0">
                <a:latin typeface="Cambria"/>
                <a:ea typeface="Cambria"/>
                <a:cs typeface="Cambria"/>
                <a:sym typeface="Cambria"/>
              </a:rPr>
              <a:t> din </a:t>
            </a:r>
            <a:r>
              <a:rPr lang="en-US" sz="6400" dirty="0" err="1">
                <a:latin typeface="Cambria"/>
                <a:ea typeface="Cambria"/>
                <a:cs typeface="Cambria"/>
                <a:sym typeface="Cambria"/>
              </a:rPr>
              <a:t>perspectiva</a:t>
            </a:r>
            <a:r>
              <a:rPr lang="en-US" sz="6400" dirty="0">
                <a:latin typeface="Cambria"/>
                <a:ea typeface="Cambria"/>
                <a:cs typeface="Cambria"/>
                <a:sym typeface="Cambria"/>
              </a:rPr>
              <a:t> </a:t>
            </a:r>
            <a:r>
              <a:rPr lang="en-US" sz="6400" dirty="0" err="1">
                <a:latin typeface="Cambria"/>
                <a:ea typeface="Cambria"/>
                <a:cs typeface="Cambria"/>
                <a:sym typeface="Cambria"/>
              </a:rPr>
              <a:t>cumpărătorului</a:t>
            </a:r>
            <a:r>
              <a:rPr lang="en-US" sz="6400" dirty="0">
                <a:latin typeface="Cambria"/>
                <a:ea typeface="Cambria"/>
                <a:cs typeface="Cambria"/>
                <a:sym typeface="Cambria"/>
              </a:rPr>
              <a:t> </a:t>
            </a:r>
            <a:r>
              <a:rPr lang="en-US" sz="6400" dirty="0" err="1">
                <a:latin typeface="Cambria"/>
                <a:ea typeface="Cambria"/>
                <a:cs typeface="Cambria"/>
                <a:sym typeface="Cambria"/>
              </a:rPr>
              <a:t>sau</a:t>
            </a:r>
            <a:r>
              <a:rPr lang="en-US" sz="6400" dirty="0">
                <a:latin typeface="Cambria"/>
                <a:ea typeface="Cambria"/>
                <a:cs typeface="Cambria"/>
                <a:sym typeface="Cambria"/>
              </a:rPr>
              <a:t>, </a:t>
            </a:r>
            <a:r>
              <a:rPr lang="en-US" sz="6400" dirty="0" err="1">
                <a:latin typeface="Cambria"/>
                <a:ea typeface="Cambria"/>
                <a:cs typeface="Cambria"/>
                <a:sym typeface="Cambria"/>
              </a:rPr>
              <a:t>după</a:t>
            </a:r>
            <a:r>
              <a:rPr lang="en-US" sz="6400" dirty="0">
                <a:latin typeface="Cambria"/>
                <a:ea typeface="Cambria"/>
                <a:cs typeface="Cambria"/>
                <a:sym typeface="Cambria"/>
              </a:rPr>
              <a:t> </a:t>
            </a:r>
            <a:r>
              <a:rPr lang="en-US" sz="6400" dirty="0" err="1">
                <a:latin typeface="Cambria"/>
                <a:ea typeface="Cambria"/>
                <a:cs typeface="Cambria"/>
                <a:sym typeface="Cambria"/>
              </a:rPr>
              <a:t>caz</a:t>
            </a:r>
            <a:r>
              <a:rPr lang="en-US" sz="6400" dirty="0">
                <a:latin typeface="Cambria"/>
                <a:ea typeface="Cambria"/>
                <a:cs typeface="Cambria"/>
                <a:sym typeface="Cambria"/>
              </a:rPr>
              <a:t>, </a:t>
            </a:r>
            <a:r>
              <a:rPr lang="en-US" sz="6400" dirty="0" err="1">
                <a:latin typeface="Cambria"/>
                <a:ea typeface="Cambria"/>
                <a:cs typeface="Cambria"/>
                <a:sym typeface="Cambria"/>
              </a:rPr>
              <a:t>analiza</a:t>
            </a:r>
            <a:r>
              <a:rPr lang="en-US" sz="6400" dirty="0">
                <a:latin typeface="Cambria"/>
                <a:ea typeface="Cambria"/>
                <a:cs typeface="Cambria"/>
                <a:sym typeface="Cambria"/>
              </a:rPr>
              <a:t>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revizuirea</a:t>
            </a:r>
            <a:r>
              <a:rPr lang="en-US" sz="6400" dirty="0">
                <a:latin typeface="Cambria"/>
                <a:ea typeface="Cambria"/>
                <a:cs typeface="Cambria"/>
                <a:sym typeface="Cambria"/>
              </a:rPr>
              <a:t> </a:t>
            </a:r>
            <a:r>
              <a:rPr lang="en-US" sz="6400" dirty="0" err="1">
                <a:latin typeface="Cambria"/>
                <a:ea typeface="Cambria"/>
                <a:cs typeface="Cambria"/>
                <a:sym typeface="Cambria"/>
              </a:rPr>
              <a:t>proiectului</a:t>
            </a:r>
            <a:r>
              <a:rPr lang="en-US" sz="6400" dirty="0">
                <a:latin typeface="Cambria"/>
                <a:ea typeface="Cambria"/>
                <a:cs typeface="Cambria"/>
                <a:sym typeface="Cambria"/>
              </a:rPr>
              <a:t> </a:t>
            </a:r>
            <a:r>
              <a:rPr lang="en-US" sz="6400" dirty="0" err="1">
                <a:latin typeface="Cambria"/>
                <a:ea typeface="Cambria"/>
                <a:cs typeface="Cambria"/>
                <a:sym typeface="Cambria"/>
              </a:rPr>
              <a:t>propus</a:t>
            </a:r>
            <a:r>
              <a:rPr lang="en-US" sz="6400" dirty="0">
                <a:latin typeface="Cambria"/>
                <a:ea typeface="Cambria"/>
                <a:cs typeface="Cambria"/>
                <a:sym typeface="Cambria"/>
              </a:rPr>
              <a:t> de </a:t>
            </a:r>
            <a:r>
              <a:rPr lang="en-US" sz="6400" dirty="0" err="1">
                <a:latin typeface="Cambria"/>
                <a:ea typeface="Cambria"/>
                <a:cs typeface="Cambria"/>
                <a:sym typeface="Cambria"/>
              </a:rPr>
              <a:t>vânzător</a:t>
            </a:r>
            <a:r>
              <a:rPr lang="en-US" sz="6400" dirty="0">
                <a:latin typeface="Cambria"/>
                <a:ea typeface="Cambria"/>
                <a:cs typeface="Cambria"/>
                <a:sym typeface="Cambria"/>
              </a:rPr>
              <a:t>.</a:t>
            </a:r>
            <a:endParaRPr dirty="0"/>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Integrarea</a:t>
            </a:r>
            <a:r>
              <a:rPr lang="en-US" sz="6400" dirty="0">
                <a:latin typeface="Cambria"/>
                <a:ea typeface="Cambria"/>
                <a:cs typeface="Cambria"/>
                <a:sym typeface="Cambria"/>
              </a:rPr>
              <a:t> </a:t>
            </a:r>
            <a:r>
              <a:rPr lang="en-US" sz="6400" dirty="0" err="1">
                <a:latin typeface="Cambria"/>
                <a:ea typeface="Cambria"/>
                <a:cs typeface="Cambria"/>
                <a:sym typeface="Cambria"/>
              </a:rPr>
              <a:t>constatărilor</a:t>
            </a:r>
            <a:r>
              <a:rPr lang="en-US" sz="6400" dirty="0">
                <a:latin typeface="Cambria"/>
                <a:ea typeface="Cambria"/>
                <a:cs typeface="Cambria"/>
                <a:sym typeface="Cambria"/>
              </a:rPr>
              <a:t> </a:t>
            </a:r>
            <a:r>
              <a:rPr lang="en-US" sz="6400" dirty="0" err="1">
                <a:latin typeface="Cambria"/>
                <a:ea typeface="Cambria"/>
                <a:cs typeface="Cambria"/>
                <a:sym typeface="Cambria"/>
              </a:rPr>
              <a:t>rezultate</a:t>
            </a:r>
            <a:r>
              <a:rPr lang="en-US" sz="6400" dirty="0">
                <a:latin typeface="Cambria"/>
                <a:ea typeface="Cambria"/>
                <a:cs typeface="Cambria"/>
                <a:sym typeface="Cambria"/>
              </a:rPr>
              <a:t> din due diligence </a:t>
            </a:r>
            <a:r>
              <a:rPr lang="en-US" sz="6400" dirty="0" err="1">
                <a:latin typeface="Cambria"/>
                <a:ea typeface="Cambria"/>
                <a:cs typeface="Cambria"/>
                <a:sym typeface="Cambria"/>
              </a:rPr>
              <a:t>și</a:t>
            </a:r>
            <a:r>
              <a:rPr lang="en-US" sz="6400" dirty="0">
                <a:latin typeface="Cambria"/>
                <a:ea typeface="Cambria"/>
                <a:cs typeface="Cambria"/>
                <a:sym typeface="Cambria"/>
              </a:rPr>
              <a:t> a </a:t>
            </a:r>
            <a:r>
              <a:rPr lang="en-US" sz="6400" dirty="0" err="1">
                <a:latin typeface="Cambria"/>
                <a:ea typeface="Cambria"/>
                <a:cs typeface="Cambria"/>
                <a:sym typeface="Cambria"/>
              </a:rPr>
              <a:t>poziției</a:t>
            </a:r>
            <a:r>
              <a:rPr lang="en-US" sz="6400" dirty="0">
                <a:latin typeface="Cambria"/>
                <a:ea typeface="Cambria"/>
                <a:cs typeface="Cambria"/>
                <a:sym typeface="Cambria"/>
              </a:rPr>
              <a:t> </a:t>
            </a:r>
            <a:r>
              <a:rPr lang="en-US" sz="6400" dirty="0" err="1">
                <a:latin typeface="Cambria"/>
                <a:ea typeface="Cambria"/>
                <a:cs typeface="Cambria"/>
                <a:sym typeface="Cambria"/>
              </a:rPr>
              <a:t>comerciale</a:t>
            </a:r>
            <a:r>
              <a:rPr lang="en-US" sz="6400" dirty="0">
                <a:latin typeface="Cambria"/>
                <a:ea typeface="Cambria"/>
                <a:cs typeface="Cambria"/>
                <a:sym typeface="Cambria"/>
              </a:rPr>
              <a:t> a </a:t>
            </a:r>
            <a:r>
              <a:rPr lang="en-US" sz="6400" dirty="0" err="1">
                <a:latin typeface="Cambria"/>
                <a:ea typeface="Cambria"/>
                <a:cs typeface="Cambria"/>
                <a:sym typeface="Cambria"/>
              </a:rPr>
              <a:t>Clientului</a:t>
            </a:r>
            <a:r>
              <a:rPr lang="en-US" sz="6400" dirty="0">
                <a:latin typeface="Cambria"/>
                <a:ea typeface="Cambria"/>
                <a:cs typeface="Cambria"/>
                <a:sym typeface="Cambria"/>
              </a:rPr>
              <a:t> </a:t>
            </a:r>
            <a:r>
              <a:rPr lang="en-US" sz="6400" dirty="0" err="1">
                <a:latin typeface="Cambria"/>
                <a:ea typeface="Cambria"/>
                <a:cs typeface="Cambria"/>
                <a:sym typeface="Cambria"/>
              </a:rPr>
              <a:t>în</a:t>
            </a:r>
            <a:r>
              <a:rPr lang="en-US" sz="6400" dirty="0">
                <a:latin typeface="Cambria"/>
                <a:ea typeface="Cambria"/>
                <a:cs typeface="Cambria"/>
                <a:sym typeface="Cambria"/>
              </a:rPr>
              <a:t> </a:t>
            </a:r>
            <a:r>
              <a:rPr lang="en-US" sz="6400" dirty="0" err="1">
                <a:latin typeface="Cambria"/>
                <a:ea typeface="Cambria"/>
                <a:cs typeface="Cambria"/>
                <a:sym typeface="Cambria"/>
              </a:rPr>
              <a:t>documentația</a:t>
            </a:r>
            <a:r>
              <a:rPr lang="en-US" sz="6400" dirty="0">
                <a:latin typeface="Cambria"/>
                <a:ea typeface="Cambria"/>
                <a:cs typeface="Cambria"/>
                <a:sym typeface="Cambria"/>
              </a:rPr>
              <a:t> </a:t>
            </a:r>
            <a:r>
              <a:rPr lang="en-US" sz="6400" dirty="0" err="1">
                <a:latin typeface="Cambria"/>
                <a:ea typeface="Cambria"/>
                <a:cs typeface="Cambria"/>
                <a:sym typeface="Cambria"/>
              </a:rPr>
              <a:t>contractuală</a:t>
            </a:r>
            <a:r>
              <a:rPr lang="en-US" sz="6400" dirty="0">
                <a:latin typeface="Cambria"/>
                <a:ea typeface="Cambria"/>
                <a:cs typeface="Cambria"/>
                <a:sym typeface="Cambria"/>
              </a:rPr>
              <a:t>.</a:t>
            </a:r>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Revizuirea</a:t>
            </a:r>
            <a:r>
              <a:rPr lang="en-US" sz="6400" dirty="0">
                <a:latin typeface="Cambria"/>
                <a:ea typeface="Cambria"/>
                <a:cs typeface="Cambria"/>
                <a:sym typeface="Cambria"/>
              </a:rPr>
              <a:t> </a:t>
            </a:r>
            <a:r>
              <a:rPr lang="en-US" sz="6400" dirty="0" err="1">
                <a:latin typeface="Cambria"/>
                <a:ea typeface="Cambria"/>
                <a:cs typeface="Cambria"/>
                <a:sym typeface="Cambria"/>
              </a:rPr>
              <a:t>documentației</a:t>
            </a:r>
            <a:r>
              <a:rPr lang="en-US" sz="6400" dirty="0">
                <a:latin typeface="Cambria"/>
                <a:ea typeface="Cambria"/>
                <a:cs typeface="Cambria"/>
                <a:sym typeface="Cambria"/>
              </a:rPr>
              <a:t> </a:t>
            </a:r>
            <a:r>
              <a:rPr lang="en-US" sz="6400" dirty="0" err="1">
                <a:latin typeface="Cambria"/>
                <a:ea typeface="Cambria"/>
                <a:cs typeface="Cambria"/>
                <a:sym typeface="Cambria"/>
              </a:rPr>
              <a:t>în</a:t>
            </a:r>
            <a:r>
              <a:rPr lang="en-US" sz="6400" dirty="0">
                <a:latin typeface="Cambria"/>
                <a:ea typeface="Cambria"/>
                <a:cs typeface="Cambria"/>
                <a:sym typeface="Cambria"/>
              </a:rPr>
              <a:t> </a:t>
            </a:r>
            <a:r>
              <a:rPr lang="en-US" sz="6400" dirty="0" err="1">
                <a:latin typeface="Cambria"/>
                <a:ea typeface="Cambria"/>
                <a:cs typeface="Cambria"/>
                <a:sym typeface="Cambria"/>
              </a:rPr>
              <a:t>până</a:t>
            </a:r>
            <a:r>
              <a:rPr lang="en-US" sz="6400" dirty="0">
                <a:latin typeface="Cambria"/>
                <a:ea typeface="Cambria"/>
                <a:cs typeface="Cambria"/>
                <a:sym typeface="Cambria"/>
              </a:rPr>
              <a:t> la </a:t>
            </a:r>
            <a:r>
              <a:rPr lang="en-US" sz="6400" dirty="0" err="1">
                <a:latin typeface="Cambria"/>
                <a:ea typeface="Cambria"/>
                <a:cs typeface="Cambria"/>
                <a:sym typeface="Cambria"/>
              </a:rPr>
              <a:t>trei</a:t>
            </a:r>
            <a:r>
              <a:rPr lang="en-US" sz="6400" dirty="0">
                <a:latin typeface="Cambria"/>
                <a:ea typeface="Cambria"/>
                <a:cs typeface="Cambria"/>
                <a:sym typeface="Cambria"/>
              </a:rPr>
              <a:t> (3) </a:t>
            </a:r>
            <a:r>
              <a:rPr lang="en-US" sz="6400" dirty="0" err="1">
                <a:latin typeface="Cambria"/>
                <a:ea typeface="Cambria"/>
                <a:cs typeface="Cambria"/>
                <a:sym typeface="Cambria"/>
              </a:rPr>
              <a:t>runde</a:t>
            </a:r>
            <a:r>
              <a:rPr lang="en-US" sz="6400" dirty="0">
                <a:latin typeface="Cambria"/>
                <a:ea typeface="Cambria"/>
                <a:cs typeface="Cambria"/>
                <a:sym typeface="Cambria"/>
              </a:rPr>
              <a:t> interne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participarea</a:t>
            </a:r>
            <a:r>
              <a:rPr lang="en-US" sz="6400" dirty="0">
                <a:latin typeface="Cambria"/>
                <a:ea typeface="Cambria"/>
                <a:cs typeface="Cambria"/>
                <a:sym typeface="Cambria"/>
              </a:rPr>
              <a:t> la </a:t>
            </a:r>
            <a:r>
              <a:rPr lang="en-US" sz="6400" dirty="0" err="1">
                <a:latin typeface="Cambria"/>
                <a:ea typeface="Cambria"/>
                <a:cs typeface="Cambria"/>
                <a:sym typeface="Cambria"/>
              </a:rPr>
              <a:t>până</a:t>
            </a:r>
            <a:r>
              <a:rPr lang="en-US" sz="6400" dirty="0">
                <a:latin typeface="Cambria"/>
                <a:ea typeface="Cambria"/>
                <a:cs typeface="Cambria"/>
                <a:sym typeface="Cambria"/>
              </a:rPr>
              <a:t> la </a:t>
            </a:r>
            <a:r>
              <a:rPr lang="en-US" sz="6400" dirty="0" err="1">
                <a:latin typeface="Cambria"/>
                <a:ea typeface="Cambria"/>
                <a:cs typeface="Cambria"/>
                <a:sym typeface="Cambria"/>
              </a:rPr>
              <a:t>trei</a:t>
            </a:r>
            <a:r>
              <a:rPr lang="en-US" sz="6400" dirty="0">
                <a:latin typeface="Cambria"/>
                <a:ea typeface="Cambria"/>
                <a:cs typeface="Cambria"/>
                <a:sym typeface="Cambria"/>
              </a:rPr>
              <a:t> (3) </a:t>
            </a:r>
            <a:r>
              <a:rPr lang="en-US" sz="6400" dirty="0" err="1">
                <a:latin typeface="Cambria"/>
                <a:ea typeface="Cambria"/>
                <a:cs typeface="Cambria"/>
                <a:sym typeface="Cambria"/>
              </a:rPr>
              <a:t>runde</a:t>
            </a:r>
            <a:r>
              <a:rPr lang="en-US" sz="6400" dirty="0">
                <a:latin typeface="Cambria"/>
                <a:ea typeface="Cambria"/>
                <a:cs typeface="Cambria"/>
                <a:sym typeface="Cambria"/>
              </a:rPr>
              <a:t> de </a:t>
            </a:r>
            <a:r>
              <a:rPr lang="en-US" sz="6400" dirty="0" err="1">
                <a:latin typeface="Cambria"/>
                <a:ea typeface="Cambria"/>
                <a:cs typeface="Cambria"/>
                <a:sym typeface="Cambria"/>
              </a:rPr>
              <a:t>negociere</a:t>
            </a:r>
            <a:r>
              <a:rPr lang="en-US" sz="6400" dirty="0">
                <a:latin typeface="Cambria"/>
                <a:ea typeface="Cambria"/>
                <a:cs typeface="Cambria"/>
                <a:sym typeface="Cambria"/>
              </a:rPr>
              <a:t> cu </a:t>
            </a:r>
            <a:r>
              <a:rPr lang="en-US" sz="6400" dirty="0" err="1">
                <a:latin typeface="Cambria"/>
                <a:ea typeface="Cambria"/>
                <a:cs typeface="Cambria"/>
                <a:sym typeface="Cambria"/>
              </a:rPr>
              <a:t>vânzătorul</a:t>
            </a:r>
            <a:r>
              <a:rPr lang="en-US" sz="6400" dirty="0">
                <a:latin typeface="Cambria"/>
                <a:ea typeface="Cambria"/>
                <a:cs typeface="Cambria"/>
                <a:sym typeface="Cambria"/>
              </a:rPr>
              <a:t>.</a:t>
            </a:r>
            <a:endParaRPr dirty="0"/>
          </a:p>
          <a:p>
            <a:pPr marL="250203" lvl="0" indent="-250203" algn="just" rtl="0">
              <a:lnSpc>
                <a:spcPct val="90000"/>
              </a:lnSpc>
              <a:spcBef>
                <a:spcPts val="1095"/>
              </a:spcBef>
              <a:spcAft>
                <a:spcPts val="0"/>
              </a:spcAft>
              <a:buClr>
                <a:schemeClr val="dk1"/>
              </a:buClr>
              <a:buSzPct val="100000"/>
              <a:buFont typeface="Noto Sans Symbols"/>
              <a:buChar char="▪"/>
            </a:pPr>
            <a:r>
              <a:rPr lang="en-US" sz="6400" dirty="0" err="1">
                <a:latin typeface="Cambria"/>
                <a:ea typeface="Cambria"/>
                <a:cs typeface="Cambria"/>
                <a:sym typeface="Cambria"/>
              </a:rPr>
              <a:t>Asistență</a:t>
            </a:r>
            <a:r>
              <a:rPr lang="en-US" sz="6400" dirty="0">
                <a:latin typeface="Cambria"/>
                <a:ea typeface="Cambria"/>
                <a:cs typeface="Cambria"/>
                <a:sym typeface="Cambria"/>
              </a:rPr>
              <a:t> </a:t>
            </a:r>
            <a:r>
              <a:rPr lang="en-US" sz="6400" dirty="0" err="1">
                <a:latin typeface="Cambria"/>
                <a:ea typeface="Cambria"/>
                <a:cs typeface="Cambria"/>
                <a:sym typeface="Cambria"/>
              </a:rPr>
              <a:t>juridică</a:t>
            </a:r>
            <a:r>
              <a:rPr lang="en-US" sz="6400" dirty="0">
                <a:latin typeface="Cambria"/>
                <a:ea typeface="Cambria"/>
                <a:cs typeface="Cambria"/>
                <a:sym typeface="Cambria"/>
              </a:rPr>
              <a:t> </a:t>
            </a:r>
            <a:r>
              <a:rPr lang="en-US" sz="6400" dirty="0" err="1">
                <a:latin typeface="Cambria"/>
                <a:ea typeface="Cambria"/>
                <a:cs typeface="Cambria"/>
                <a:sym typeface="Cambria"/>
              </a:rPr>
              <a:t>în</a:t>
            </a:r>
            <a:r>
              <a:rPr lang="en-US" sz="6400" dirty="0">
                <a:latin typeface="Cambria"/>
                <a:ea typeface="Cambria"/>
                <a:cs typeface="Cambria"/>
                <a:sym typeface="Cambria"/>
              </a:rPr>
              <a:t> </a:t>
            </a:r>
            <a:r>
              <a:rPr lang="en-US" sz="6400" dirty="0" err="1">
                <a:latin typeface="Cambria"/>
                <a:ea typeface="Cambria"/>
                <a:cs typeface="Cambria"/>
                <a:sym typeface="Cambria"/>
              </a:rPr>
              <a:t>cadrul</a:t>
            </a:r>
            <a:r>
              <a:rPr lang="en-US" sz="6400" dirty="0">
                <a:latin typeface="Cambria"/>
                <a:ea typeface="Cambria"/>
                <a:cs typeface="Cambria"/>
                <a:sym typeface="Cambria"/>
              </a:rPr>
              <a:t> </a:t>
            </a:r>
            <a:r>
              <a:rPr lang="en-US" sz="6400" dirty="0" err="1">
                <a:latin typeface="Cambria"/>
                <a:ea typeface="Cambria"/>
                <a:cs typeface="Cambria"/>
                <a:sym typeface="Cambria"/>
              </a:rPr>
              <a:t>negocierilor</a:t>
            </a:r>
            <a:r>
              <a:rPr lang="en-US" sz="6400" dirty="0">
                <a:latin typeface="Cambria"/>
                <a:ea typeface="Cambria"/>
                <a:cs typeface="Cambria"/>
                <a:sym typeface="Cambria"/>
              </a:rPr>
              <a:t>, </a:t>
            </a:r>
            <a:r>
              <a:rPr lang="en-US" sz="6400" dirty="0" err="1">
                <a:latin typeface="Cambria"/>
                <a:ea typeface="Cambria"/>
                <a:cs typeface="Cambria"/>
                <a:sym typeface="Cambria"/>
              </a:rPr>
              <a:t>inclusiv</a:t>
            </a:r>
            <a:r>
              <a:rPr lang="en-US" sz="6400" dirty="0">
                <a:latin typeface="Cambria"/>
                <a:ea typeface="Cambria"/>
                <a:cs typeface="Cambria"/>
                <a:sym typeface="Cambria"/>
              </a:rPr>
              <a:t> </a:t>
            </a:r>
            <a:r>
              <a:rPr lang="en-US" sz="6400" dirty="0" err="1">
                <a:latin typeface="Cambria"/>
                <a:ea typeface="Cambria"/>
                <a:cs typeface="Cambria"/>
                <a:sym typeface="Cambria"/>
              </a:rPr>
              <a:t>participarea</a:t>
            </a:r>
            <a:r>
              <a:rPr lang="en-US" sz="6400" dirty="0">
                <a:latin typeface="Cambria"/>
                <a:ea typeface="Cambria"/>
                <a:cs typeface="Cambria"/>
                <a:sym typeface="Cambria"/>
              </a:rPr>
              <a:t> la </a:t>
            </a:r>
            <a:r>
              <a:rPr lang="en-US" sz="6400" dirty="0" err="1">
                <a:latin typeface="Cambria"/>
                <a:ea typeface="Cambria"/>
                <a:cs typeface="Cambria"/>
                <a:sym typeface="Cambria"/>
              </a:rPr>
              <a:t>întâlniri</a:t>
            </a:r>
            <a:r>
              <a:rPr lang="en-US" sz="6400" dirty="0">
                <a:latin typeface="Cambria"/>
                <a:ea typeface="Cambria"/>
                <a:cs typeface="Cambria"/>
                <a:sym typeface="Cambria"/>
              </a:rPr>
              <a:t>, </a:t>
            </a:r>
            <a:r>
              <a:rPr lang="en-US" sz="6400" dirty="0" err="1">
                <a:latin typeface="Cambria"/>
                <a:ea typeface="Cambria"/>
                <a:cs typeface="Cambria"/>
                <a:sym typeface="Cambria"/>
              </a:rPr>
              <a:t>fizic</a:t>
            </a:r>
            <a:r>
              <a:rPr lang="en-US" sz="6400" dirty="0">
                <a:latin typeface="Cambria"/>
                <a:ea typeface="Cambria"/>
                <a:cs typeface="Cambria"/>
                <a:sym typeface="Cambria"/>
              </a:rPr>
              <a:t> </a:t>
            </a:r>
            <a:r>
              <a:rPr lang="en-US" sz="6400" dirty="0" err="1">
                <a:latin typeface="Cambria"/>
                <a:ea typeface="Cambria"/>
                <a:cs typeface="Cambria"/>
                <a:sym typeface="Cambria"/>
              </a:rPr>
              <a:t>sau</a:t>
            </a:r>
            <a:r>
              <a:rPr lang="en-US" sz="6400" dirty="0">
                <a:latin typeface="Cambria"/>
                <a:ea typeface="Cambria"/>
                <a:cs typeface="Cambria"/>
                <a:sym typeface="Cambria"/>
              </a:rPr>
              <a:t> </a:t>
            </a:r>
            <a:r>
              <a:rPr lang="en-US" sz="6400" dirty="0" err="1">
                <a:latin typeface="Cambria"/>
                <a:ea typeface="Cambria"/>
                <a:cs typeface="Cambria"/>
                <a:sym typeface="Cambria"/>
              </a:rPr>
              <a:t>prin</a:t>
            </a:r>
            <a:r>
              <a:rPr lang="en-US" sz="6400" dirty="0">
                <a:latin typeface="Cambria"/>
                <a:ea typeface="Cambria"/>
                <a:cs typeface="Cambria"/>
                <a:sym typeface="Cambria"/>
              </a:rPr>
              <a:t> </a:t>
            </a:r>
            <a:r>
              <a:rPr lang="en-US" sz="6400" dirty="0" err="1">
                <a:latin typeface="Cambria"/>
                <a:ea typeface="Cambria"/>
                <a:cs typeface="Cambria"/>
                <a:sym typeface="Cambria"/>
              </a:rPr>
              <a:t>videoconferință</a:t>
            </a:r>
            <a:r>
              <a:rPr lang="en-US" sz="6400" dirty="0">
                <a:latin typeface="Cambria"/>
                <a:ea typeface="Cambria"/>
                <a:cs typeface="Cambria"/>
                <a:sym typeface="Cambria"/>
              </a:rPr>
              <a:t>. </a:t>
            </a:r>
            <a:r>
              <a:rPr lang="en-US" sz="6400" b="1" dirty="0" err="1">
                <a:latin typeface="Cambria"/>
                <a:ea typeface="Cambria"/>
                <a:cs typeface="Cambria"/>
                <a:sym typeface="Cambria"/>
              </a:rPr>
              <a:t>Notă</a:t>
            </a:r>
            <a:r>
              <a:rPr lang="en-US" sz="6400" b="1" dirty="0">
                <a:latin typeface="Cambria"/>
                <a:ea typeface="Cambria"/>
                <a:cs typeface="Cambria"/>
                <a:sym typeface="Cambria"/>
              </a:rPr>
              <a:t>: Nu </a:t>
            </a:r>
            <a:r>
              <a:rPr lang="en-US" sz="6400" b="1" dirty="0" err="1">
                <a:latin typeface="Cambria"/>
                <a:ea typeface="Cambria"/>
                <a:cs typeface="Cambria"/>
                <a:sym typeface="Cambria"/>
              </a:rPr>
              <a:t>vom</a:t>
            </a:r>
            <a:r>
              <a:rPr lang="en-US" sz="6400" b="1" dirty="0">
                <a:latin typeface="Cambria"/>
                <a:ea typeface="Cambria"/>
                <a:cs typeface="Cambria"/>
                <a:sym typeface="Cambria"/>
              </a:rPr>
              <a:t> </a:t>
            </a:r>
            <a:r>
              <a:rPr lang="en-US" sz="6400" b="1" dirty="0" err="1">
                <a:latin typeface="Cambria"/>
                <a:ea typeface="Cambria"/>
                <a:cs typeface="Cambria"/>
                <a:sym typeface="Cambria"/>
              </a:rPr>
              <a:t>oferi</a:t>
            </a:r>
            <a:r>
              <a:rPr lang="en-US" sz="6400" b="1" dirty="0">
                <a:latin typeface="Cambria"/>
                <a:ea typeface="Cambria"/>
                <a:cs typeface="Cambria"/>
                <a:sym typeface="Cambria"/>
              </a:rPr>
              <a:t> </a:t>
            </a:r>
            <a:r>
              <a:rPr lang="en-US" sz="6400" b="1" dirty="0" err="1">
                <a:latin typeface="Cambria"/>
                <a:ea typeface="Cambria"/>
                <a:cs typeface="Cambria"/>
                <a:sym typeface="Cambria"/>
              </a:rPr>
              <a:t>asistență</a:t>
            </a:r>
            <a:r>
              <a:rPr lang="en-US" sz="6400" b="1" dirty="0">
                <a:latin typeface="Cambria"/>
                <a:ea typeface="Cambria"/>
                <a:cs typeface="Cambria"/>
                <a:sym typeface="Cambria"/>
              </a:rPr>
              <a:t> pe </a:t>
            </a:r>
            <a:r>
              <a:rPr lang="en-US" sz="6400" b="1" dirty="0" err="1">
                <a:latin typeface="Cambria"/>
                <a:ea typeface="Cambria"/>
                <a:cs typeface="Cambria"/>
                <a:sym typeface="Cambria"/>
              </a:rPr>
              <a:t>nici</a:t>
            </a:r>
            <a:r>
              <a:rPr lang="en-US" sz="6400" b="1" dirty="0">
                <a:latin typeface="Cambria"/>
                <a:ea typeface="Cambria"/>
                <a:cs typeface="Cambria"/>
                <a:sym typeface="Cambria"/>
              </a:rPr>
              <a:t> </a:t>
            </a:r>
            <a:r>
              <a:rPr lang="en-US" sz="6400" b="1" dirty="0" err="1">
                <a:latin typeface="Cambria"/>
                <a:ea typeface="Cambria"/>
                <a:cs typeface="Cambria"/>
                <a:sym typeface="Cambria"/>
              </a:rPr>
              <a:t>unul</a:t>
            </a:r>
            <a:r>
              <a:rPr lang="en-US" sz="6400" b="1" dirty="0">
                <a:latin typeface="Cambria"/>
                <a:ea typeface="Cambria"/>
                <a:cs typeface="Cambria"/>
                <a:sym typeface="Cambria"/>
              </a:rPr>
              <a:t> din </a:t>
            </a:r>
            <a:r>
              <a:rPr lang="en-US" sz="6400" b="1" dirty="0" err="1">
                <a:latin typeface="Cambria"/>
                <a:ea typeface="Cambria"/>
                <a:cs typeface="Cambria"/>
                <a:sym typeface="Cambria"/>
              </a:rPr>
              <a:t>aspecte</a:t>
            </a:r>
            <a:r>
              <a:rPr lang="en-US" sz="6400" b="1" dirty="0">
                <a:latin typeface="Cambria"/>
                <a:ea typeface="Cambria"/>
                <a:cs typeface="Cambria"/>
                <a:sym typeface="Cambria"/>
              </a:rPr>
              <a:t> legate de </a:t>
            </a:r>
            <a:r>
              <a:rPr lang="en-US" sz="6400" b="1" dirty="0" err="1">
                <a:latin typeface="Cambria"/>
                <a:ea typeface="Cambria"/>
                <a:cs typeface="Cambria"/>
                <a:sym typeface="Cambria"/>
              </a:rPr>
              <a:t>aplicarea</a:t>
            </a:r>
            <a:r>
              <a:rPr lang="en-US" sz="6400" b="1" dirty="0">
                <a:latin typeface="Cambria"/>
                <a:ea typeface="Cambria"/>
                <a:cs typeface="Cambria"/>
                <a:sym typeface="Cambria"/>
              </a:rPr>
              <a:t> </a:t>
            </a:r>
            <a:r>
              <a:rPr lang="en-US" sz="6400" b="1" dirty="0" err="1">
                <a:latin typeface="Cambria"/>
                <a:ea typeface="Cambria"/>
                <a:cs typeface="Cambria"/>
                <a:sym typeface="Cambria"/>
              </a:rPr>
              <a:t>dreptului</a:t>
            </a:r>
            <a:r>
              <a:rPr lang="en-US" sz="6400" b="1" dirty="0">
                <a:latin typeface="Cambria"/>
                <a:ea typeface="Cambria"/>
                <a:cs typeface="Cambria"/>
                <a:sym typeface="Cambria"/>
              </a:rPr>
              <a:t> </a:t>
            </a:r>
            <a:r>
              <a:rPr lang="en-US" sz="6400" b="1" dirty="0" err="1">
                <a:latin typeface="Cambria"/>
                <a:ea typeface="Cambria"/>
                <a:cs typeface="Cambria"/>
                <a:sym typeface="Cambria"/>
              </a:rPr>
              <a:t>englez</a:t>
            </a:r>
            <a:endParaRPr dirty="0"/>
          </a:p>
          <a:p>
            <a:pPr marL="250203" lvl="0" indent="-148603" algn="just" rtl="0">
              <a:lnSpc>
                <a:spcPct val="90000"/>
              </a:lnSpc>
              <a:spcBef>
                <a:spcPts val="1095"/>
              </a:spcBef>
              <a:spcAft>
                <a:spcPts val="0"/>
              </a:spcAft>
              <a:buClr>
                <a:schemeClr val="dk1"/>
              </a:buClr>
              <a:buSzPct val="100000"/>
              <a:buFont typeface="Noto Sans Symbols"/>
              <a:buNone/>
            </a:pPr>
            <a:endParaRPr sz="6400" b="1"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b="1" dirty="0">
                <a:latin typeface="Cambria"/>
                <a:ea typeface="Cambria"/>
                <a:cs typeface="Cambria"/>
                <a:sym typeface="Cambria"/>
              </a:rPr>
              <a:t>b) </a:t>
            </a:r>
            <a:r>
              <a:rPr lang="en-US" sz="6400" b="1" dirty="0" err="1">
                <a:latin typeface="Cambria"/>
                <a:ea typeface="Cambria"/>
                <a:cs typeface="Cambria"/>
                <a:sym typeface="Cambria"/>
              </a:rPr>
              <a:t>Asistență</a:t>
            </a:r>
            <a:r>
              <a:rPr lang="en-US" sz="6400" b="1" dirty="0">
                <a:latin typeface="Cambria"/>
                <a:ea typeface="Cambria"/>
                <a:cs typeface="Cambria"/>
                <a:sym typeface="Cambria"/>
              </a:rPr>
              <a:t> </a:t>
            </a:r>
            <a:r>
              <a:rPr lang="en-US" sz="6400" b="1" dirty="0" err="1">
                <a:latin typeface="Cambria"/>
                <a:ea typeface="Cambria"/>
                <a:cs typeface="Cambria"/>
                <a:sym typeface="Cambria"/>
              </a:rPr>
              <a:t>juridică</a:t>
            </a:r>
            <a:r>
              <a:rPr lang="en-US" sz="6400" b="1" dirty="0">
                <a:latin typeface="Cambria"/>
                <a:ea typeface="Cambria"/>
                <a:cs typeface="Cambria"/>
                <a:sym typeface="Cambria"/>
              </a:rPr>
              <a:t> </a:t>
            </a:r>
            <a:r>
              <a:rPr lang="en-US" sz="6400" b="1" dirty="0" err="1">
                <a:latin typeface="Cambria"/>
                <a:ea typeface="Cambria"/>
                <a:cs typeface="Cambria"/>
                <a:sym typeface="Cambria"/>
              </a:rPr>
              <a:t>între</a:t>
            </a:r>
            <a:r>
              <a:rPr lang="en-US" sz="6400" b="1" dirty="0">
                <a:latin typeface="Cambria"/>
                <a:ea typeface="Cambria"/>
                <a:cs typeface="Cambria"/>
                <a:sym typeface="Cambria"/>
              </a:rPr>
              <a:t> </a:t>
            </a:r>
            <a:r>
              <a:rPr lang="en-US" sz="6400" b="1" dirty="0" err="1">
                <a:latin typeface="Cambria"/>
                <a:ea typeface="Cambria"/>
                <a:cs typeface="Cambria"/>
                <a:sym typeface="Cambria"/>
              </a:rPr>
              <a:t>semnare</a:t>
            </a:r>
            <a:r>
              <a:rPr lang="en-US" sz="6400" b="1" dirty="0">
                <a:latin typeface="Cambria"/>
                <a:ea typeface="Cambria"/>
                <a:cs typeface="Cambria"/>
                <a:sym typeface="Cambria"/>
              </a:rPr>
              <a:t> </a:t>
            </a:r>
            <a:r>
              <a:rPr lang="en-US" sz="6400" b="1" dirty="0" err="1">
                <a:latin typeface="Cambria"/>
                <a:ea typeface="Cambria"/>
                <a:cs typeface="Cambria"/>
                <a:sym typeface="Cambria"/>
              </a:rPr>
              <a:t>și</a:t>
            </a:r>
            <a:r>
              <a:rPr lang="en-US" sz="6400" b="1" dirty="0">
                <a:latin typeface="Cambria"/>
                <a:ea typeface="Cambria"/>
                <a:cs typeface="Cambria"/>
                <a:sym typeface="Cambria"/>
              </a:rPr>
              <a:t> </a:t>
            </a:r>
            <a:r>
              <a:rPr lang="en-US" sz="6400" b="1" dirty="0" err="1">
                <a:latin typeface="Cambria"/>
                <a:ea typeface="Cambria"/>
                <a:cs typeface="Cambria"/>
                <a:sym typeface="Cambria"/>
              </a:rPr>
              <a:t>finalizare</a:t>
            </a: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dirty="0" err="1">
                <a:latin typeface="Cambria"/>
                <a:ea typeface="Cambria"/>
                <a:cs typeface="Cambria"/>
                <a:sym typeface="Cambria"/>
              </a:rPr>
              <a:t>Acordarea</a:t>
            </a:r>
            <a:r>
              <a:rPr lang="en-US" sz="6400" dirty="0">
                <a:latin typeface="Cambria"/>
                <a:ea typeface="Cambria"/>
                <a:cs typeface="Cambria"/>
                <a:sym typeface="Cambria"/>
              </a:rPr>
              <a:t> de </a:t>
            </a:r>
            <a:r>
              <a:rPr lang="en-US" sz="6400" dirty="0" err="1">
                <a:latin typeface="Cambria"/>
                <a:ea typeface="Cambria"/>
                <a:cs typeface="Cambria"/>
                <a:sym typeface="Cambria"/>
              </a:rPr>
              <a:t>asistență</a:t>
            </a:r>
            <a:r>
              <a:rPr lang="en-US" sz="6400" dirty="0">
                <a:latin typeface="Cambria"/>
                <a:ea typeface="Cambria"/>
                <a:cs typeface="Cambria"/>
                <a:sym typeface="Cambria"/>
              </a:rPr>
              <a:t> </a:t>
            </a:r>
            <a:r>
              <a:rPr lang="en-US" sz="6400" dirty="0" err="1">
                <a:latin typeface="Cambria"/>
                <a:ea typeface="Cambria"/>
                <a:cs typeface="Cambria"/>
                <a:sym typeface="Cambria"/>
              </a:rPr>
              <a:t>juridică</a:t>
            </a:r>
            <a:r>
              <a:rPr lang="en-US" sz="6400" dirty="0">
                <a:latin typeface="Cambria"/>
                <a:ea typeface="Cambria"/>
                <a:cs typeface="Cambria"/>
                <a:sym typeface="Cambria"/>
              </a:rPr>
              <a:t> pe </a:t>
            </a:r>
            <a:r>
              <a:rPr lang="en-US" sz="6400" dirty="0" err="1">
                <a:latin typeface="Cambria"/>
                <a:ea typeface="Cambria"/>
                <a:cs typeface="Cambria"/>
                <a:sym typeface="Cambria"/>
              </a:rPr>
              <a:t>durata</a:t>
            </a:r>
            <a:r>
              <a:rPr lang="en-US" sz="6400" dirty="0">
                <a:latin typeface="Cambria"/>
                <a:ea typeface="Cambria"/>
                <a:cs typeface="Cambria"/>
                <a:sym typeface="Cambria"/>
              </a:rPr>
              <a:t> </a:t>
            </a:r>
            <a:r>
              <a:rPr lang="en-US" sz="6400" dirty="0" err="1">
                <a:latin typeface="Cambria"/>
                <a:ea typeface="Cambria"/>
                <a:cs typeface="Cambria"/>
                <a:sym typeface="Cambria"/>
              </a:rPr>
              <a:t>perioadei</a:t>
            </a:r>
            <a:r>
              <a:rPr lang="en-US" sz="6400" dirty="0">
                <a:latin typeface="Cambria"/>
                <a:ea typeface="Cambria"/>
                <a:cs typeface="Cambria"/>
                <a:sym typeface="Cambria"/>
              </a:rPr>
              <a:t> </a:t>
            </a:r>
            <a:r>
              <a:rPr lang="en-US" sz="6400" dirty="0" err="1">
                <a:latin typeface="Cambria"/>
                <a:ea typeface="Cambria"/>
                <a:cs typeface="Cambria"/>
                <a:sym typeface="Cambria"/>
              </a:rPr>
              <a:t>dintre</a:t>
            </a:r>
            <a:r>
              <a:rPr lang="en-US" sz="6400" dirty="0">
                <a:latin typeface="Cambria"/>
                <a:ea typeface="Cambria"/>
                <a:cs typeface="Cambria"/>
                <a:sym typeface="Cambria"/>
              </a:rPr>
              <a:t> </a:t>
            </a:r>
            <a:r>
              <a:rPr lang="en-US" sz="6400" dirty="0" err="1">
                <a:latin typeface="Cambria"/>
                <a:ea typeface="Cambria"/>
                <a:cs typeface="Cambria"/>
                <a:sym typeface="Cambria"/>
              </a:rPr>
              <a:t>semnarea</a:t>
            </a:r>
            <a:r>
              <a:rPr lang="en-US" sz="6400" dirty="0">
                <a:latin typeface="Cambria"/>
                <a:ea typeface="Cambria"/>
                <a:cs typeface="Cambria"/>
                <a:sym typeface="Cambria"/>
              </a:rPr>
              <a:t>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finalizarea</a:t>
            </a:r>
            <a:r>
              <a:rPr lang="en-US" sz="6400" dirty="0">
                <a:latin typeface="Cambria"/>
                <a:ea typeface="Cambria"/>
                <a:cs typeface="Cambria"/>
                <a:sym typeface="Cambria"/>
              </a:rPr>
              <a:t> </a:t>
            </a:r>
            <a:r>
              <a:rPr lang="en-US" sz="6400" dirty="0" err="1">
                <a:latin typeface="Cambria"/>
                <a:ea typeface="Cambria"/>
                <a:cs typeface="Cambria"/>
                <a:sym typeface="Cambria"/>
              </a:rPr>
              <a:t>tranzacției</a:t>
            </a:r>
            <a:r>
              <a:rPr lang="en-US" sz="6400" dirty="0">
                <a:latin typeface="Cambria"/>
                <a:ea typeface="Cambria"/>
                <a:cs typeface="Cambria"/>
                <a:sym typeface="Cambria"/>
              </a:rPr>
              <a:t>, </a:t>
            </a:r>
            <a:r>
              <a:rPr lang="en-US" sz="6400" dirty="0" err="1">
                <a:latin typeface="Cambria"/>
                <a:ea typeface="Cambria"/>
                <a:cs typeface="Cambria"/>
                <a:sym typeface="Cambria"/>
              </a:rPr>
              <a:t>inclusiv</a:t>
            </a:r>
            <a:r>
              <a:rPr lang="en-US" sz="6400" dirty="0">
                <a:latin typeface="Cambria"/>
                <a:ea typeface="Cambria"/>
                <a:cs typeface="Cambria"/>
                <a:sym typeface="Cambria"/>
              </a:rPr>
              <a:t>: </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elaborarea</a:t>
            </a:r>
            <a:r>
              <a:rPr lang="en-US" sz="6400" dirty="0">
                <a:latin typeface="Cambria"/>
                <a:ea typeface="Cambria"/>
                <a:cs typeface="Cambria"/>
                <a:sym typeface="Cambria"/>
              </a:rPr>
              <a:t> </a:t>
            </a:r>
            <a:r>
              <a:rPr lang="en-US" sz="6400" dirty="0" err="1">
                <a:latin typeface="Cambria"/>
                <a:ea typeface="Cambria"/>
                <a:cs typeface="Cambria"/>
                <a:sym typeface="Cambria"/>
              </a:rPr>
              <a:t>listelor</a:t>
            </a:r>
            <a:r>
              <a:rPr lang="en-US" sz="6400" dirty="0">
                <a:latin typeface="Cambria"/>
                <a:ea typeface="Cambria"/>
                <a:cs typeface="Cambria"/>
                <a:sym typeface="Cambria"/>
              </a:rPr>
              <a:t> de </a:t>
            </a:r>
            <a:r>
              <a:rPr lang="en-US" sz="6400" dirty="0" err="1">
                <a:latin typeface="Cambria"/>
                <a:ea typeface="Cambria"/>
                <a:cs typeface="Cambria"/>
                <a:sym typeface="Cambria"/>
              </a:rPr>
              <a:t>documente</a:t>
            </a:r>
            <a:r>
              <a:rPr lang="en-US" sz="6400" dirty="0">
                <a:latin typeface="Cambria"/>
                <a:ea typeface="Cambria"/>
                <a:cs typeface="Cambria"/>
                <a:sym typeface="Cambria"/>
              </a:rPr>
              <a:t> </a:t>
            </a:r>
            <a:r>
              <a:rPr lang="en-US" sz="6400" dirty="0" err="1">
                <a:latin typeface="Cambria"/>
                <a:ea typeface="Cambria"/>
                <a:cs typeface="Cambria"/>
                <a:sym typeface="Cambria"/>
              </a:rPr>
              <a:t>pentru</a:t>
            </a:r>
            <a:r>
              <a:rPr lang="en-US" sz="6400" dirty="0">
                <a:latin typeface="Cambria"/>
                <a:ea typeface="Cambria"/>
                <a:cs typeface="Cambria"/>
                <a:sym typeface="Cambria"/>
              </a:rPr>
              <a:t> </a:t>
            </a:r>
            <a:r>
              <a:rPr lang="en-US" sz="6400" dirty="0" err="1">
                <a:latin typeface="Cambria"/>
                <a:ea typeface="Cambria"/>
                <a:cs typeface="Cambria"/>
                <a:sym typeface="Cambria"/>
              </a:rPr>
              <a:t>semnare</a:t>
            </a:r>
            <a:r>
              <a:rPr lang="en-US" sz="6400" dirty="0">
                <a:latin typeface="Cambria"/>
                <a:ea typeface="Cambria"/>
                <a:cs typeface="Cambria"/>
                <a:sym typeface="Cambria"/>
              </a:rPr>
              <a:t>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finalizare</a:t>
            </a:r>
            <a:r>
              <a:rPr lang="en-US" sz="6400" dirty="0">
                <a:latin typeface="Cambria"/>
                <a:ea typeface="Cambria"/>
                <a:cs typeface="Cambria"/>
                <a:sym typeface="Cambria"/>
              </a:rPr>
              <a:t>;</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consultanță</a:t>
            </a:r>
            <a:r>
              <a:rPr lang="en-US" sz="6400" dirty="0">
                <a:latin typeface="Cambria"/>
                <a:ea typeface="Cambria"/>
                <a:cs typeface="Cambria"/>
                <a:sym typeface="Cambria"/>
              </a:rPr>
              <a:t> </a:t>
            </a:r>
            <a:r>
              <a:rPr lang="en-US" sz="6400" dirty="0" err="1">
                <a:latin typeface="Cambria"/>
                <a:ea typeface="Cambria"/>
                <a:cs typeface="Cambria"/>
                <a:sym typeface="Cambria"/>
              </a:rPr>
              <a:t>privind</a:t>
            </a:r>
            <a:r>
              <a:rPr lang="en-US" sz="6400" dirty="0">
                <a:latin typeface="Cambria"/>
                <a:ea typeface="Cambria"/>
                <a:cs typeface="Cambria"/>
                <a:sym typeface="Cambria"/>
              </a:rPr>
              <a:t> </a:t>
            </a:r>
            <a:r>
              <a:rPr lang="en-US" sz="6400" dirty="0" err="1">
                <a:latin typeface="Cambria"/>
                <a:ea typeface="Cambria"/>
                <a:cs typeface="Cambria"/>
                <a:sym typeface="Cambria"/>
              </a:rPr>
              <a:t>îndeplinirea</a:t>
            </a:r>
            <a:r>
              <a:rPr lang="en-US" sz="6400" dirty="0">
                <a:latin typeface="Cambria"/>
                <a:ea typeface="Cambria"/>
                <a:cs typeface="Cambria"/>
                <a:sym typeface="Cambria"/>
              </a:rPr>
              <a:t> </a:t>
            </a:r>
            <a:r>
              <a:rPr lang="en-US" sz="6400" dirty="0" err="1">
                <a:latin typeface="Cambria"/>
                <a:ea typeface="Cambria"/>
                <a:cs typeface="Cambria"/>
                <a:sym typeface="Cambria"/>
              </a:rPr>
              <a:t>condițiilor</a:t>
            </a:r>
            <a:r>
              <a:rPr lang="en-US" sz="6400" dirty="0">
                <a:latin typeface="Cambria"/>
                <a:ea typeface="Cambria"/>
                <a:cs typeface="Cambria"/>
                <a:sym typeface="Cambria"/>
              </a:rPr>
              <a:t> suspensive;</a:t>
            </a:r>
            <a:endParaRPr dirty="0"/>
          </a:p>
          <a:p>
            <a:pPr marL="1251014" lvl="2" indent="-250203" algn="l" rtl="0">
              <a:lnSpc>
                <a:spcPct val="90000"/>
              </a:lnSpc>
              <a:spcBef>
                <a:spcPts val="547"/>
              </a:spcBef>
              <a:spcAft>
                <a:spcPts val="0"/>
              </a:spcAft>
              <a:buClr>
                <a:schemeClr val="dk1"/>
              </a:buClr>
              <a:buSzPct val="100000"/>
              <a:buFont typeface="Noto Sans Symbols"/>
              <a:buChar char="▪"/>
            </a:pPr>
            <a:r>
              <a:rPr lang="en-US" sz="6400" dirty="0" err="1">
                <a:latin typeface="Cambria"/>
                <a:ea typeface="Cambria"/>
                <a:cs typeface="Cambria"/>
                <a:sym typeface="Cambria"/>
              </a:rPr>
              <a:t>asistență</a:t>
            </a:r>
            <a:r>
              <a:rPr lang="en-US" sz="6400" dirty="0">
                <a:latin typeface="Cambria"/>
                <a:ea typeface="Cambria"/>
                <a:cs typeface="Cambria"/>
                <a:sym typeface="Cambria"/>
              </a:rPr>
              <a:t> </a:t>
            </a:r>
            <a:r>
              <a:rPr lang="en-US" sz="6400" dirty="0" err="1">
                <a:latin typeface="Cambria"/>
                <a:ea typeface="Cambria"/>
                <a:cs typeface="Cambria"/>
                <a:sym typeface="Cambria"/>
              </a:rPr>
              <a:t>pentru</a:t>
            </a:r>
            <a:r>
              <a:rPr lang="en-US" sz="6400" dirty="0">
                <a:latin typeface="Cambria"/>
                <a:ea typeface="Cambria"/>
                <a:cs typeface="Cambria"/>
                <a:sym typeface="Cambria"/>
              </a:rPr>
              <a:t> </a:t>
            </a:r>
            <a:r>
              <a:rPr lang="en-US" sz="6400" dirty="0" err="1">
                <a:latin typeface="Cambria"/>
                <a:ea typeface="Cambria"/>
                <a:cs typeface="Cambria"/>
                <a:sym typeface="Cambria"/>
              </a:rPr>
              <a:t>notificări</a:t>
            </a:r>
            <a:r>
              <a:rPr lang="en-US" sz="6400" dirty="0">
                <a:latin typeface="Cambria"/>
                <a:ea typeface="Cambria"/>
                <a:cs typeface="Cambria"/>
                <a:sym typeface="Cambria"/>
              </a:rPr>
              <a:t>, </a:t>
            </a:r>
            <a:r>
              <a:rPr lang="en-US" sz="6400" dirty="0" err="1">
                <a:latin typeface="Cambria"/>
                <a:ea typeface="Cambria"/>
                <a:cs typeface="Cambria"/>
                <a:sym typeface="Cambria"/>
              </a:rPr>
              <a:t>aprobări</a:t>
            </a:r>
            <a:r>
              <a:rPr lang="en-US" sz="6400" dirty="0">
                <a:latin typeface="Cambria"/>
                <a:ea typeface="Cambria"/>
                <a:cs typeface="Cambria"/>
                <a:sym typeface="Cambria"/>
              </a:rPr>
              <a:t>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înregistrări</a:t>
            </a:r>
            <a:r>
              <a:rPr lang="en-US" sz="6400" dirty="0">
                <a:latin typeface="Cambria"/>
                <a:ea typeface="Cambria"/>
                <a:cs typeface="Cambria"/>
                <a:sym typeface="Cambria"/>
              </a:rPr>
              <a:t> </a:t>
            </a:r>
            <a:r>
              <a:rPr lang="en-US" sz="6400" dirty="0" err="1">
                <a:latin typeface="Cambria"/>
                <a:ea typeface="Cambria"/>
                <a:cs typeface="Cambria"/>
                <a:sym typeface="Cambria"/>
              </a:rPr>
              <a:t>necesare</a:t>
            </a:r>
            <a:r>
              <a:rPr lang="en-US" sz="6400" dirty="0">
                <a:latin typeface="Cambria"/>
                <a:ea typeface="Cambria"/>
                <a:cs typeface="Cambria"/>
                <a:sym typeface="Cambria"/>
              </a:rPr>
              <a:t> </a:t>
            </a:r>
            <a:r>
              <a:rPr lang="en-US" sz="6400" dirty="0" err="1">
                <a:latin typeface="Cambria"/>
                <a:ea typeface="Cambria"/>
                <a:cs typeface="Cambria"/>
                <a:sym typeface="Cambria"/>
              </a:rPr>
              <a:t>finalizării</a:t>
            </a:r>
            <a:r>
              <a:rPr lang="en-US" sz="6400" dirty="0">
                <a:latin typeface="Cambria"/>
                <a:ea typeface="Cambria"/>
                <a:cs typeface="Cambria"/>
                <a:sym typeface="Cambria"/>
              </a:rPr>
              <a:t> </a:t>
            </a:r>
            <a:r>
              <a:rPr lang="en-US" sz="6400" dirty="0" err="1">
                <a:latin typeface="Cambria"/>
                <a:ea typeface="Cambria"/>
                <a:cs typeface="Cambria"/>
                <a:sym typeface="Cambria"/>
              </a:rPr>
              <a:t>tranzacției</a:t>
            </a:r>
            <a:r>
              <a:rPr lang="en-US" sz="6400" dirty="0">
                <a:latin typeface="Cambria"/>
                <a:ea typeface="Cambria"/>
                <a:cs typeface="Cambria"/>
                <a:sym typeface="Cambria"/>
              </a:rPr>
              <a:t>.</a:t>
            </a:r>
            <a:endParaRPr dirty="0"/>
          </a:p>
          <a:p>
            <a:pPr marL="1251014" lvl="2" indent="-148603" algn="l" rtl="0">
              <a:lnSpc>
                <a:spcPct val="90000"/>
              </a:lnSpc>
              <a:spcBef>
                <a:spcPts val="547"/>
              </a:spcBef>
              <a:spcAft>
                <a:spcPts val="0"/>
              </a:spcAft>
              <a:buClr>
                <a:schemeClr val="dk1"/>
              </a:buClr>
              <a:buSzPct val="100000"/>
              <a:buFont typeface="Noto Sans Symbols"/>
              <a:buNone/>
            </a:pP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b="1" dirty="0">
                <a:latin typeface="Cambria"/>
                <a:ea typeface="Cambria"/>
                <a:cs typeface="Cambria"/>
                <a:sym typeface="Cambria"/>
              </a:rPr>
              <a:t>c) </a:t>
            </a:r>
            <a:r>
              <a:rPr lang="en-US" sz="6400" b="1" dirty="0" err="1">
                <a:latin typeface="Cambria"/>
                <a:ea typeface="Cambria"/>
                <a:cs typeface="Cambria"/>
                <a:sym typeface="Cambria"/>
              </a:rPr>
              <a:t>Asistență</a:t>
            </a:r>
            <a:r>
              <a:rPr lang="en-US" sz="6400" b="1" dirty="0">
                <a:latin typeface="Cambria"/>
                <a:ea typeface="Cambria"/>
                <a:cs typeface="Cambria"/>
                <a:sym typeface="Cambria"/>
              </a:rPr>
              <a:t> </a:t>
            </a:r>
            <a:r>
              <a:rPr lang="en-US" sz="6400" b="1" dirty="0" err="1">
                <a:latin typeface="Cambria"/>
                <a:ea typeface="Cambria"/>
                <a:cs typeface="Cambria"/>
                <a:sym typeface="Cambria"/>
              </a:rPr>
              <a:t>ulterioară</a:t>
            </a:r>
            <a:r>
              <a:rPr lang="en-US" sz="6400" b="1" dirty="0">
                <a:latin typeface="Cambria"/>
                <a:ea typeface="Cambria"/>
                <a:cs typeface="Cambria"/>
                <a:sym typeface="Cambria"/>
              </a:rPr>
              <a:t> </a:t>
            </a:r>
            <a:r>
              <a:rPr lang="en-US" sz="6400" b="1" dirty="0" err="1">
                <a:latin typeface="Cambria"/>
                <a:ea typeface="Cambria"/>
                <a:cs typeface="Cambria"/>
                <a:sym typeface="Cambria"/>
              </a:rPr>
              <a:t>finalizării</a:t>
            </a:r>
            <a:r>
              <a:rPr lang="en-US" sz="6400" b="1" dirty="0">
                <a:latin typeface="Cambria"/>
                <a:ea typeface="Cambria"/>
                <a:cs typeface="Cambria"/>
                <a:sym typeface="Cambria"/>
              </a:rPr>
              <a:t> </a:t>
            </a:r>
            <a:r>
              <a:rPr lang="en-US" sz="6400" b="1" dirty="0" err="1">
                <a:latin typeface="Cambria"/>
                <a:ea typeface="Cambria"/>
                <a:cs typeface="Cambria"/>
                <a:sym typeface="Cambria"/>
              </a:rPr>
              <a:t>tranzacției</a:t>
            </a:r>
            <a:endParaRPr sz="6400" dirty="0">
              <a:latin typeface="Cambria"/>
              <a:ea typeface="Cambria"/>
              <a:cs typeface="Cambria"/>
              <a:sym typeface="Cambria"/>
            </a:endParaRPr>
          </a:p>
          <a:p>
            <a:pPr marL="500405" lvl="1" indent="0" algn="l" rtl="0">
              <a:lnSpc>
                <a:spcPct val="90000"/>
              </a:lnSpc>
              <a:spcBef>
                <a:spcPts val="547"/>
              </a:spcBef>
              <a:spcAft>
                <a:spcPts val="0"/>
              </a:spcAft>
              <a:buClr>
                <a:schemeClr val="dk1"/>
              </a:buClr>
              <a:buSzPct val="100000"/>
              <a:buNone/>
            </a:pPr>
            <a:r>
              <a:rPr lang="en-US" sz="6400" dirty="0" err="1">
                <a:latin typeface="Cambria"/>
                <a:ea typeface="Cambria"/>
                <a:cs typeface="Cambria"/>
                <a:sym typeface="Cambria"/>
              </a:rPr>
              <a:t>Acordarea</a:t>
            </a:r>
            <a:r>
              <a:rPr lang="en-US" sz="6400" dirty="0">
                <a:latin typeface="Cambria"/>
                <a:ea typeface="Cambria"/>
                <a:cs typeface="Cambria"/>
                <a:sym typeface="Cambria"/>
              </a:rPr>
              <a:t> de </a:t>
            </a:r>
            <a:r>
              <a:rPr lang="en-US" sz="6400" dirty="0" err="1">
                <a:latin typeface="Cambria"/>
                <a:ea typeface="Cambria"/>
                <a:cs typeface="Cambria"/>
                <a:sym typeface="Cambria"/>
              </a:rPr>
              <a:t>asistență</a:t>
            </a:r>
            <a:r>
              <a:rPr lang="en-US" sz="6400" dirty="0">
                <a:latin typeface="Cambria"/>
                <a:ea typeface="Cambria"/>
                <a:cs typeface="Cambria"/>
                <a:sym typeface="Cambria"/>
              </a:rPr>
              <a:t> </a:t>
            </a:r>
            <a:r>
              <a:rPr lang="en-US" sz="6400" dirty="0" err="1">
                <a:latin typeface="Cambria"/>
                <a:ea typeface="Cambria"/>
                <a:cs typeface="Cambria"/>
                <a:sym typeface="Cambria"/>
              </a:rPr>
              <a:t>juridică</a:t>
            </a:r>
            <a:r>
              <a:rPr lang="en-US" sz="6400" dirty="0">
                <a:latin typeface="Cambria"/>
                <a:ea typeface="Cambria"/>
                <a:cs typeface="Cambria"/>
                <a:sym typeface="Cambria"/>
              </a:rPr>
              <a:t> </a:t>
            </a:r>
            <a:r>
              <a:rPr lang="en-US" sz="6400" dirty="0" err="1">
                <a:latin typeface="Cambria"/>
                <a:ea typeface="Cambria"/>
                <a:cs typeface="Cambria"/>
                <a:sym typeface="Cambria"/>
              </a:rPr>
              <a:t>pentru</a:t>
            </a:r>
            <a:r>
              <a:rPr lang="en-US" sz="6400" dirty="0">
                <a:latin typeface="Cambria"/>
                <a:ea typeface="Cambria"/>
                <a:cs typeface="Cambria"/>
                <a:sym typeface="Cambria"/>
              </a:rPr>
              <a:t> </a:t>
            </a:r>
            <a:r>
              <a:rPr lang="en-US" sz="6400" dirty="0" err="1">
                <a:latin typeface="Cambria"/>
                <a:ea typeface="Cambria"/>
                <a:cs typeface="Cambria"/>
                <a:sym typeface="Cambria"/>
              </a:rPr>
              <a:t>îndeplinirea</a:t>
            </a:r>
            <a:r>
              <a:rPr lang="en-US" sz="6400" dirty="0">
                <a:latin typeface="Cambria"/>
                <a:ea typeface="Cambria"/>
                <a:cs typeface="Cambria"/>
                <a:sym typeface="Cambria"/>
              </a:rPr>
              <a:t> </a:t>
            </a:r>
            <a:r>
              <a:rPr lang="en-US" sz="6400" dirty="0" err="1">
                <a:latin typeface="Cambria"/>
                <a:ea typeface="Cambria"/>
                <a:cs typeface="Cambria"/>
                <a:sym typeface="Cambria"/>
              </a:rPr>
              <a:t>formalităților</a:t>
            </a:r>
            <a:r>
              <a:rPr lang="en-US" sz="6400" dirty="0">
                <a:latin typeface="Cambria"/>
                <a:ea typeface="Cambria"/>
                <a:cs typeface="Cambria"/>
                <a:sym typeface="Cambria"/>
              </a:rPr>
              <a:t> post-</a:t>
            </a:r>
            <a:r>
              <a:rPr lang="en-US" sz="6400" dirty="0" err="1">
                <a:latin typeface="Cambria"/>
                <a:ea typeface="Cambria"/>
                <a:cs typeface="Cambria"/>
                <a:sym typeface="Cambria"/>
              </a:rPr>
              <a:t>tranzacție</a:t>
            </a:r>
            <a:r>
              <a:rPr lang="en-US" sz="6400" dirty="0">
                <a:latin typeface="Cambria"/>
                <a:ea typeface="Cambria"/>
                <a:cs typeface="Cambria"/>
                <a:sym typeface="Cambria"/>
              </a:rPr>
              <a:t>, </a:t>
            </a:r>
            <a:r>
              <a:rPr lang="en-US" sz="6400" dirty="0" err="1">
                <a:latin typeface="Cambria"/>
                <a:ea typeface="Cambria"/>
                <a:cs typeface="Cambria"/>
                <a:sym typeface="Cambria"/>
              </a:rPr>
              <a:t>înregistrarea</a:t>
            </a:r>
            <a:r>
              <a:rPr lang="en-US" sz="6400" dirty="0">
                <a:latin typeface="Cambria"/>
                <a:ea typeface="Cambria"/>
                <a:cs typeface="Cambria"/>
                <a:sym typeface="Cambria"/>
              </a:rPr>
              <a:t> </a:t>
            </a:r>
            <a:r>
              <a:rPr lang="en-US" sz="6400" dirty="0" err="1">
                <a:latin typeface="Cambria"/>
                <a:ea typeface="Cambria"/>
                <a:cs typeface="Cambria"/>
                <a:sym typeface="Cambria"/>
              </a:rPr>
              <a:t>drepturilor</a:t>
            </a:r>
            <a:r>
              <a:rPr lang="en-US" sz="6400" dirty="0">
                <a:latin typeface="Cambria"/>
                <a:ea typeface="Cambria"/>
                <a:cs typeface="Cambria"/>
                <a:sym typeface="Cambria"/>
              </a:rPr>
              <a:t> </a:t>
            </a:r>
            <a:r>
              <a:rPr lang="en-US" sz="6400" dirty="0" err="1">
                <a:latin typeface="Cambria"/>
                <a:ea typeface="Cambria"/>
                <a:cs typeface="Cambria"/>
                <a:sym typeface="Cambria"/>
              </a:rPr>
              <a:t>dobândite</a:t>
            </a:r>
            <a:r>
              <a:rPr lang="en-US" sz="6400" dirty="0">
                <a:latin typeface="Cambria"/>
                <a:ea typeface="Cambria"/>
                <a:cs typeface="Cambria"/>
                <a:sym typeface="Cambria"/>
              </a:rPr>
              <a:t> </a:t>
            </a:r>
            <a:r>
              <a:rPr lang="en-US" sz="6400" dirty="0" err="1">
                <a:latin typeface="Cambria"/>
                <a:ea typeface="Cambria"/>
                <a:cs typeface="Cambria"/>
                <a:sym typeface="Cambria"/>
              </a:rPr>
              <a:t>și</a:t>
            </a:r>
            <a:r>
              <a:rPr lang="en-US" sz="6400" dirty="0">
                <a:latin typeface="Cambria"/>
                <a:ea typeface="Cambria"/>
                <a:cs typeface="Cambria"/>
                <a:sym typeface="Cambria"/>
              </a:rPr>
              <a:t> </a:t>
            </a:r>
            <a:r>
              <a:rPr lang="en-US" sz="6400" dirty="0" err="1">
                <a:latin typeface="Cambria"/>
                <a:ea typeface="Cambria"/>
                <a:cs typeface="Cambria"/>
                <a:sym typeface="Cambria"/>
              </a:rPr>
              <a:t>implementarea</a:t>
            </a:r>
            <a:r>
              <a:rPr lang="en-US" sz="6400" dirty="0">
                <a:latin typeface="Cambria"/>
                <a:ea typeface="Cambria"/>
                <a:cs typeface="Cambria"/>
                <a:sym typeface="Cambria"/>
              </a:rPr>
              <a:t> </a:t>
            </a:r>
            <a:r>
              <a:rPr lang="en-US" sz="6400" dirty="0" err="1">
                <a:latin typeface="Cambria"/>
                <a:ea typeface="Cambria"/>
                <a:cs typeface="Cambria"/>
                <a:sym typeface="Cambria"/>
              </a:rPr>
              <a:t>măsurilor</a:t>
            </a:r>
            <a:r>
              <a:rPr lang="en-US" sz="6400" dirty="0">
                <a:latin typeface="Cambria"/>
                <a:ea typeface="Cambria"/>
                <a:cs typeface="Cambria"/>
                <a:sym typeface="Cambria"/>
              </a:rPr>
              <a:t> </a:t>
            </a:r>
            <a:r>
              <a:rPr lang="en-US" sz="6400" dirty="0" err="1">
                <a:latin typeface="Cambria"/>
                <a:ea typeface="Cambria"/>
                <a:cs typeface="Cambria"/>
                <a:sym typeface="Cambria"/>
              </a:rPr>
              <a:t>convenite</a:t>
            </a:r>
            <a:r>
              <a:rPr lang="en-US" sz="6400" dirty="0">
                <a:latin typeface="Cambria"/>
                <a:ea typeface="Cambria"/>
                <a:cs typeface="Cambria"/>
                <a:sym typeface="Cambria"/>
              </a:rPr>
              <a:t> </a:t>
            </a:r>
            <a:r>
              <a:rPr lang="en-US" sz="6400" dirty="0" err="1">
                <a:latin typeface="Cambria"/>
                <a:ea typeface="Cambria"/>
                <a:cs typeface="Cambria"/>
                <a:sym typeface="Cambria"/>
              </a:rPr>
              <a:t>după</a:t>
            </a:r>
            <a:r>
              <a:rPr lang="en-US" sz="6400" dirty="0">
                <a:latin typeface="Cambria"/>
                <a:ea typeface="Cambria"/>
                <a:cs typeface="Cambria"/>
                <a:sym typeface="Cambria"/>
              </a:rPr>
              <a:t> </a:t>
            </a:r>
            <a:r>
              <a:rPr lang="en-US" sz="6400" dirty="0" err="1">
                <a:latin typeface="Cambria"/>
                <a:ea typeface="Cambria"/>
                <a:cs typeface="Cambria"/>
                <a:sym typeface="Cambria"/>
              </a:rPr>
              <a:t>finalizarea</a:t>
            </a:r>
            <a:r>
              <a:rPr lang="en-US" sz="6400" dirty="0">
                <a:latin typeface="Cambria"/>
                <a:ea typeface="Cambria"/>
                <a:cs typeface="Cambria"/>
                <a:sym typeface="Cambria"/>
              </a:rPr>
              <a:t> </a:t>
            </a:r>
            <a:r>
              <a:rPr lang="en-US" sz="6400" dirty="0" err="1">
                <a:latin typeface="Cambria"/>
                <a:ea typeface="Cambria"/>
                <a:cs typeface="Cambria"/>
                <a:sym typeface="Cambria"/>
              </a:rPr>
              <a:t>tranzacției</a:t>
            </a:r>
            <a:r>
              <a:rPr lang="en-US" sz="6400" dirty="0">
                <a:latin typeface="Cambria"/>
                <a:ea typeface="Cambria"/>
                <a:cs typeface="Cambria"/>
                <a:sym typeface="Cambria"/>
              </a:rPr>
              <a:t>.</a:t>
            </a:r>
            <a:endParaRPr lang="en-US"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1: </a:t>
            </a:r>
            <a:r>
              <a:rPr lang="en-US" sz="1400" b="1">
                <a:solidFill>
                  <a:schemeClr val="dk1"/>
                </a:solidFill>
                <a:latin typeface="Cambria"/>
                <a:ea typeface="Cambria"/>
                <a:cs typeface="Cambria"/>
                <a:sym typeface="Cambria"/>
              </a:rPr>
              <a:t> Descrierea serviciilor</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extLst>
      <p:ext uri="{BB962C8B-B14F-4D97-AF65-F5344CB8AC3E}">
        <p14:creationId xmlns:p14="http://schemas.microsoft.com/office/powerpoint/2010/main" val="60893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
          <p:cNvSpPr txBox="1">
            <a:spLocks noGrp="1"/>
          </p:cNvSpPr>
          <p:nvPr>
            <p:ph type="body" idx="1"/>
          </p:nvPr>
        </p:nvSpPr>
        <p:spPr>
          <a:xfrm>
            <a:off x="750629" y="1181224"/>
            <a:ext cx="12237583" cy="6659889"/>
          </a:xfrm>
          <a:prstGeom prst="rect">
            <a:avLst/>
          </a:prstGeom>
          <a:noFill/>
          <a:ln>
            <a:noFill/>
          </a:ln>
        </p:spPr>
        <p:txBody>
          <a:bodyPr spcFirstLastPara="1" wrap="square" lIns="91425" tIns="45700" rIns="91425" bIns="45700" anchor="ctr" anchorCtr="0">
            <a:normAutofit fontScale="97500"/>
          </a:bodyPr>
          <a:lstStyle/>
          <a:p>
            <a:pPr marL="500405" lvl="1" indent="0" algn="just" rtl="0">
              <a:lnSpc>
                <a:spcPct val="90000"/>
              </a:lnSpc>
              <a:spcBef>
                <a:spcPts val="547"/>
              </a:spcBef>
              <a:spcAft>
                <a:spcPts val="0"/>
              </a:spcAft>
              <a:buClr>
                <a:srgbClr val="C00000"/>
              </a:buClr>
              <a:buSzPct val="100000"/>
              <a:buNone/>
            </a:pPr>
            <a:r>
              <a:rPr lang="en-US" sz="2800" b="1" dirty="0">
                <a:solidFill>
                  <a:srgbClr val="C00000"/>
                </a:solidFill>
                <a:latin typeface="Cambria"/>
                <a:ea typeface="Cambria"/>
                <a:cs typeface="Cambria"/>
                <a:sym typeface="Cambria"/>
              </a:rPr>
              <a:t>Etapa a III-a (</a:t>
            </a:r>
            <a:r>
              <a:rPr lang="en-US" sz="2800" b="1" dirty="0" err="1">
                <a:solidFill>
                  <a:srgbClr val="C00000"/>
                </a:solidFill>
                <a:latin typeface="Cambria"/>
                <a:ea typeface="Cambria"/>
                <a:cs typeface="Cambria"/>
                <a:sym typeface="Cambria"/>
              </a:rPr>
              <a:t>necesită</a:t>
            </a:r>
            <a:r>
              <a:rPr lang="en-US" sz="2800" b="1" dirty="0">
                <a:solidFill>
                  <a:srgbClr val="C00000"/>
                </a:solidFill>
                <a:latin typeface="Cambria"/>
                <a:ea typeface="Cambria"/>
                <a:cs typeface="Cambria"/>
                <a:sym typeface="Cambria"/>
              </a:rPr>
              <a:t> </a:t>
            </a:r>
            <a:r>
              <a:rPr lang="en-US" sz="2800" b="1" dirty="0" err="1">
                <a:solidFill>
                  <a:srgbClr val="C00000"/>
                </a:solidFill>
                <a:latin typeface="Cambria"/>
                <a:ea typeface="Cambria"/>
                <a:cs typeface="Cambria"/>
                <a:sym typeface="Cambria"/>
              </a:rPr>
              <a:t>analiză</a:t>
            </a:r>
            <a:r>
              <a:rPr lang="en-US" sz="2800" b="1" dirty="0">
                <a:solidFill>
                  <a:srgbClr val="C00000"/>
                </a:solidFill>
                <a:latin typeface="Cambria"/>
                <a:ea typeface="Cambria"/>
                <a:cs typeface="Cambria"/>
                <a:sym typeface="Cambria"/>
              </a:rPr>
              <a:t>)</a:t>
            </a:r>
            <a:endParaRPr lang="en-US" sz="2800" dirty="0"/>
          </a:p>
          <a:p>
            <a:pPr marL="500405" lvl="1" indent="0" algn="just" rtl="0">
              <a:lnSpc>
                <a:spcPct val="90000"/>
              </a:lnSpc>
              <a:spcBef>
                <a:spcPts val="547"/>
              </a:spcBef>
              <a:spcAft>
                <a:spcPts val="0"/>
              </a:spcAft>
              <a:buClr>
                <a:schemeClr val="dk1"/>
              </a:buClr>
              <a:buSzPct val="100000"/>
              <a:buNone/>
            </a:pPr>
            <a:r>
              <a:rPr lang="en-US" sz="2800" dirty="0">
                <a:latin typeface="Cambria"/>
                <a:ea typeface="Cambria"/>
                <a:cs typeface="Cambria"/>
                <a:sym typeface="Cambria"/>
              </a:rPr>
              <a:t>Analiza </a:t>
            </a:r>
            <a:r>
              <a:rPr lang="en-US" sz="2800" dirty="0" err="1">
                <a:latin typeface="Cambria"/>
                <a:ea typeface="Cambria"/>
                <a:cs typeface="Cambria"/>
                <a:sym typeface="Cambria"/>
              </a:rPr>
              <a:t>preliminară</a:t>
            </a:r>
            <a:r>
              <a:rPr lang="en-US" sz="2800" dirty="0">
                <a:latin typeface="Cambria"/>
                <a:ea typeface="Cambria"/>
                <a:cs typeface="Cambria"/>
                <a:sym typeface="Cambria"/>
              </a:rPr>
              <a:t> a </a:t>
            </a:r>
            <a:r>
              <a:rPr lang="en-US" sz="2800" dirty="0" err="1">
                <a:latin typeface="Cambria"/>
                <a:ea typeface="Cambria"/>
                <a:cs typeface="Cambria"/>
                <a:sym typeface="Cambria"/>
              </a:rPr>
              <a:t>obligației</a:t>
            </a:r>
            <a:r>
              <a:rPr lang="en-US" sz="2800" dirty="0">
                <a:latin typeface="Cambria"/>
                <a:ea typeface="Cambria"/>
                <a:cs typeface="Cambria"/>
                <a:sym typeface="Cambria"/>
              </a:rPr>
              <a:t> de </a:t>
            </a:r>
            <a:r>
              <a:rPr lang="en-US" sz="2800" dirty="0" err="1">
                <a:latin typeface="Cambria"/>
                <a:ea typeface="Cambria"/>
                <a:cs typeface="Cambria"/>
                <a:sym typeface="Cambria"/>
              </a:rPr>
              <a:t>notificare</a:t>
            </a:r>
            <a:r>
              <a:rPr lang="en-US" sz="2800" dirty="0">
                <a:latin typeface="Cambria"/>
                <a:ea typeface="Cambria"/>
                <a:cs typeface="Cambria"/>
                <a:sym typeface="Cambria"/>
              </a:rPr>
              <a:t> </a:t>
            </a:r>
            <a:r>
              <a:rPr lang="en-US" sz="2800" dirty="0" err="1">
                <a:latin typeface="Cambria"/>
                <a:ea typeface="Cambria"/>
                <a:cs typeface="Cambria"/>
                <a:sym typeface="Cambria"/>
              </a:rPr>
              <a:t>și</a:t>
            </a:r>
            <a:r>
              <a:rPr lang="en-US" sz="2800" dirty="0">
                <a:latin typeface="Cambria"/>
                <a:ea typeface="Cambria"/>
                <a:cs typeface="Cambria"/>
                <a:sym typeface="Cambria"/>
              </a:rPr>
              <a:t> a </a:t>
            </a:r>
            <a:r>
              <a:rPr lang="en-US" sz="2800" dirty="0" err="1">
                <a:latin typeface="Cambria"/>
                <a:ea typeface="Cambria"/>
                <a:cs typeface="Cambria"/>
                <a:sym typeface="Cambria"/>
              </a:rPr>
              <a:t>pragurilor</a:t>
            </a:r>
            <a:r>
              <a:rPr lang="en-US" sz="2800" dirty="0">
                <a:latin typeface="Cambria"/>
                <a:ea typeface="Cambria"/>
                <a:cs typeface="Cambria"/>
                <a:sym typeface="Cambria"/>
              </a:rPr>
              <a:t> </a:t>
            </a:r>
            <a:r>
              <a:rPr lang="en-US" sz="2800" dirty="0" err="1">
                <a:latin typeface="Cambria"/>
                <a:ea typeface="Cambria"/>
                <a:cs typeface="Cambria"/>
                <a:sym typeface="Cambria"/>
              </a:rPr>
              <a:t>legale</a:t>
            </a:r>
            <a:r>
              <a:rPr lang="en-US" sz="2800" dirty="0">
                <a:latin typeface="Cambria"/>
                <a:ea typeface="Cambria"/>
                <a:cs typeface="Cambria"/>
                <a:sym typeface="Cambria"/>
              </a:rPr>
              <a:t> </a:t>
            </a:r>
            <a:r>
              <a:rPr lang="en-US" sz="2800" dirty="0" err="1">
                <a:latin typeface="Cambria"/>
                <a:ea typeface="Cambria"/>
                <a:cs typeface="Cambria"/>
                <a:sym typeface="Cambria"/>
              </a:rPr>
              <a:t>aplicabile</a:t>
            </a:r>
            <a:r>
              <a:rPr lang="en-US" sz="2800" dirty="0">
                <a:latin typeface="Cambria"/>
                <a:ea typeface="Cambria"/>
                <a:cs typeface="Cambria"/>
                <a:sym typeface="Cambria"/>
              </a:rPr>
              <a:t>, </a:t>
            </a:r>
            <a:r>
              <a:rPr lang="en-US" sz="2800" dirty="0" err="1">
                <a:latin typeface="Cambria"/>
                <a:ea typeface="Cambria"/>
                <a:cs typeface="Cambria"/>
                <a:sym typeface="Cambria"/>
              </a:rPr>
              <a:t>definirea</a:t>
            </a:r>
            <a:r>
              <a:rPr lang="en-US" sz="2800" dirty="0">
                <a:latin typeface="Cambria"/>
                <a:ea typeface="Cambria"/>
                <a:cs typeface="Cambria"/>
                <a:sym typeface="Cambria"/>
              </a:rPr>
              <a:t> </a:t>
            </a:r>
            <a:r>
              <a:rPr lang="en-US" sz="2800" dirty="0" err="1">
                <a:latin typeface="Cambria"/>
                <a:ea typeface="Cambria"/>
                <a:cs typeface="Cambria"/>
                <a:sym typeface="Cambria"/>
              </a:rPr>
              <a:t>piețelor</a:t>
            </a:r>
            <a:r>
              <a:rPr lang="en-US" sz="2800" dirty="0">
                <a:latin typeface="Cambria"/>
                <a:ea typeface="Cambria"/>
                <a:cs typeface="Cambria"/>
                <a:sym typeface="Cambria"/>
              </a:rPr>
              <a:t> </a:t>
            </a:r>
            <a:r>
              <a:rPr lang="en-US" sz="2800" dirty="0" err="1">
                <a:latin typeface="Cambria"/>
                <a:ea typeface="Cambria"/>
                <a:cs typeface="Cambria"/>
                <a:sym typeface="Cambria"/>
              </a:rPr>
              <a:t>relevante</a:t>
            </a:r>
            <a:r>
              <a:rPr lang="en-US" sz="2800" dirty="0">
                <a:latin typeface="Cambria"/>
                <a:ea typeface="Cambria"/>
                <a:cs typeface="Cambria"/>
                <a:sym typeface="Cambria"/>
              </a:rPr>
              <a:t> </a:t>
            </a:r>
            <a:r>
              <a:rPr lang="en-US" sz="2800" dirty="0" err="1">
                <a:latin typeface="Cambria"/>
                <a:ea typeface="Cambria"/>
                <a:cs typeface="Cambria"/>
                <a:sym typeface="Cambria"/>
              </a:rPr>
              <a:t>și</a:t>
            </a:r>
            <a:r>
              <a:rPr lang="en-US" sz="2800" dirty="0">
                <a:latin typeface="Cambria"/>
                <a:ea typeface="Cambria"/>
                <a:cs typeface="Cambria"/>
                <a:sym typeface="Cambria"/>
              </a:rPr>
              <a:t> a </a:t>
            </a:r>
            <a:r>
              <a:rPr lang="en-US" sz="2800" dirty="0" err="1">
                <a:latin typeface="Cambria"/>
                <a:ea typeface="Cambria"/>
                <a:cs typeface="Cambria"/>
                <a:sym typeface="Cambria"/>
              </a:rPr>
              <a:t>relațiilor</a:t>
            </a:r>
            <a:r>
              <a:rPr lang="en-US" sz="2800" dirty="0">
                <a:latin typeface="Cambria"/>
                <a:ea typeface="Cambria"/>
                <a:cs typeface="Cambria"/>
                <a:sym typeface="Cambria"/>
              </a:rPr>
              <a:t> de control, precum </a:t>
            </a:r>
            <a:r>
              <a:rPr lang="en-US" sz="2800" dirty="0" err="1">
                <a:latin typeface="Cambria"/>
                <a:ea typeface="Cambria"/>
                <a:cs typeface="Cambria"/>
                <a:sym typeface="Cambria"/>
              </a:rPr>
              <a:t>și</a:t>
            </a:r>
            <a:r>
              <a:rPr lang="en-US" sz="2800" dirty="0">
                <a:latin typeface="Cambria"/>
                <a:ea typeface="Cambria"/>
                <a:cs typeface="Cambria"/>
                <a:sym typeface="Cambria"/>
              </a:rPr>
              <a:t> </a:t>
            </a:r>
            <a:r>
              <a:rPr lang="en-US" sz="2800" dirty="0" err="1">
                <a:latin typeface="Cambria"/>
                <a:ea typeface="Cambria"/>
                <a:cs typeface="Cambria"/>
                <a:sym typeface="Cambria"/>
              </a:rPr>
              <a:t>redactarea</a:t>
            </a:r>
            <a:r>
              <a:rPr lang="en-US" sz="2800" dirty="0">
                <a:latin typeface="Cambria"/>
                <a:ea typeface="Cambria"/>
                <a:cs typeface="Cambria"/>
                <a:sym typeface="Cambria"/>
              </a:rPr>
              <a:t> </a:t>
            </a:r>
            <a:r>
              <a:rPr lang="en-US" sz="2800" dirty="0" err="1">
                <a:latin typeface="Cambria"/>
                <a:ea typeface="Cambria"/>
                <a:cs typeface="Cambria"/>
                <a:sym typeface="Cambria"/>
              </a:rPr>
              <a:t>și</a:t>
            </a:r>
            <a:r>
              <a:rPr lang="en-US" sz="2800" dirty="0">
                <a:latin typeface="Cambria"/>
                <a:ea typeface="Cambria"/>
                <a:cs typeface="Cambria"/>
                <a:sym typeface="Cambria"/>
              </a:rPr>
              <a:t> </a:t>
            </a:r>
            <a:r>
              <a:rPr lang="en-US" sz="2800" dirty="0" err="1">
                <a:latin typeface="Cambria"/>
                <a:ea typeface="Cambria"/>
                <a:cs typeface="Cambria"/>
                <a:sym typeface="Cambria"/>
              </a:rPr>
              <a:t>depunerea</a:t>
            </a:r>
            <a:r>
              <a:rPr lang="en-US" sz="2800" dirty="0">
                <a:latin typeface="Cambria"/>
                <a:ea typeface="Cambria"/>
                <a:cs typeface="Cambria"/>
                <a:sym typeface="Cambria"/>
              </a:rPr>
              <a:t> </a:t>
            </a:r>
            <a:r>
              <a:rPr lang="en-US" sz="2800" dirty="0" err="1">
                <a:latin typeface="Cambria"/>
                <a:ea typeface="Cambria"/>
                <a:cs typeface="Cambria"/>
                <a:sym typeface="Cambria"/>
              </a:rPr>
              <a:t>dosarului</a:t>
            </a:r>
            <a:r>
              <a:rPr lang="en-US" sz="2800" dirty="0">
                <a:latin typeface="Cambria"/>
                <a:ea typeface="Cambria"/>
                <a:cs typeface="Cambria"/>
                <a:sym typeface="Cambria"/>
              </a:rPr>
              <a:t> de </a:t>
            </a:r>
            <a:r>
              <a:rPr lang="en-US" sz="2800" dirty="0" err="1">
                <a:latin typeface="Cambria"/>
                <a:ea typeface="Cambria"/>
                <a:cs typeface="Cambria"/>
                <a:sym typeface="Cambria"/>
              </a:rPr>
              <a:t>notificare</a:t>
            </a:r>
            <a:r>
              <a:rPr lang="en-US" sz="2800" dirty="0">
                <a:latin typeface="Cambria"/>
                <a:ea typeface="Cambria"/>
                <a:cs typeface="Cambria"/>
                <a:sym typeface="Cambria"/>
              </a:rPr>
              <a:t> la </a:t>
            </a:r>
            <a:r>
              <a:rPr lang="en-US" sz="2800" dirty="0" err="1">
                <a:latin typeface="Cambria"/>
                <a:ea typeface="Cambria"/>
                <a:cs typeface="Cambria"/>
                <a:sym typeface="Cambria"/>
              </a:rPr>
              <a:t>Consiliul</a:t>
            </a:r>
            <a:r>
              <a:rPr lang="en-US" sz="2800" dirty="0">
                <a:latin typeface="Cambria"/>
                <a:ea typeface="Cambria"/>
                <a:cs typeface="Cambria"/>
                <a:sym typeface="Cambria"/>
              </a:rPr>
              <a:t> </a:t>
            </a:r>
            <a:r>
              <a:rPr lang="en-US" sz="2800" dirty="0" err="1">
                <a:latin typeface="Cambria"/>
                <a:ea typeface="Cambria"/>
                <a:cs typeface="Cambria"/>
                <a:sym typeface="Cambria"/>
              </a:rPr>
              <a:t>Concurenței</a:t>
            </a:r>
            <a:r>
              <a:rPr lang="en-US" sz="2800" dirty="0">
                <a:latin typeface="Cambria"/>
                <a:ea typeface="Cambria"/>
                <a:cs typeface="Cambria"/>
                <a:sym typeface="Cambria"/>
              </a:rPr>
              <a:t>. De </a:t>
            </a:r>
            <a:r>
              <a:rPr lang="en-US" sz="2800" dirty="0" err="1">
                <a:latin typeface="Cambria"/>
                <a:ea typeface="Cambria"/>
                <a:cs typeface="Cambria"/>
                <a:sym typeface="Cambria"/>
              </a:rPr>
              <a:t>asemenea</a:t>
            </a:r>
            <a:r>
              <a:rPr lang="en-US" sz="2800" dirty="0">
                <a:latin typeface="Cambria"/>
                <a:ea typeface="Cambria"/>
                <a:cs typeface="Cambria"/>
                <a:sym typeface="Cambria"/>
              </a:rPr>
              <a:t>, </a:t>
            </a:r>
            <a:r>
              <a:rPr lang="en-US" sz="2800" dirty="0" err="1">
                <a:latin typeface="Cambria"/>
                <a:ea typeface="Cambria"/>
                <a:cs typeface="Cambria"/>
                <a:sym typeface="Cambria"/>
              </a:rPr>
              <a:t>asistența</a:t>
            </a:r>
            <a:r>
              <a:rPr lang="en-US" sz="2800" dirty="0">
                <a:latin typeface="Cambria"/>
                <a:ea typeface="Cambria"/>
                <a:cs typeface="Cambria"/>
                <a:sym typeface="Cambria"/>
              </a:rPr>
              <a:t> </a:t>
            </a:r>
            <a:r>
              <a:rPr lang="en-US" sz="2800" dirty="0" err="1">
                <a:latin typeface="Cambria"/>
                <a:ea typeface="Cambria"/>
                <a:cs typeface="Cambria"/>
                <a:sym typeface="Cambria"/>
              </a:rPr>
              <a:t>va</a:t>
            </a:r>
            <a:r>
              <a:rPr lang="en-US" sz="2800" dirty="0">
                <a:latin typeface="Cambria"/>
                <a:ea typeface="Cambria"/>
                <a:cs typeface="Cambria"/>
                <a:sym typeface="Cambria"/>
              </a:rPr>
              <a:t> </a:t>
            </a:r>
            <a:r>
              <a:rPr lang="en-US" sz="2800" dirty="0" err="1">
                <a:latin typeface="Cambria"/>
                <a:ea typeface="Cambria"/>
                <a:cs typeface="Cambria"/>
                <a:sym typeface="Cambria"/>
              </a:rPr>
              <a:t>acoperi</a:t>
            </a:r>
            <a:r>
              <a:rPr lang="en-US" sz="2800" dirty="0">
                <a:latin typeface="Cambria"/>
                <a:ea typeface="Cambria"/>
                <a:cs typeface="Cambria"/>
                <a:sym typeface="Cambria"/>
              </a:rPr>
              <a:t> </a:t>
            </a:r>
            <a:r>
              <a:rPr lang="en-US" sz="2800" dirty="0" err="1">
                <a:latin typeface="Cambria"/>
                <a:ea typeface="Cambria"/>
                <a:cs typeface="Cambria"/>
                <a:sym typeface="Cambria"/>
              </a:rPr>
              <a:t>interacțiunea</a:t>
            </a:r>
            <a:r>
              <a:rPr lang="en-US" sz="2800" dirty="0">
                <a:latin typeface="Cambria"/>
                <a:ea typeface="Cambria"/>
                <a:cs typeface="Cambria"/>
                <a:sym typeface="Cambria"/>
              </a:rPr>
              <a:t> cu </a:t>
            </a:r>
            <a:r>
              <a:rPr lang="en-US" sz="2800" dirty="0" err="1">
                <a:latin typeface="Cambria"/>
                <a:ea typeface="Cambria"/>
                <a:cs typeface="Cambria"/>
                <a:sym typeface="Cambria"/>
              </a:rPr>
              <a:t>autoritatea</a:t>
            </a:r>
            <a:r>
              <a:rPr lang="en-US" sz="2800" dirty="0">
                <a:latin typeface="Cambria"/>
                <a:ea typeface="Cambria"/>
                <a:cs typeface="Cambria"/>
                <a:sym typeface="Cambria"/>
              </a:rPr>
              <a:t> pe </a:t>
            </a:r>
            <a:r>
              <a:rPr lang="en-US" sz="2800" dirty="0" err="1">
                <a:latin typeface="Cambria"/>
                <a:ea typeface="Cambria"/>
                <a:cs typeface="Cambria"/>
                <a:sym typeface="Cambria"/>
              </a:rPr>
              <a:t>parcursul</a:t>
            </a:r>
            <a:r>
              <a:rPr lang="en-US" sz="2800" dirty="0">
                <a:latin typeface="Cambria"/>
                <a:ea typeface="Cambria"/>
                <a:cs typeface="Cambria"/>
                <a:sym typeface="Cambria"/>
              </a:rPr>
              <a:t> </a:t>
            </a:r>
            <a:r>
              <a:rPr lang="en-US" sz="2800" dirty="0" err="1">
                <a:latin typeface="Cambria"/>
                <a:ea typeface="Cambria"/>
                <a:cs typeface="Cambria"/>
                <a:sym typeface="Cambria"/>
              </a:rPr>
              <a:t>procedurii</a:t>
            </a:r>
            <a:r>
              <a:rPr lang="en-US" sz="2800" dirty="0">
                <a:latin typeface="Cambria"/>
                <a:ea typeface="Cambria"/>
                <a:cs typeface="Cambria"/>
                <a:sym typeface="Cambria"/>
              </a:rPr>
              <a:t>, </a:t>
            </a:r>
            <a:r>
              <a:rPr lang="en-US" sz="2800" dirty="0" err="1">
                <a:latin typeface="Cambria"/>
                <a:ea typeface="Cambria"/>
                <a:cs typeface="Cambria"/>
                <a:sym typeface="Cambria"/>
              </a:rPr>
              <a:t>inclusiv</a:t>
            </a:r>
            <a:r>
              <a:rPr lang="en-US" sz="2800" dirty="0">
                <a:latin typeface="Cambria"/>
                <a:ea typeface="Cambria"/>
                <a:cs typeface="Cambria"/>
                <a:sym typeface="Cambria"/>
              </a:rPr>
              <a:t> </a:t>
            </a:r>
            <a:r>
              <a:rPr lang="en-US" sz="2800" dirty="0" err="1">
                <a:latin typeface="Cambria"/>
                <a:ea typeface="Cambria"/>
                <a:cs typeface="Cambria"/>
                <a:sym typeface="Cambria"/>
              </a:rPr>
              <a:t>formularea</a:t>
            </a:r>
            <a:r>
              <a:rPr lang="en-US" sz="2800" dirty="0">
                <a:latin typeface="Cambria"/>
                <a:ea typeface="Cambria"/>
                <a:cs typeface="Cambria"/>
                <a:sym typeface="Cambria"/>
              </a:rPr>
              <a:t> </a:t>
            </a:r>
            <a:r>
              <a:rPr lang="en-US" sz="2800" dirty="0" err="1">
                <a:latin typeface="Cambria"/>
                <a:ea typeface="Cambria"/>
                <a:cs typeface="Cambria"/>
                <a:sym typeface="Cambria"/>
              </a:rPr>
              <a:t>răspunsurilor</a:t>
            </a:r>
            <a:r>
              <a:rPr lang="en-US" sz="2800" dirty="0">
                <a:latin typeface="Cambria"/>
                <a:ea typeface="Cambria"/>
                <a:cs typeface="Cambria"/>
                <a:sym typeface="Cambria"/>
              </a:rPr>
              <a:t> la </a:t>
            </a:r>
            <a:r>
              <a:rPr lang="en-US" sz="2800" dirty="0" err="1">
                <a:latin typeface="Cambria"/>
                <a:ea typeface="Cambria"/>
                <a:cs typeface="Cambria"/>
                <a:sym typeface="Cambria"/>
              </a:rPr>
              <a:t>solicitările</a:t>
            </a:r>
            <a:r>
              <a:rPr lang="en-US" sz="2800" dirty="0">
                <a:latin typeface="Cambria"/>
                <a:ea typeface="Cambria"/>
                <a:cs typeface="Cambria"/>
                <a:sym typeface="Cambria"/>
              </a:rPr>
              <a:t> de </a:t>
            </a:r>
            <a:r>
              <a:rPr lang="en-US" sz="2800" dirty="0" err="1">
                <a:latin typeface="Cambria"/>
                <a:ea typeface="Cambria"/>
                <a:cs typeface="Cambria"/>
                <a:sym typeface="Cambria"/>
              </a:rPr>
              <a:t>informații</a:t>
            </a:r>
            <a:r>
              <a:rPr lang="en-US" sz="2800" dirty="0">
                <a:latin typeface="Cambria"/>
                <a:ea typeface="Cambria"/>
                <a:cs typeface="Cambria"/>
                <a:sym typeface="Cambria"/>
              </a:rPr>
              <a:t> </a:t>
            </a:r>
            <a:r>
              <a:rPr lang="en-US" sz="2800" dirty="0" err="1">
                <a:latin typeface="Cambria"/>
                <a:ea typeface="Cambria"/>
                <a:cs typeface="Cambria"/>
                <a:sym typeface="Cambria"/>
              </a:rPr>
              <a:t>și</a:t>
            </a:r>
            <a:r>
              <a:rPr lang="en-US" sz="2800" dirty="0">
                <a:latin typeface="Cambria"/>
                <a:ea typeface="Cambria"/>
                <a:cs typeface="Cambria"/>
                <a:sym typeface="Cambria"/>
              </a:rPr>
              <a:t> </a:t>
            </a:r>
            <a:r>
              <a:rPr lang="en-US" sz="2800" dirty="0" err="1">
                <a:latin typeface="Cambria"/>
                <a:ea typeface="Cambria"/>
                <a:cs typeface="Cambria"/>
                <a:sym typeface="Cambria"/>
              </a:rPr>
              <a:t>suportul</a:t>
            </a:r>
            <a:r>
              <a:rPr lang="en-US" sz="2800" dirty="0">
                <a:latin typeface="Cambria"/>
                <a:ea typeface="Cambria"/>
                <a:cs typeface="Cambria"/>
                <a:sym typeface="Cambria"/>
              </a:rPr>
              <a:t> juridic </a:t>
            </a:r>
            <a:r>
              <a:rPr lang="en-US" sz="2800" dirty="0" err="1">
                <a:latin typeface="Cambria"/>
                <a:ea typeface="Cambria"/>
                <a:cs typeface="Cambria"/>
                <a:sym typeface="Cambria"/>
              </a:rPr>
              <a:t>până</a:t>
            </a:r>
            <a:r>
              <a:rPr lang="en-US" sz="2800" dirty="0">
                <a:latin typeface="Cambria"/>
                <a:ea typeface="Cambria"/>
                <a:cs typeface="Cambria"/>
                <a:sym typeface="Cambria"/>
              </a:rPr>
              <a:t> la </a:t>
            </a:r>
            <a:r>
              <a:rPr lang="en-US" sz="2800" dirty="0" err="1">
                <a:latin typeface="Cambria"/>
                <a:ea typeface="Cambria"/>
                <a:cs typeface="Cambria"/>
                <a:sym typeface="Cambria"/>
              </a:rPr>
              <a:t>adoptarea</a:t>
            </a:r>
            <a:r>
              <a:rPr lang="en-US" sz="2800" dirty="0">
                <a:latin typeface="Cambria"/>
                <a:ea typeface="Cambria"/>
                <a:cs typeface="Cambria"/>
                <a:sym typeface="Cambria"/>
              </a:rPr>
              <a:t> </a:t>
            </a:r>
            <a:r>
              <a:rPr lang="en-US" sz="2800" dirty="0" err="1">
                <a:latin typeface="Cambria"/>
                <a:ea typeface="Cambria"/>
                <a:cs typeface="Cambria"/>
                <a:sym typeface="Cambria"/>
              </a:rPr>
              <a:t>deciziei</a:t>
            </a:r>
            <a:r>
              <a:rPr lang="en-US" sz="2800" dirty="0">
                <a:latin typeface="Cambria"/>
                <a:ea typeface="Cambria"/>
                <a:cs typeface="Cambria"/>
                <a:sym typeface="Cambria"/>
              </a:rPr>
              <a:t> finale</a:t>
            </a:r>
            <a:r>
              <a:rPr lang="en-US" sz="2800" dirty="0"/>
              <a:t>.</a:t>
            </a:r>
            <a:endParaRPr sz="2800" dirty="0"/>
          </a:p>
        </p:txBody>
      </p:sp>
      <p:sp>
        <p:nvSpPr>
          <p:cNvPr id="141" name="Google Shape;141;p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42" name="Google Shape;142;p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43" name="Google Shape;143;p5"/>
          <p:cNvGrpSpPr/>
          <p:nvPr/>
        </p:nvGrpSpPr>
        <p:grpSpPr>
          <a:xfrm>
            <a:off x="639425" y="7686554"/>
            <a:ext cx="611624" cy="278385"/>
            <a:chOff x="639425" y="7686554"/>
            <a:chExt cx="611624" cy="278385"/>
          </a:xfrm>
        </p:grpSpPr>
        <p:pic>
          <p:nvPicPr>
            <p:cNvPr id="144" name="Google Shape;144;p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45" name="Google Shape;145;p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46" name="Google Shape;146;p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1: </a:t>
            </a:r>
            <a:r>
              <a:rPr lang="en-US" sz="1400" b="1">
                <a:solidFill>
                  <a:schemeClr val="dk1"/>
                </a:solidFill>
                <a:latin typeface="Cambria"/>
                <a:ea typeface="Cambria"/>
                <a:cs typeface="Cambria"/>
                <a:sym typeface="Cambria"/>
              </a:rPr>
              <a:t> Descrierea serviciilor</a:t>
            </a:r>
            <a:endParaRPr/>
          </a:p>
        </p:txBody>
      </p:sp>
      <p:sp>
        <p:nvSpPr>
          <p:cNvPr id="147" name="Google Shape;147;p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cxnSp>
        <p:nvCxnSpPr>
          <p:cNvPr id="148" name="Google Shape;148;p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Tree>
    <p:extLst>
      <p:ext uri="{BB962C8B-B14F-4D97-AF65-F5344CB8AC3E}">
        <p14:creationId xmlns:p14="http://schemas.microsoft.com/office/powerpoint/2010/main" val="134448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53"/>
        <p:cNvGrpSpPr/>
        <p:nvPr/>
      </p:nvGrpSpPr>
      <p:grpSpPr>
        <a:xfrm>
          <a:off x="0" y="0"/>
          <a:ext cx="0" cy="0"/>
          <a:chOff x="0" y="0"/>
          <a:chExt cx="0" cy="0"/>
        </a:xfrm>
      </p:grpSpPr>
      <p:sp>
        <p:nvSpPr>
          <p:cNvPr id="154" name="Google Shape;154;p6"/>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Secțiunea 2 </a:t>
            </a:r>
            <a:br>
              <a:rPr lang="en-US" sz="2900" b="1">
                <a:solidFill>
                  <a:schemeClr val="lt1"/>
                </a:solidFill>
                <a:latin typeface="Cambria"/>
                <a:ea typeface="Cambria"/>
                <a:cs typeface="Cambria"/>
                <a:sym typeface="Cambria"/>
              </a:rPr>
            </a:b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Oferta financiară</a:t>
            </a:r>
            <a:endParaRPr sz="2900">
              <a:solidFill>
                <a:schemeClr val="lt1"/>
              </a:solidFill>
            </a:endParaRPr>
          </a:p>
        </p:txBody>
      </p:sp>
      <p:sp>
        <p:nvSpPr>
          <p:cNvPr id="155" name="Google Shape;155;p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156" name="Google Shape;156;p6"/>
          <p:cNvGrpSpPr/>
          <p:nvPr/>
        </p:nvGrpSpPr>
        <p:grpSpPr>
          <a:xfrm>
            <a:off x="639425" y="7686554"/>
            <a:ext cx="611624" cy="278385"/>
            <a:chOff x="639425" y="7686554"/>
            <a:chExt cx="611624" cy="278385"/>
          </a:xfrm>
        </p:grpSpPr>
        <p:pic>
          <p:nvPicPr>
            <p:cNvPr id="157" name="Google Shape;157;p6"/>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58" name="Google Shape;158;p6"/>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59" name="Google Shape;159;p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7"/>
          <p:cNvSpPr txBox="1">
            <a:spLocks noGrp="1"/>
          </p:cNvSpPr>
          <p:nvPr>
            <p:ph type="body" idx="1"/>
          </p:nvPr>
        </p:nvSpPr>
        <p:spPr>
          <a:xfrm>
            <a:off x="917435" y="962671"/>
            <a:ext cx="11509653" cy="6374104"/>
          </a:xfrm>
          <a:prstGeom prst="rect">
            <a:avLst/>
          </a:prstGeom>
          <a:noFill/>
          <a:ln>
            <a:noFill/>
          </a:ln>
        </p:spPr>
        <p:txBody>
          <a:bodyPr spcFirstLastPara="1" wrap="square" lIns="91425" tIns="45700" rIns="91425" bIns="45700" anchor="t" anchorCtr="0">
            <a:normAutofit fontScale="40000" lnSpcReduction="20000"/>
          </a:bodyPr>
          <a:lstStyle/>
          <a:p>
            <a:pPr marL="0" lvl="0" indent="0" algn="l" rtl="0">
              <a:lnSpc>
                <a:spcPct val="90000"/>
              </a:lnSpc>
              <a:spcBef>
                <a:spcPts val="0"/>
              </a:spcBef>
              <a:spcAft>
                <a:spcPts val="0"/>
              </a:spcAft>
              <a:buClr>
                <a:schemeClr val="dk1"/>
              </a:buClr>
              <a:buSzPct val="97879"/>
              <a:buNone/>
            </a:pPr>
            <a:br>
              <a:rPr lang="en-US"/>
            </a:br>
            <a:endParaRPr/>
          </a:p>
          <a:p>
            <a:pPr marL="0" lvl="0" indent="0" algn="l" rtl="0">
              <a:lnSpc>
                <a:spcPct val="90000"/>
              </a:lnSpc>
              <a:spcBef>
                <a:spcPts val="1095"/>
              </a:spcBef>
              <a:spcAft>
                <a:spcPts val="0"/>
              </a:spcAft>
              <a:buClr>
                <a:srgbClr val="C00000"/>
              </a:buClr>
              <a:buSzPct val="100000"/>
              <a:buNone/>
            </a:pPr>
            <a:r>
              <a:rPr lang="en-US" sz="4500" b="1">
                <a:solidFill>
                  <a:srgbClr val="C00000"/>
                </a:solidFill>
                <a:latin typeface="Cambria"/>
                <a:ea typeface="Cambria"/>
                <a:cs typeface="Cambria"/>
                <a:sym typeface="Cambria"/>
              </a:rPr>
              <a:t>Structura onorariilor și estimarea costurilor</a:t>
            </a:r>
            <a:endParaRPr sz="4500">
              <a:solidFill>
                <a:srgbClr val="C00000"/>
              </a:solidFill>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Tariful nostru orar standard agregat pentru anul 2025 este de 250 EUR/oră. Pornind de la complexitatea proiectului și un număr mare de ore pe care il estimăm, suntem gata să oferim un tarif preferențial de 175 EUR/ora</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Pe baza activităților avute în vedere pentru Etapa I și Etapa a II-a, efortul juridic total este estimat la aproximativ </a:t>
            </a:r>
            <a:r>
              <a:rPr lang="en-US" sz="4500" b="1">
                <a:latin typeface="Cambria"/>
                <a:ea typeface="Cambria"/>
                <a:cs typeface="Cambria"/>
                <a:sym typeface="Cambria"/>
              </a:rPr>
              <a:t>140–180 de ore</a:t>
            </a:r>
            <a:r>
              <a:rPr lang="en-US" sz="4500">
                <a:latin typeface="Cambria"/>
                <a:ea typeface="Cambria"/>
                <a:cs typeface="Cambria"/>
                <a:sym typeface="Cambria"/>
              </a:rPr>
              <a:t>. Estimarea de timp reflectă dimensiunea istorică a activității Societății-țintă, complexitatea specifică unei întreprinderi industriale producătoare de zahăr, precum și necesitatea unei analize juridice aprofundate a structurii, activelor, contractelor și conformității legale aferente activității acesteia în ultimii ani.</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În aceste condiții, onorariul estimat pentru </a:t>
            </a:r>
            <a:r>
              <a:rPr lang="en-US" sz="4500" b="1">
                <a:latin typeface="Cambria"/>
                <a:ea typeface="Cambria"/>
                <a:cs typeface="Cambria"/>
                <a:sym typeface="Cambria"/>
              </a:rPr>
              <a:t>Etapa I – </a:t>
            </a:r>
            <a:r>
              <a:rPr lang="en-US" sz="4500">
                <a:latin typeface="Cambria"/>
                <a:ea typeface="Cambria"/>
                <a:cs typeface="Cambria"/>
                <a:sym typeface="Cambria"/>
              </a:rPr>
              <a:t>due diligence juridic și asistență tranzacțională preliminară se bazează pe un volum de aproximativ </a:t>
            </a:r>
            <a:r>
              <a:rPr lang="en-US" sz="4500" b="1">
                <a:latin typeface="Cambria"/>
                <a:ea typeface="Cambria"/>
                <a:cs typeface="Cambria"/>
                <a:sym typeface="Cambria"/>
              </a:rPr>
              <a:t>85–100 ore</a:t>
            </a:r>
            <a:r>
              <a:rPr lang="en-US" sz="4500">
                <a:latin typeface="Cambria"/>
                <a:ea typeface="Cambria"/>
                <a:cs typeface="Cambria"/>
                <a:sym typeface="Cambria"/>
              </a:rPr>
              <a:t>, ceea ce corespunde unui onorariu estimativ cuprins între </a:t>
            </a:r>
            <a:r>
              <a:rPr lang="en-US" sz="4500" b="1">
                <a:latin typeface="Cambria"/>
                <a:ea typeface="Cambria"/>
                <a:cs typeface="Cambria"/>
                <a:sym typeface="Cambria"/>
              </a:rPr>
              <a:t>14.875 EUR și 17.500 EUR.</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Pentru </a:t>
            </a:r>
            <a:r>
              <a:rPr lang="en-US" sz="4500" b="1">
                <a:latin typeface="Cambria"/>
                <a:ea typeface="Cambria"/>
                <a:cs typeface="Cambria"/>
                <a:sym typeface="Cambria"/>
              </a:rPr>
              <a:t>Etapa a II-a – </a:t>
            </a:r>
            <a:r>
              <a:rPr lang="en-US" sz="4500">
                <a:latin typeface="Cambria"/>
                <a:ea typeface="Cambria"/>
                <a:cs typeface="Cambria"/>
                <a:sym typeface="Cambria"/>
              </a:rPr>
              <a:t>asistență juridică aferentă contractului de vânzare-cumpărare și procesului de finalizare a tranzacției, volumul de muncă este estimat la aproximativ </a:t>
            </a:r>
            <a:r>
              <a:rPr lang="en-US" sz="4500" b="1">
                <a:latin typeface="Cambria"/>
                <a:ea typeface="Cambria"/>
                <a:cs typeface="Cambria"/>
                <a:sym typeface="Cambria"/>
              </a:rPr>
              <a:t>35–45 de ore</a:t>
            </a:r>
            <a:r>
              <a:rPr lang="en-US" sz="4500">
                <a:latin typeface="Cambria"/>
                <a:ea typeface="Cambria"/>
                <a:cs typeface="Cambria"/>
                <a:sym typeface="Cambria"/>
              </a:rPr>
              <a:t>, corespunzând unui onorariu estimativ cuprins între </a:t>
            </a:r>
            <a:r>
              <a:rPr lang="en-US" sz="4500" b="1">
                <a:latin typeface="Cambria"/>
                <a:ea typeface="Cambria"/>
                <a:cs typeface="Cambria"/>
                <a:sym typeface="Cambria"/>
              </a:rPr>
              <a:t>6.125 EUR și 7.875 EUR</a:t>
            </a:r>
            <a:r>
              <a:rPr lang="en-US" sz="4500">
                <a:latin typeface="Cambria"/>
                <a:ea typeface="Cambria"/>
                <a:cs typeface="Cambria"/>
                <a:sym typeface="Cambria"/>
              </a:rPr>
              <a:t>.</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Onorariul total estimat pentru Etapa I și Etapa a II-a se situează, prin urmare, într-un interval cuprins între 2</a:t>
            </a:r>
            <a:r>
              <a:rPr lang="en-US" sz="4500" b="1">
                <a:latin typeface="Cambria"/>
                <a:ea typeface="Cambria"/>
                <a:cs typeface="Cambria"/>
                <a:sym typeface="Cambria"/>
              </a:rPr>
              <a:t>1.000 EUR și 25.375 EUR</a:t>
            </a:r>
            <a:r>
              <a:rPr lang="en-US" sz="4500">
                <a:latin typeface="Cambria"/>
                <a:ea typeface="Cambria"/>
                <a:cs typeface="Cambria"/>
                <a:sym typeface="Cambria"/>
              </a:rPr>
              <a:t>, urmând a fi ajustat, după caz, în funcție de complexitatea efectivă a tranzacției, de evoluția negocierilor și de volumul real al documentației analizate.</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În cazul în care tranzacția va fi supusă </a:t>
            </a:r>
            <a:r>
              <a:rPr lang="en-US" sz="4500" b="1">
                <a:latin typeface="Cambria"/>
                <a:ea typeface="Cambria"/>
                <a:cs typeface="Cambria"/>
                <a:sym typeface="Cambria"/>
              </a:rPr>
              <a:t>obligației de notificare a concentrării economice</a:t>
            </a:r>
            <a:r>
              <a:rPr lang="en-US" sz="4500">
                <a:latin typeface="Cambria"/>
                <a:ea typeface="Cambria"/>
                <a:cs typeface="Cambria"/>
                <a:sym typeface="Cambria"/>
              </a:rPr>
              <a:t>, asistența juridică aferentă acestei etape este estimată separat, având în vedere caracterul distinct al procedurii și interacțiunea cu autoritatea de concurență. Într-un scenariu standard, efortul juridic necesar pentru pregătirea notificării, redactarea formularului de concentrare, analiza piețelor relevante, interacțiunea cu Consiliul Concurenței și asistența pe parcursul procedurii este estimat la aproximativ </a:t>
            </a:r>
            <a:r>
              <a:rPr lang="en-US" sz="4500" b="1">
                <a:latin typeface="Cambria"/>
                <a:ea typeface="Cambria"/>
                <a:cs typeface="Cambria"/>
                <a:sym typeface="Cambria"/>
              </a:rPr>
              <a:t>25–35 de ore</a:t>
            </a:r>
            <a:r>
              <a:rPr lang="en-US" sz="4500">
                <a:latin typeface="Cambria"/>
                <a:ea typeface="Cambria"/>
                <a:cs typeface="Cambria"/>
                <a:sym typeface="Cambria"/>
              </a:rPr>
              <a:t>, corespunzând unui onorariu estimativ cuprins între </a:t>
            </a:r>
            <a:r>
              <a:rPr lang="en-US" sz="4500" b="1">
                <a:latin typeface="Cambria"/>
                <a:ea typeface="Cambria"/>
                <a:cs typeface="Cambria"/>
                <a:sym typeface="Cambria"/>
              </a:rPr>
              <a:t> 4.375 EUR și 6.125 EUR</a:t>
            </a:r>
            <a:r>
              <a:rPr lang="en-US" sz="4500">
                <a:latin typeface="Cambria"/>
                <a:ea typeface="Cambria"/>
                <a:cs typeface="Cambria"/>
                <a:sym typeface="Cambria"/>
              </a:rPr>
              <a:t>, calculat la tariful orar standard.</a:t>
            </a:r>
            <a:endParaRPr/>
          </a:p>
          <a:p>
            <a:pPr marL="0" lvl="0" indent="0" algn="l" rtl="0">
              <a:lnSpc>
                <a:spcPct val="90000"/>
              </a:lnSpc>
              <a:spcBef>
                <a:spcPts val="1095"/>
              </a:spcBef>
              <a:spcAft>
                <a:spcPts val="0"/>
              </a:spcAft>
              <a:buClr>
                <a:schemeClr val="dk1"/>
              </a:buClr>
              <a:buSzPct val="100000"/>
              <a:buNone/>
            </a:pPr>
            <a:r>
              <a:rPr lang="en-US" sz="4500">
                <a:latin typeface="Cambria"/>
                <a:ea typeface="Cambria"/>
                <a:cs typeface="Cambria"/>
                <a:sym typeface="Cambria"/>
              </a:rPr>
              <a:t> </a:t>
            </a:r>
            <a:endParaRPr/>
          </a:p>
          <a:p>
            <a:pPr marL="0" lvl="0" indent="0" algn="ctr" rtl="0">
              <a:lnSpc>
                <a:spcPct val="90000"/>
              </a:lnSpc>
              <a:spcBef>
                <a:spcPts val="1095"/>
              </a:spcBef>
              <a:spcAft>
                <a:spcPts val="0"/>
              </a:spcAft>
              <a:buClr>
                <a:schemeClr val="dk1"/>
              </a:buClr>
              <a:buSzPct val="100000"/>
              <a:buNone/>
            </a:pPr>
            <a:endParaRPr sz="1800" b="1">
              <a:latin typeface="Cambria"/>
              <a:ea typeface="Cambria"/>
              <a:cs typeface="Cambria"/>
              <a:sym typeface="Cambria"/>
            </a:endParaRPr>
          </a:p>
          <a:p>
            <a:pPr marL="0" lvl="0" indent="0" algn="ctr" rtl="0">
              <a:lnSpc>
                <a:spcPct val="90000"/>
              </a:lnSpc>
              <a:spcBef>
                <a:spcPts val="1095"/>
              </a:spcBef>
              <a:spcAft>
                <a:spcPts val="0"/>
              </a:spcAft>
              <a:buClr>
                <a:schemeClr val="dk1"/>
              </a:buClr>
              <a:buSzPct val="100000"/>
              <a:buNone/>
            </a:pPr>
            <a:r>
              <a:rPr lang="en-US" sz="1800" b="1">
                <a:latin typeface="Cambria"/>
                <a:ea typeface="Cambria"/>
                <a:cs typeface="Cambria"/>
                <a:sym typeface="Cambria"/>
              </a:rPr>
              <a:t> </a:t>
            </a:r>
            <a:endParaRPr sz="1800" b="1">
              <a:latin typeface="Cambria"/>
              <a:ea typeface="Cambria"/>
              <a:cs typeface="Cambria"/>
              <a:sym typeface="Cambria"/>
            </a:endParaRPr>
          </a:p>
        </p:txBody>
      </p:sp>
      <p:sp>
        <p:nvSpPr>
          <p:cNvPr id="166" name="Google Shape;166;p7"/>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cxnSp>
        <p:nvCxnSpPr>
          <p:cNvPr id="167" name="Google Shape;167;p7"/>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68" name="Google Shape;168;p7"/>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69" name="Google Shape;169;p7"/>
          <p:cNvGrpSpPr/>
          <p:nvPr/>
        </p:nvGrpSpPr>
        <p:grpSpPr>
          <a:xfrm>
            <a:off x="639425" y="7686554"/>
            <a:ext cx="611624" cy="278385"/>
            <a:chOff x="639425" y="7686554"/>
            <a:chExt cx="611624" cy="278385"/>
          </a:xfrm>
        </p:grpSpPr>
        <p:pic>
          <p:nvPicPr>
            <p:cNvPr id="170" name="Google Shape;170;p7"/>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71" name="Google Shape;171;p7"/>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72" name="Google Shape;172;p7"/>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2: Oferta financiară</a:t>
            </a:r>
            <a:endParaRPr sz="1400" b="1">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177"/>
        <p:cNvGrpSpPr/>
        <p:nvPr/>
      </p:nvGrpSpPr>
      <p:grpSpPr>
        <a:xfrm>
          <a:off x="0" y="0"/>
          <a:ext cx="0" cy="0"/>
          <a:chOff x="0" y="0"/>
          <a:chExt cx="0" cy="0"/>
        </a:xfrm>
      </p:grpSpPr>
      <p:sp>
        <p:nvSpPr>
          <p:cNvPr id="178" name="Google Shape;178;p8"/>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Secțiunea 3 </a:t>
            </a:r>
            <a:br>
              <a:rPr lang="en-US" sz="2900" b="1">
                <a:solidFill>
                  <a:schemeClr val="lt1"/>
                </a:solidFill>
                <a:latin typeface="Cambria"/>
                <a:ea typeface="Cambria"/>
                <a:cs typeface="Cambria"/>
                <a:sym typeface="Cambria"/>
              </a:rPr>
            </a:b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Profilul ERA </a:t>
            </a:r>
            <a:endParaRPr sz="2900">
              <a:solidFill>
                <a:schemeClr val="lt1"/>
              </a:solidFill>
            </a:endParaRPr>
          </a:p>
        </p:txBody>
      </p:sp>
      <p:sp>
        <p:nvSpPr>
          <p:cNvPr id="179" name="Google Shape;179;p8"/>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180" name="Google Shape;180;p8"/>
          <p:cNvGrpSpPr/>
          <p:nvPr/>
        </p:nvGrpSpPr>
        <p:grpSpPr>
          <a:xfrm>
            <a:off x="639425" y="7686554"/>
            <a:ext cx="611624" cy="278385"/>
            <a:chOff x="639425" y="7686554"/>
            <a:chExt cx="611624" cy="278385"/>
          </a:xfrm>
        </p:grpSpPr>
        <p:pic>
          <p:nvPicPr>
            <p:cNvPr id="181" name="Google Shape;181;p8"/>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82" name="Google Shape;182;p8"/>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txBox="1">
            <a:spLocks noGrp="1"/>
          </p:cNvSpPr>
          <p:nvPr>
            <p:ph type="body" idx="1"/>
          </p:nvPr>
        </p:nvSpPr>
        <p:spPr>
          <a:xfrm>
            <a:off x="917435" y="962671"/>
            <a:ext cx="11509653" cy="6663623"/>
          </a:xfrm>
          <a:prstGeom prst="rect">
            <a:avLst/>
          </a:prstGeom>
          <a:noFill/>
          <a:ln>
            <a:noFill/>
          </a:ln>
        </p:spPr>
        <p:txBody>
          <a:bodyPr spcFirstLastPara="1" wrap="square" lIns="91425" tIns="45700" rIns="91425" bIns="45700" anchor="ctr" anchorCtr="0">
            <a:normAutofit fontScale="55000" lnSpcReduction="20000"/>
          </a:bodyPr>
          <a:lstStyle/>
          <a:p>
            <a:pPr marL="0" lvl="0" indent="0" algn="just" rtl="0">
              <a:lnSpc>
                <a:spcPct val="120000"/>
              </a:lnSpc>
              <a:spcBef>
                <a:spcPts val="0"/>
              </a:spcBef>
              <a:spcAft>
                <a:spcPts val="0"/>
              </a:spcAft>
              <a:buClr>
                <a:srgbClr val="C00000"/>
              </a:buClr>
              <a:buSzPct val="100000"/>
              <a:buNone/>
            </a:pPr>
            <a:r>
              <a:rPr lang="en-US" sz="3200" b="1">
                <a:solidFill>
                  <a:srgbClr val="C00000"/>
                </a:solidFill>
                <a:latin typeface="Cambria"/>
                <a:ea typeface="Cambria"/>
                <a:cs typeface="Cambria"/>
                <a:sym typeface="Cambria"/>
              </a:rPr>
              <a:t>Cine suntem? </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Efrim, Roșca &amp; Asociații (ERA) este recunoscută pentru expertiza sa solidă și constantă în domeniul dreptului societar, al tranzacțiilor comerciale și al reglementărilor, oferind asistență juridică unor companii de prim rang care activează în industrii dinamice și puternic reglementate. Firma îmbină rigoarea juridică cu o înțelegere profundă a realităților comerciale, sprijinind clienții atât în valorificarea oportunităților strategice, cât și în gestionarea riscurilor juridice complexe.</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Practica de drept societar a ERA acoperă un spectru complet de servicii juridice, incluzând guvernanța corporativă, fuziuni și achiziții (M&amp;A), aspecte legate de acționari și organele de conducere, redactarea și negocierea contractelor, asistența la implementare, precum și activități de advocacy și lobby regulator. De asemenea, firma oferă consultanță specializată în materie de concurență, cu expertiză în controlul concentrărilor economice, acorduri anticoncurențiale, abuz de poziție dominantă și ajutor de stat. Avocații ERA asistă clienții în evaluarea modelelor de distribuție hibride, în gestionarea investigațiilor și în comunicarea cu autoritățile de reglementare, combinând expertiza juridică aprofundată cu o perspectivă practică asupra pieței.</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Portofoliul de clienți al firmei acoperă peste 23 de sectoare economice, printre care imobiliare, construcții, sectorul bancar, asigurări, tehnologia informației și comunicațiilor, media, industria auto, energie, retail și inginerie industrială, demonstrând capacitatea ERA de a se adapta provocărilor specifice fiecărui sector. Printre clienții reprezentativi se numără Philip Morris Sales &amp; Marketing în industria tutunului; Vienna Insurance Group, Moldasig și Donaris în sectorul asigurărilor; instituții financiare precum Victoriabank, MAIB, FinComBank și Banca Transilvania (România); companii din domeniul tehnologic și industrial, inclusiv Huawei, Google, TikTok, ISUZU și Draxlmaier; precum și mari retaileri precum METRO Cash &amp; Carry și Kaufland.</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ERA acordă, totodată, asistență juridică frecventă autorităților publice, inclusiv Guvernului Republicii Moldova, Comisiei Naționale a Pieței Financiare și Moldova IT Park, oferind contribuții juridice de încredere în elaborarea și implementarea politicilor publice și a cadrului regulator.</a:t>
            </a:r>
            <a:endParaRPr/>
          </a:p>
          <a:p>
            <a:pPr marL="0" lvl="0" indent="0" algn="just" rtl="0">
              <a:lnSpc>
                <a:spcPct val="90000"/>
              </a:lnSpc>
              <a:spcBef>
                <a:spcPts val="1095"/>
              </a:spcBef>
              <a:spcAft>
                <a:spcPts val="0"/>
              </a:spcAft>
              <a:buClr>
                <a:schemeClr val="dk1"/>
              </a:buClr>
              <a:buSzPct val="100000"/>
              <a:buNone/>
            </a:pPr>
            <a:r>
              <a:rPr lang="en-US" sz="3300">
                <a:latin typeface="Cambria"/>
                <a:ea typeface="Cambria"/>
                <a:cs typeface="Cambria"/>
                <a:sym typeface="Cambria"/>
              </a:rPr>
              <a:t>Aceste parteneriate de durată,  confirmă poziția ERA de partener juridic de referință în Republica Moldova, atât pentru companii private, cât și pentru instituții publice. Clienții aleg ERA pentru consultanță juridică cuprinzătoare, adaptată specificului fiecărui sector, și pentru siguranța de a lua decizii ferme în contexte juridice complexe.</a:t>
            </a:r>
            <a:endParaRPr/>
          </a:p>
          <a:p>
            <a:pPr marL="0" lvl="0" indent="0" algn="l" rtl="0">
              <a:lnSpc>
                <a:spcPct val="90000"/>
              </a:lnSpc>
              <a:spcBef>
                <a:spcPts val="1095"/>
              </a:spcBef>
              <a:spcAft>
                <a:spcPts val="0"/>
              </a:spcAft>
              <a:buClr>
                <a:schemeClr val="dk1"/>
              </a:buClr>
              <a:buSzPct val="100000"/>
              <a:buNone/>
            </a:pPr>
            <a:endParaRPr>
              <a:latin typeface="Cambria"/>
              <a:ea typeface="Cambria"/>
              <a:cs typeface="Cambria"/>
              <a:sym typeface="Cambria"/>
            </a:endParaRPr>
          </a:p>
          <a:p>
            <a:pPr marL="250203" lvl="0" indent="-143205" algn="l" rtl="0">
              <a:lnSpc>
                <a:spcPct val="90000"/>
              </a:lnSpc>
              <a:spcBef>
                <a:spcPts val="1095"/>
              </a:spcBef>
              <a:spcAft>
                <a:spcPts val="0"/>
              </a:spcAft>
              <a:buClr>
                <a:schemeClr val="dk1"/>
              </a:buClr>
              <a:buSzPct val="100000"/>
              <a:buNone/>
            </a:pPr>
            <a:endParaRPr/>
          </a:p>
        </p:txBody>
      </p:sp>
      <p:sp>
        <p:nvSpPr>
          <p:cNvPr id="189" name="Google Shape;189;p9"/>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cxnSp>
        <p:nvCxnSpPr>
          <p:cNvPr id="190" name="Google Shape;190;p9"/>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191" name="Google Shape;191;p9"/>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192" name="Google Shape;192;p9"/>
          <p:cNvGrpSpPr/>
          <p:nvPr/>
        </p:nvGrpSpPr>
        <p:grpSpPr>
          <a:xfrm>
            <a:off x="639425" y="7686554"/>
            <a:ext cx="611624" cy="278385"/>
            <a:chOff x="639425" y="7686554"/>
            <a:chExt cx="611624" cy="278385"/>
          </a:xfrm>
        </p:grpSpPr>
        <p:pic>
          <p:nvPicPr>
            <p:cNvPr id="193" name="Google Shape;193;p9"/>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194" name="Google Shape;194;p9"/>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195" name="Google Shape;195;p9"/>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Secșiunea 3: </a:t>
            </a:r>
            <a:r>
              <a:rPr lang="en-US" sz="1400" b="1">
                <a:solidFill>
                  <a:schemeClr val="dk1"/>
                </a:solidFill>
                <a:latin typeface="Cambria"/>
                <a:ea typeface="Cambria"/>
                <a:cs typeface="Cambria"/>
                <a:sym typeface="Cambria"/>
              </a:rPr>
              <a:t>Profilul</a:t>
            </a:r>
            <a:r>
              <a:rPr lang="en-US" sz="1400" b="1">
                <a:solidFill>
                  <a:srgbClr val="DA1F28"/>
                </a:solidFill>
                <a:latin typeface="Cambria"/>
                <a:ea typeface="Cambria"/>
                <a:cs typeface="Cambria"/>
                <a:sym typeface="Cambria"/>
              </a:rPr>
              <a:t>  </a:t>
            </a:r>
            <a:r>
              <a:rPr lang="en-US" sz="1400" b="1">
                <a:solidFill>
                  <a:schemeClr val="dk1"/>
                </a:solidFill>
                <a:latin typeface="Cambria"/>
                <a:ea typeface="Cambria"/>
                <a:cs typeface="Cambria"/>
                <a:sym typeface="Cambria"/>
              </a:rPr>
              <a:t>ERA</a:t>
            </a:r>
            <a:endParaRPr/>
          </a:p>
        </p:txBody>
      </p:sp>
      <p:sp>
        <p:nvSpPr>
          <p:cNvPr id="196" name="Google Shape;196;p9"/>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000" b="1">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Cambria"/>
              <a:buNone/>
            </a:pPr>
            <a:r>
              <a:rPr lang="en-US" sz="3200" b="1">
                <a:solidFill>
                  <a:schemeClr val="lt1"/>
                </a:solidFill>
                <a:latin typeface="Cambria"/>
                <a:ea typeface="Cambria"/>
                <a:cs typeface="Cambria"/>
                <a:sym typeface="Cambria"/>
              </a:rPr>
              <a:t>Secțiunea 4</a:t>
            </a:r>
            <a:br>
              <a:rPr lang="en-US" sz="3200" b="1">
                <a:solidFill>
                  <a:schemeClr val="lt1"/>
                </a:solidFill>
                <a:latin typeface="Cambria"/>
                <a:ea typeface="Cambria"/>
                <a:cs typeface="Cambria"/>
                <a:sym typeface="Cambria"/>
              </a:rPr>
            </a:br>
            <a:br>
              <a:rPr lang="en-US" sz="3200" b="1">
                <a:solidFill>
                  <a:schemeClr val="lt1"/>
                </a:solidFill>
                <a:latin typeface="Cambria"/>
                <a:ea typeface="Cambria"/>
                <a:cs typeface="Cambria"/>
                <a:sym typeface="Cambria"/>
              </a:rPr>
            </a:br>
            <a:r>
              <a:rPr lang="en-US" sz="3200" b="1">
                <a:solidFill>
                  <a:schemeClr val="lt1"/>
                </a:solidFill>
                <a:latin typeface="Cambria"/>
                <a:ea typeface="Cambria"/>
                <a:cs typeface="Cambria"/>
                <a:sym typeface="Cambria"/>
              </a:rPr>
              <a:t>Experiență relevantă: Fuziuni și Achiziții</a:t>
            </a:r>
            <a:endParaRPr sz="3200">
              <a:solidFill>
                <a:schemeClr val="lt1"/>
              </a:solidFill>
            </a:endParaRPr>
          </a:p>
        </p:txBody>
      </p:sp>
      <p:sp>
        <p:nvSpPr>
          <p:cNvPr id="203" name="Google Shape;203;p10"/>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04" name="Google Shape;204;p10"/>
          <p:cNvGrpSpPr/>
          <p:nvPr/>
        </p:nvGrpSpPr>
        <p:grpSpPr>
          <a:xfrm>
            <a:off x="639425" y="7686554"/>
            <a:ext cx="611624" cy="278385"/>
            <a:chOff x="639425" y="7686554"/>
            <a:chExt cx="611624" cy="278385"/>
          </a:xfrm>
        </p:grpSpPr>
        <p:pic>
          <p:nvPicPr>
            <p:cNvPr id="205" name="Google Shape;205;p10"/>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06" name="Google Shape;206;p10"/>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07" name="Google Shape;207;p10"/>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aphicFrame>
        <p:nvGraphicFramePr>
          <p:cNvPr id="213" name="Google Shape;213;p11"/>
          <p:cNvGraphicFramePr/>
          <p:nvPr>
            <p:extLst>
              <p:ext uri="{D42A27DB-BD31-4B8C-83A1-F6EECF244321}">
                <p14:modId xmlns:p14="http://schemas.microsoft.com/office/powerpoint/2010/main" val="2252648456"/>
              </p:ext>
            </p:extLst>
          </p:nvPr>
        </p:nvGraphicFramePr>
        <p:xfrm>
          <a:off x="299449" y="1408617"/>
          <a:ext cx="12745625" cy="5890380"/>
        </p:xfrm>
        <a:graphic>
          <a:graphicData uri="http://schemas.openxmlformats.org/drawingml/2006/table">
            <a:tbl>
              <a:tblPr firstCol="1">
                <a:noFill/>
                <a:tableStyleId>{73599C68-CCEA-4331-8874-6C1E036581AA}</a:tableStyleId>
              </a:tblPr>
              <a:tblGrid>
                <a:gridCol w="2375050">
                  <a:extLst>
                    <a:ext uri="{9D8B030D-6E8A-4147-A177-3AD203B41FA5}">
                      <a16:colId xmlns:a16="http://schemas.microsoft.com/office/drawing/2014/main" val="20000"/>
                    </a:ext>
                  </a:extLst>
                </a:gridCol>
                <a:gridCol w="10370575">
                  <a:extLst>
                    <a:ext uri="{9D8B030D-6E8A-4147-A177-3AD203B41FA5}">
                      <a16:colId xmlns:a16="http://schemas.microsoft.com/office/drawing/2014/main" val="20001"/>
                    </a:ext>
                  </a:extLst>
                </a:gridCol>
              </a:tblGrid>
              <a:tr h="274320">
                <a:tc>
                  <a:txBody>
                    <a:bodyPr/>
                    <a:lstStyle/>
                    <a:p>
                      <a:pPr marL="0" marR="0" lvl="0" indent="0" algn="l" rtl="0">
                        <a:spcBef>
                          <a:spcPts val="0"/>
                        </a:spcBef>
                        <a:spcAft>
                          <a:spcPts val="0"/>
                        </a:spcAft>
                        <a:buNone/>
                      </a:pPr>
                      <a:endParaRPr sz="1200" b="1">
                        <a:solidFill>
                          <a:schemeClr val="dk1"/>
                        </a:solidFill>
                        <a:latin typeface="Cambria"/>
                        <a:ea typeface="Cambria"/>
                        <a:cs typeface="Cambria"/>
                        <a:sym typeface="Cambria"/>
                      </a:endParaRPr>
                    </a:p>
                    <a:p>
                      <a:pPr marL="0" marR="0" lvl="0" indent="0" algn="l" rtl="0">
                        <a:spcBef>
                          <a:spcPts val="0"/>
                        </a:spcBef>
                        <a:spcAft>
                          <a:spcPts val="0"/>
                        </a:spcAft>
                        <a:buNone/>
                      </a:pPr>
                      <a:r>
                        <a:rPr lang="en-US" sz="1100" b="1">
                          <a:solidFill>
                            <a:schemeClr val="dk1"/>
                          </a:solidFill>
                          <a:latin typeface="Cambria"/>
                          <a:ea typeface="Cambria"/>
                          <a:cs typeface="Cambria"/>
                          <a:sym typeface="Cambria"/>
                        </a:rPr>
                        <a:t>Vienna Insurance Group</a:t>
                      </a:r>
                      <a:endParaRPr sz="1100" b="1">
                        <a:latin typeface="Cambria"/>
                        <a:ea typeface="Cambria"/>
                        <a:cs typeface="Cambria"/>
                        <a:sym typeface="Cambria"/>
                      </a:endParaRPr>
                    </a:p>
                  </a:txBody>
                  <a:tcPr marL="100075" marR="100075" marT="50050" marB="50050"/>
                </a:tc>
                <a:tc>
                  <a:txBody>
                    <a:bodyPr/>
                    <a:lstStyle/>
                    <a:p>
                      <a:pPr marL="0" marR="0" lvl="0" indent="0" algn="just" rtl="0">
                        <a:lnSpc>
                          <a:spcPct val="100000"/>
                        </a:lnSpc>
                        <a:spcBef>
                          <a:spcPts val="0"/>
                        </a:spcBef>
                        <a:spcAft>
                          <a:spcPts val="0"/>
                        </a:spcAft>
                        <a:buNone/>
                      </a:pPr>
                      <a:endParaRPr sz="11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100" b="0">
                          <a:solidFill>
                            <a:schemeClr val="dk1"/>
                          </a:solidFill>
                          <a:latin typeface="Cambria"/>
                          <a:ea typeface="Cambria"/>
                          <a:cs typeface="Cambria"/>
                          <a:sym typeface="Cambria"/>
                        </a:rPr>
                        <a:t>Am acordat asistență juridică în clitate de unici avocați ai Vienna Insurance Group (VIG) în legătură cu achiziția Moldasig S.A., cea mai mare companie de asigurări din Republica Moldova, într-o tranzacție complexă de tip </a:t>
                      </a:r>
                      <a:r>
                        <a:rPr lang="en-US" sz="1100" b="0" i="1">
                          <a:solidFill>
                            <a:schemeClr val="dk1"/>
                          </a:solidFill>
                          <a:latin typeface="Cambria"/>
                          <a:ea typeface="Cambria"/>
                          <a:cs typeface="Cambria"/>
                          <a:sym typeface="Cambria"/>
                        </a:rPr>
                        <a:t>back-to-back</a:t>
                      </a:r>
                      <a:r>
                        <a:rPr lang="en-US" sz="1100" b="0">
                          <a:solidFill>
                            <a:schemeClr val="dk1"/>
                          </a:solidFill>
                          <a:latin typeface="Cambria"/>
                          <a:ea typeface="Cambria"/>
                          <a:cs typeface="Cambria"/>
                          <a:sym typeface="Cambria"/>
                        </a:rPr>
                        <a:t>, care a implicat statul Republica Moldova. Statul a dobândit inițial acțiunile printr-un mecanism de anulare și reemitere, urmând să le vândă ulterior unui investitor calificat prin intermediul unei proceduri de licitație publică. Tranzacția a fost structurată pentru a fi finalizată până la sfârșitul lunii august 2025 Operațiunea a avut o importanță strategică atât pentru client, cât și pentru piața asigurărilor din Republica Moldova, reprezentând un pas esențial în procesul de stabilizare și profesionalizare a sectorului. Am avut un rol determinant în structurarea tranzacției, prin conceperea unui mecanism care a permis statului să dobândească și să revândă imediat acțiunile în conformitate cu legislația în materie de privatizare, asigurând securitatea juridică a investitorului și compatibilitatea cu cerințele dreptului concurenței.. Structura tranzacției a presupus corelarea și succesiunea a două contracte interdependente — achiziția acțiunilor de către stat și vânzarea ulterioară către VIG — condiționate de constatarea interesului public și de obținerea aprobărilor regulatorii relevante. Asistența juridică a acoperit toate etapele tranzacției, de la due diligence și structurarea operațiunii, până la negocierea documentației tranzacționale și coordonarea cu principalele autorități ale statului. În prezent, singura etapă aflată în curs este procedura de examinare a concentrării economice în fața Consiliului Concurenței.</a:t>
                      </a:r>
                      <a:endParaRPr/>
                    </a:p>
                  </a:txBody>
                  <a:tcPr marL="100075" marR="100075" marT="50050" marB="50050"/>
                </a:tc>
                <a:extLst>
                  <a:ext uri="{0D108BD9-81ED-4DB2-BD59-A6C34878D82A}">
                    <a16:rowId xmlns:a16="http://schemas.microsoft.com/office/drawing/2014/main" val="10000"/>
                  </a:ext>
                </a:extLst>
              </a:tr>
              <a:tr h="274320">
                <a:tc>
                  <a:txBody>
                    <a:bodyPr/>
                    <a:lstStyle/>
                    <a:p>
                      <a:pPr marL="0" marR="0" lvl="0" indent="0" algn="l" rtl="0">
                        <a:spcBef>
                          <a:spcPts val="0"/>
                        </a:spcBef>
                        <a:spcAft>
                          <a:spcPts val="0"/>
                        </a:spcAft>
                        <a:buNone/>
                      </a:pPr>
                      <a:r>
                        <a:rPr lang="en-US" sz="1000" b="1">
                          <a:latin typeface="Cambria"/>
                          <a:ea typeface="Cambria"/>
                          <a:cs typeface="Cambria"/>
                          <a:sym typeface="Cambria"/>
                        </a:rPr>
                        <a:t>Guvernul Republicii Moldova  </a:t>
                      </a:r>
                      <a:endParaRPr/>
                    </a:p>
                    <a:p>
                      <a:pPr marL="0" marR="0" lvl="0" indent="0" algn="l" rtl="0">
                        <a:spcBef>
                          <a:spcPts val="0"/>
                        </a:spcBef>
                        <a:spcAft>
                          <a:spcPts val="0"/>
                        </a:spcAft>
                        <a:buNone/>
                      </a:pPr>
                      <a:endParaRPr sz="1200" b="0">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None/>
                      </a:pPr>
                      <a:r>
                        <a:rPr lang="en-US" sz="1100" b="0" dirty="0">
                          <a:solidFill>
                            <a:schemeClr val="dk1"/>
                          </a:solidFill>
                          <a:latin typeface="Cambria"/>
                          <a:ea typeface="Cambria"/>
                          <a:cs typeface="Cambria"/>
                          <a:sym typeface="Cambria"/>
                        </a:rPr>
                        <a:t>ERA a </a:t>
                      </a:r>
                      <a:r>
                        <a:rPr lang="en-US" sz="1100" b="0" dirty="0" err="1">
                          <a:solidFill>
                            <a:schemeClr val="dk1"/>
                          </a:solidFill>
                          <a:latin typeface="Cambria"/>
                          <a:ea typeface="Cambria"/>
                          <a:cs typeface="Cambria"/>
                          <a:sym typeface="Cambria"/>
                        </a:rPr>
                        <a:t>acordat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asistență</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juridică</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Guvernului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Republicii</a:t>
                      </a:r>
                      <a:r>
                        <a:rPr lang="en-US" sz="1100" b="0" dirty="0">
                          <a:solidFill>
                            <a:schemeClr val="dk1"/>
                          </a:solidFill>
                          <a:latin typeface="Cambria"/>
                          <a:ea typeface="Cambria"/>
                          <a:cs typeface="Cambria"/>
                          <a:sym typeface="Cambria"/>
                        </a:rPr>
                        <a:t> Moldova, </a:t>
                      </a:r>
                      <a:r>
                        <a:rPr lang="en-US" sz="1100" b="0" dirty="0" err="1">
                          <a:solidFill>
                            <a:schemeClr val="dk1"/>
                          </a:solidFill>
                          <a:latin typeface="Cambria"/>
                          <a:ea typeface="Cambria"/>
                          <a:cs typeface="Cambria"/>
                          <a:sym typeface="Cambria"/>
                        </a:rPr>
                        <a:t>prin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intermediul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Agenției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Proprietății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Publice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cadrul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tranzacției</a:t>
                      </a:r>
                      <a:r>
                        <a:rPr lang="en-US" sz="1100" b="0" dirty="0">
                          <a:solidFill>
                            <a:schemeClr val="dk1"/>
                          </a:solidFill>
                          <a:latin typeface="Cambria"/>
                          <a:ea typeface="Cambria"/>
                          <a:cs typeface="Cambria"/>
                          <a:sym typeface="Cambria"/>
                        </a:rPr>
                        <a:t> de </a:t>
                      </a:r>
                      <a:r>
                        <a:rPr lang="en-US" sz="1100" b="0" dirty="0" err="1">
                          <a:solidFill>
                            <a:schemeClr val="dk1"/>
                          </a:solidFill>
                          <a:latin typeface="Cambria"/>
                          <a:ea typeface="Cambria"/>
                          <a:cs typeface="Cambria"/>
                          <a:sym typeface="Cambria"/>
                        </a:rPr>
                        <a:t>vânzare</a:t>
                      </a:r>
                      <a:r>
                        <a:rPr lang="en-US" sz="1100" b="0" dirty="0">
                          <a:solidFill>
                            <a:schemeClr val="dk1"/>
                          </a:solidFill>
                          <a:latin typeface="Cambria"/>
                          <a:ea typeface="Cambria"/>
                          <a:cs typeface="Cambria"/>
                          <a:sym typeface="Cambria"/>
                        </a:rPr>
                        <a:t> a 63,8865% din </a:t>
                      </a:r>
                      <a:r>
                        <a:rPr lang="en-US" sz="1100" b="0" dirty="0" err="1">
                          <a:solidFill>
                            <a:schemeClr val="dk1"/>
                          </a:solidFill>
                          <a:latin typeface="Cambria"/>
                          <a:ea typeface="Cambria"/>
                          <a:cs typeface="Cambria"/>
                          <a:sym typeface="Cambria"/>
                        </a:rPr>
                        <a:t>capitalul</a:t>
                      </a:r>
                      <a:r>
                        <a:rPr lang="en-US" sz="1100" b="0" dirty="0">
                          <a:solidFill>
                            <a:schemeClr val="dk1"/>
                          </a:solidFill>
                          <a:latin typeface="Cambria"/>
                          <a:ea typeface="Cambria"/>
                          <a:cs typeface="Cambria"/>
                          <a:sym typeface="Cambria"/>
                        </a:rPr>
                        <a:t> social al B.C. „</a:t>
                      </a:r>
                      <a:r>
                        <a:rPr lang="en-US" sz="1100" b="0" dirty="0" err="1">
                          <a:solidFill>
                            <a:schemeClr val="dk1"/>
                          </a:solidFill>
                          <a:latin typeface="Cambria"/>
                          <a:ea typeface="Cambria"/>
                          <a:cs typeface="Cambria"/>
                          <a:sym typeface="Cambria"/>
                        </a:rPr>
                        <a:t>Moldindconbank</a:t>
                      </a:r>
                      <a:r>
                        <a:rPr lang="en-US" sz="1100" b="0" dirty="0">
                          <a:solidFill>
                            <a:schemeClr val="dk1"/>
                          </a:solidFill>
                          <a:latin typeface="Cambria"/>
                          <a:ea typeface="Cambria"/>
                          <a:cs typeface="Cambria"/>
                          <a:sym typeface="Cambria"/>
                        </a:rPr>
                        <a:t>” S.A.,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valoare</a:t>
                      </a:r>
                      <a:r>
                        <a:rPr lang="en-US" sz="1100" b="0" dirty="0">
                          <a:solidFill>
                            <a:schemeClr val="dk1"/>
                          </a:solidFill>
                          <a:latin typeface="Cambria"/>
                          <a:ea typeface="Cambria"/>
                          <a:cs typeface="Cambria"/>
                          <a:sym typeface="Cambria"/>
                        </a:rPr>
                        <a:t> de </a:t>
                      </a:r>
                      <a:r>
                        <a:rPr lang="en-US" sz="1100" b="0" dirty="0" err="1">
                          <a:solidFill>
                            <a:schemeClr val="dk1"/>
                          </a:solidFill>
                          <a:latin typeface="Cambria"/>
                          <a:ea typeface="Cambria"/>
                          <a:cs typeface="Cambria"/>
                          <a:sym typeface="Cambria"/>
                        </a:rPr>
                        <a:t>aproximativ</a:t>
                      </a:r>
                      <a:r>
                        <a:rPr lang="en-US" sz="1100" b="0" dirty="0">
                          <a:solidFill>
                            <a:schemeClr val="dk1"/>
                          </a:solidFill>
                          <a:latin typeface="Cambria"/>
                          <a:ea typeface="Cambria"/>
                          <a:cs typeface="Cambria"/>
                          <a:sym typeface="Cambria"/>
                        </a:rPr>
                        <a:t> 39.000.000 EUR, </a:t>
                      </a:r>
                      <a:r>
                        <a:rPr lang="en-US" sz="1100" b="0" dirty="0" err="1">
                          <a:solidFill>
                            <a:schemeClr val="dk1"/>
                          </a:solidFill>
                          <a:latin typeface="Cambria"/>
                          <a:ea typeface="Cambria"/>
                          <a:cs typeface="Cambria"/>
                          <a:sym typeface="Cambria"/>
                        </a:rPr>
                        <a:t>către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Doverie</a:t>
                      </a:r>
                      <a:r>
                        <a:rPr lang="en-US" sz="1100" b="0" dirty="0">
                          <a:solidFill>
                            <a:schemeClr val="dk1"/>
                          </a:solidFill>
                          <a:latin typeface="Cambria"/>
                          <a:ea typeface="Cambria"/>
                          <a:cs typeface="Cambria"/>
                          <a:sym typeface="Cambria"/>
                        </a:rPr>
                        <a:t> United-Holding AD din Bulgaria. </a:t>
                      </a:r>
                      <a:r>
                        <a:rPr lang="en-US" sz="1100" b="0" dirty="0" err="1">
                          <a:solidFill>
                            <a:schemeClr val="dk1"/>
                          </a:solidFill>
                          <a:latin typeface="Cambria"/>
                          <a:ea typeface="Cambria"/>
                          <a:cs typeface="Cambria"/>
                          <a:sym typeface="Cambria"/>
                        </a:rPr>
                        <a:t>Doverie</a:t>
                      </a:r>
                      <a:r>
                        <a:rPr lang="en-US" sz="1100" b="0" dirty="0">
                          <a:solidFill>
                            <a:schemeClr val="dk1"/>
                          </a:solidFill>
                          <a:latin typeface="Cambria"/>
                          <a:ea typeface="Cambria"/>
                          <a:cs typeface="Cambria"/>
                          <a:sym typeface="Cambria"/>
                        </a:rPr>
                        <a:t> United-Holding AD, </a:t>
                      </a:r>
                      <a:r>
                        <a:rPr lang="en-US" sz="1100" b="0" dirty="0" err="1">
                          <a:solidFill>
                            <a:schemeClr val="dk1"/>
                          </a:solidFill>
                          <a:latin typeface="Cambria"/>
                          <a:ea typeface="Cambria"/>
                          <a:cs typeface="Cambria"/>
                          <a:sym typeface="Cambria"/>
                        </a:rPr>
                        <a:t>investitor</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european</a:t>
                      </a:r>
                      <a:r>
                        <a:rPr lang="en-US" sz="1100" b="0" dirty="0">
                          <a:solidFill>
                            <a:schemeClr val="dk1"/>
                          </a:solidFill>
                          <a:latin typeface="Cambria"/>
                          <a:ea typeface="Cambria"/>
                          <a:cs typeface="Cambria"/>
                          <a:sym typeface="Cambria"/>
                        </a:rPr>
                        <a:t>, a </a:t>
                      </a:r>
                      <a:r>
                        <a:rPr lang="en-US" sz="1100" b="0" dirty="0" err="1">
                          <a:solidFill>
                            <a:schemeClr val="dk1"/>
                          </a:solidFill>
                          <a:latin typeface="Cambria"/>
                          <a:ea typeface="Cambria"/>
                          <a:cs typeface="Cambria"/>
                          <a:sym typeface="Cambria"/>
                        </a:rPr>
                        <a:t>achiziționat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participația</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unică</a:t>
                      </a:r>
                      <a:r>
                        <a:rPr lang="en-US" sz="1100" b="0" dirty="0">
                          <a:solidFill>
                            <a:schemeClr val="dk1"/>
                          </a:solidFill>
                          <a:latin typeface="Cambria"/>
                          <a:ea typeface="Cambria"/>
                          <a:cs typeface="Cambria"/>
                          <a:sym typeface="Cambria"/>
                        </a:rPr>
                        <a:t> de 63,89% din </a:t>
                      </a:r>
                      <a:r>
                        <a:rPr lang="en-US" sz="1100" b="0" dirty="0" err="1">
                          <a:solidFill>
                            <a:schemeClr val="dk1"/>
                          </a:solidFill>
                          <a:latin typeface="Cambria"/>
                          <a:ea typeface="Cambria"/>
                          <a:cs typeface="Cambria"/>
                          <a:sym typeface="Cambria"/>
                        </a:rPr>
                        <a:t>capitalul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băncii.Tranzacția</a:t>
                      </a:r>
                      <a:r>
                        <a:rPr lang="en-US" sz="1100" b="0" dirty="0">
                          <a:solidFill>
                            <a:schemeClr val="dk1"/>
                          </a:solidFill>
                          <a:latin typeface="Cambria"/>
                          <a:ea typeface="Cambria"/>
                          <a:cs typeface="Cambria"/>
                          <a:sym typeface="Cambria"/>
                        </a:rPr>
                        <a:t> a </a:t>
                      </a:r>
                      <a:r>
                        <a:rPr lang="en-US" sz="1100" b="0" dirty="0" err="1">
                          <a:solidFill>
                            <a:schemeClr val="dk1"/>
                          </a:solidFill>
                          <a:latin typeface="Cambria"/>
                          <a:ea typeface="Cambria"/>
                          <a:cs typeface="Cambria"/>
                          <a:sym typeface="Cambria"/>
                        </a:rPr>
                        <a:t>fost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realizată</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prin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intermediul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Agenției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Proprietății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Publice</a:t>
                      </a:r>
                      <a:r>
                        <a:rPr lang="en-US" sz="1100" b="0" dirty="0">
                          <a:solidFill>
                            <a:schemeClr val="dk1"/>
                          </a:solidFill>
                          <a:latin typeface="Cambria"/>
                          <a:ea typeface="Cambria"/>
                          <a:cs typeface="Cambria"/>
                          <a:sym typeface="Cambria"/>
                        </a:rPr>
                        <a:t>, care a </a:t>
                      </a:r>
                      <a:r>
                        <a:rPr lang="en-US" sz="1100" b="0" dirty="0" err="1">
                          <a:solidFill>
                            <a:schemeClr val="dk1"/>
                          </a:solidFill>
                          <a:latin typeface="Cambria"/>
                          <a:ea typeface="Cambria"/>
                          <a:cs typeface="Cambria"/>
                          <a:sym typeface="Cambria"/>
                        </a:rPr>
                        <a:t>dobândit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inițial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acțiunile</a:t>
                      </a:r>
                      <a:r>
                        <a:rPr lang="en-US" sz="1100" b="0" dirty="0">
                          <a:solidFill>
                            <a:schemeClr val="dk1"/>
                          </a:solidFill>
                          <a:latin typeface="Cambria"/>
                          <a:ea typeface="Cambria"/>
                          <a:cs typeface="Cambria"/>
                          <a:sym typeface="Cambria"/>
                        </a:rPr>
                        <a:t> de la </a:t>
                      </a:r>
                      <a:r>
                        <a:rPr lang="en-US" sz="1100" b="0" dirty="0" err="1">
                          <a:solidFill>
                            <a:schemeClr val="dk1"/>
                          </a:solidFill>
                          <a:latin typeface="Cambria"/>
                          <a:ea typeface="Cambria"/>
                          <a:cs typeface="Cambria"/>
                          <a:sym typeface="Cambria"/>
                        </a:rPr>
                        <a:t>Moldindconbank</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și</a:t>
                      </a:r>
                      <a:r>
                        <a:rPr lang="en-US" sz="1100" b="0" dirty="0">
                          <a:solidFill>
                            <a:schemeClr val="dk1"/>
                          </a:solidFill>
                          <a:latin typeface="Cambria"/>
                          <a:ea typeface="Cambria"/>
                          <a:cs typeface="Cambria"/>
                          <a:sym typeface="Cambria"/>
                        </a:rPr>
                        <a:t> le-a </a:t>
                      </a:r>
                      <a:r>
                        <a:rPr lang="en-US" sz="1100" b="0" dirty="0" err="1">
                          <a:solidFill>
                            <a:schemeClr val="dk1"/>
                          </a:solidFill>
                          <a:latin typeface="Cambria"/>
                          <a:ea typeface="Cambria"/>
                          <a:cs typeface="Cambria"/>
                          <a:sym typeface="Cambria"/>
                        </a:rPr>
                        <a:t>vândut</a:t>
                      </a:r>
                      <a:r>
                        <a:rPr lang="en-US" sz="1100" b="0" dirty="0">
                          <a:solidFill>
                            <a:schemeClr val="dk1"/>
                          </a:solidFill>
                          <a:latin typeface="Cambria"/>
                          <a:ea typeface="Cambria"/>
                          <a:cs typeface="Cambria"/>
                          <a:sym typeface="Cambria"/>
                        </a:rPr>
                        <a:t> ulterior </a:t>
                      </a:r>
                      <a:r>
                        <a:rPr lang="en-US" sz="1100" b="0" dirty="0" err="1">
                          <a:solidFill>
                            <a:schemeClr val="dk1"/>
                          </a:solidFill>
                          <a:latin typeface="Cambria"/>
                          <a:ea typeface="Cambria"/>
                          <a:cs typeface="Cambria"/>
                          <a:sym typeface="Cambria"/>
                        </a:rPr>
                        <a:t>investitorului</a:t>
                      </a:r>
                      <a:r>
                        <a:rPr lang="en-US" sz="1100" b="0" dirty="0">
                          <a:solidFill>
                            <a:schemeClr val="dk1"/>
                          </a:solidFill>
                          <a:latin typeface="Cambria"/>
                          <a:ea typeface="Cambria"/>
                          <a:cs typeface="Cambria"/>
                          <a:sym typeface="Cambria"/>
                        </a:rPr>
                        <a:t> bulgar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cadrul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unei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licitații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publice</a:t>
                      </a:r>
                      <a:r>
                        <a:rPr lang="en-US" sz="1100" b="0" dirty="0">
                          <a:solidFill>
                            <a:schemeClr val="dk1"/>
                          </a:solidFill>
                          <a:latin typeface="Cambria"/>
                          <a:ea typeface="Cambria"/>
                          <a:cs typeface="Cambria"/>
                          <a:sym typeface="Cambria"/>
                        </a:rPr>
                        <a:t>. ERA a </a:t>
                      </a:r>
                      <a:r>
                        <a:rPr lang="en-US" sz="1100" b="0" dirty="0" err="1">
                          <a:solidFill>
                            <a:schemeClr val="dk1"/>
                          </a:solidFill>
                          <a:latin typeface="Cambria"/>
                          <a:ea typeface="Cambria"/>
                          <a:cs typeface="Cambria"/>
                          <a:sym typeface="Cambria"/>
                        </a:rPr>
                        <a:t>redactat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antecontractul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și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contractul</a:t>
                      </a:r>
                      <a:r>
                        <a:rPr lang="en-US" sz="1100" b="0" dirty="0">
                          <a:solidFill>
                            <a:schemeClr val="dk1"/>
                          </a:solidFill>
                          <a:latin typeface="Cambria"/>
                          <a:ea typeface="Cambria"/>
                          <a:cs typeface="Cambria"/>
                          <a:sym typeface="Cambria"/>
                        </a:rPr>
                        <a:t> de </a:t>
                      </a:r>
                      <a:r>
                        <a:rPr lang="en-US" sz="1100" b="0" dirty="0" err="1">
                          <a:solidFill>
                            <a:schemeClr val="dk1"/>
                          </a:solidFill>
                          <a:latin typeface="Cambria"/>
                          <a:ea typeface="Cambria"/>
                          <a:cs typeface="Cambria"/>
                          <a:sym typeface="Cambria"/>
                        </a:rPr>
                        <a:t>vânzare-cumpărare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participând</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activ</a:t>
                      </a:r>
                      <a:r>
                        <a:rPr lang="en-US" sz="1100" b="0" dirty="0">
                          <a:solidFill>
                            <a:schemeClr val="dk1"/>
                          </a:solidFill>
                          <a:latin typeface="Cambria"/>
                          <a:ea typeface="Cambria"/>
                          <a:cs typeface="Cambria"/>
                          <a:sym typeface="Cambria"/>
                        </a:rPr>
                        <a:t> la </a:t>
                      </a:r>
                      <a:r>
                        <a:rPr lang="en-US" sz="1100" b="0" dirty="0" err="1">
                          <a:solidFill>
                            <a:schemeClr val="dk1"/>
                          </a:solidFill>
                          <a:latin typeface="Cambria"/>
                          <a:ea typeface="Cambria"/>
                          <a:cs typeface="Cambria"/>
                          <a:sym typeface="Cambria"/>
                        </a:rPr>
                        <a:t>negocierile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aferente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tranzacției</a:t>
                      </a:r>
                      <a:r>
                        <a:rPr lang="en-US" sz="1100" b="0" dirty="0">
                          <a:solidFill>
                            <a:schemeClr val="dk1"/>
                          </a:solidFill>
                          <a:latin typeface="Cambria"/>
                          <a:ea typeface="Cambria"/>
                          <a:cs typeface="Cambria"/>
                          <a:sym typeface="Cambria"/>
                        </a:rPr>
                        <a:t>.</a:t>
                      </a:r>
                      <a:endParaRPr dirty="0"/>
                    </a:p>
                    <a:p>
                      <a:pPr marL="0" marR="0" lvl="0" indent="0" algn="l" rtl="0">
                        <a:spcBef>
                          <a:spcPts val="0"/>
                        </a:spcBef>
                        <a:spcAft>
                          <a:spcPts val="0"/>
                        </a:spcAft>
                        <a:buNone/>
                      </a:pPr>
                      <a:r>
                        <a:rPr lang="en-US" sz="1100" b="0" dirty="0">
                          <a:solidFill>
                            <a:schemeClr val="dk1"/>
                          </a:solidFill>
                          <a:latin typeface="Cambria"/>
                          <a:ea typeface="Cambria"/>
                          <a:cs typeface="Cambria"/>
                          <a:sym typeface="Cambria"/>
                        </a:rPr>
                        <a:t>De </a:t>
                      </a:r>
                      <a:r>
                        <a:rPr lang="en-US" sz="1100" b="0" dirty="0" err="1">
                          <a:solidFill>
                            <a:schemeClr val="dk1"/>
                          </a:solidFill>
                          <a:latin typeface="Cambria"/>
                          <a:ea typeface="Cambria"/>
                          <a:cs typeface="Cambria"/>
                          <a:sym typeface="Cambria"/>
                        </a:rPr>
                        <a:t>asemenea</a:t>
                      </a:r>
                      <a:r>
                        <a:rPr lang="en-US" sz="1100" b="0" dirty="0">
                          <a:solidFill>
                            <a:schemeClr val="dk1"/>
                          </a:solidFill>
                          <a:latin typeface="Cambria"/>
                          <a:ea typeface="Cambria"/>
                          <a:cs typeface="Cambria"/>
                          <a:sym typeface="Cambria"/>
                        </a:rPr>
                        <a:t>, ERA a </a:t>
                      </a:r>
                      <a:r>
                        <a:rPr lang="en-US" sz="1100" b="0" dirty="0" err="1">
                          <a:solidFill>
                            <a:schemeClr val="dk1"/>
                          </a:solidFill>
                          <a:latin typeface="Cambria"/>
                          <a:ea typeface="Cambria"/>
                          <a:cs typeface="Cambria"/>
                          <a:sym typeface="Cambria"/>
                        </a:rPr>
                        <a:t>revizuit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Hotărârea</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Guvernului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privind</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aprobarea</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textului</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antecontractului</a:t>
                      </a:r>
                      <a:r>
                        <a:rPr lang="en-US" sz="1100" b="0" dirty="0">
                          <a:solidFill>
                            <a:schemeClr val="dk1"/>
                          </a:solidFill>
                          <a:latin typeface="Cambria"/>
                          <a:ea typeface="Cambria"/>
                          <a:cs typeface="Cambria"/>
                          <a:sym typeface="Cambria"/>
                        </a:rPr>
                        <a:t>, care </a:t>
                      </a:r>
                      <a:r>
                        <a:rPr lang="en-US" sz="1100" b="0" dirty="0" err="1">
                          <a:solidFill>
                            <a:schemeClr val="dk1"/>
                          </a:solidFill>
                          <a:latin typeface="Cambria"/>
                          <a:ea typeface="Cambria"/>
                          <a:cs typeface="Cambria"/>
                          <a:sym typeface="Cambria"/>
                        </a:rPr>
                        <a:t>includea</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anexă</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contractul</a:t>
                      </a:r>
                      <a:r>
                        <a:rPr lang="en-US" sz="1100" b="0" dirty="0">
                          <a:solidFill>
                            <a:schemeClr val="dk1"/>
                          </a:solidFill>
                          <a:latin typeface="Cambria"/>
                          <a:ea typeface="Cambria"/>
                          <a:cs typeface="Cambria"/>
                          <a:sym typeface="Cambria"/>
                        </a:rPr>
                        <a:t> de </a:t>
                      </a:r>
                      <a:r>
                        <a:rPr lang="en-US" sz="1100" b="0" dirty="0" err="1">
                          <a:solidFill>
                            <a:schemeClr val="dk1"/>
                          </a:solidFill>
                          <a:latin typeface="Cambria"/>
                          <a:ea typeface="Cambria"/>
                          <a:cs typeface="Cambria"/>
                          <a:sym typeface="Cambria"/>
                        </a:rPr>
                        <a:t>vânzare-cumpărare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și</a:t>
                      </a:r>
                      <a:r>
                        <a:rPr lang="en-US" sz="1100" b="0" dirty="0">
                          <a:solidFill>
                            <a:schemeClr val="dk1"/>
                          </a:solidFill>
                          <a:latin typeface="Cambria"/>
                          <a:ea typeface="Cambria"/>
                          <a:cs typeface="Cambria"/>
                          <a:sym typeface="Cambria"/>
                        </a:rPr>
                        <a:t> a </a:t>
                      </a:r>
                      <a:r>
                        <a:rPr lang="en-US" sz="1100" b="0" dirty="0" err="1">
                          <a:solidFill>
                            <a:schemeClr val="dk1"/>
                          </a:solidFill>
                          <a:latin typeface="Cambria"/>
                          <a:ea typeface="Cambria"/>
                          <a:cs typeface="Cambria"/>
                          <a:sym typeface="Cambria"/>
                        </a:rPr>
                        <a:t>asistat</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clientul</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legătură</a:t>
                      </a:r>
                      <a:r>
                        <a:rPr lang="en-US" sz="1100" b="0" dirty="0">
                          <a:solidFill>
                            <a:schemeClr val="dk1"/>
                          </a:solidFill>
                          <a:latin typeface="Cambria"/>
                          <a:ea typeface="Cambria"/>
                          <a:cs typeface="Cambria"/>
                          <a:sym typeface="Cambria"/>
                        </a:rPr>
                        <a:t> cu </a:t>
                      </a:r>
                      <a:r>
                        <a:rPr lang="en-US" sz="1100" b="0" dirty="0" err="1">
                          <a:solidFill>
                            <a:schemeClr val="dk1"/>
                          </a:solidFill>
                          <a:latin typeface="Cambria"/>
                          <a:ea typeface="Cambria"/>
                          <a:cs typeface="Cambria"/>
                          <a:sym typeface="Cambria"/>
                        </a:rPr>
                        <a:t>cerințele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aplicabile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în</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materie</a:t>
                      </a:r>
                      <a:r>
                        <a:rPr lang="en-US" sz="1100" b="0" dirty="0">
                          <a:solidFill>
                            <a:schemeClr val="dk1"/>
                          </a:solidFill>
                          <a:latin typeface="Cambria"/>
                          <a:ea typeface="Cambria"/>
                          <a:cs typeface="Cambria"/>
                          <a:sym typeface="Cambria"/>
                        </a:rPr>
                        <a:t> de </a:t>
                      </a:r>
                      <a:r>
                        <a:rPr lang="en-US" sz="1100" b="0" dirty="0" err="1">
                          <a:solidFill>
                            <a:schemeClr val="dk1"/>
                          </a:solidFill>
                          <a:latin typeface="Cambria"/>
                          <a:ea typeface="Cambria"/>
                          <a:cs typeface="Cambria"/>
                          <a:sym typeface="Cambria"/>
                        </a:rPr>
                        <a:t>autorizare</a:t>
                      </a:r>
                      <a:r>
                        <a:rPr lang="en-US" sz="1100" b="0" dirty="0">
                          <a:solidFill>
                            <a:schemeClr val="dk1"/>
                          </a:solidFill>
                          <a:latin typeface="Cambria"/>
                          <a:ea typeface="Cambria"/>
                          <a:cs typeface="Cambria"/>
                          <a:sym typeface="Cambria"/>
                        </a:rPr>
                        <a:t> </a:t>
                      </a:r>
                      <a:r>
                        <a:rPr lang="en-US" sz="1100" b="0" dirty="0" err="1">
                          <a:solidFill>
                            <a:schemeClr val="dk1"/>
                          </a:solidFill>
                          <a:latin typeface="Cambria"/>
                          <a:ea typeface="Cambria"/>
                          <a:cs typeface="Cambria"/>
                          <a:sym typeface="Cambria"/>
                        </a:rPr>
                        <a:t>concurențială</a:t>
                      </a:r>
                      <a:r>
                        <a:rPr lang="en-US" sz="1100" b="0" dirty="0">
                          <a:solidFill>
                            <a:schemeClr val="dk1"/>
                          </a:solidFill>
                          <a:latin typeface="Cambria"/>
                          <a:ea typeface="Cambria"/>
                          <a:cs typeface="Cambria"/>
                          <a:sym typeface="Cambria"/>
                        </a:rPr>
                        <a:t>.</a:t>
                      </a:r>
                      <a:endParaRPr dirty="0"/>
                    </a:p>
                  </a:txBody>
                  <a:tcPr marL="100075" marR="100075" marT="50050" marB="50050"/>
                </a:tc>
                <a:extLst>
                  <a:ext uri="{0D108BD9-81ED-4DB2-BD59-A6C34878D82A}">
                    <a16:rowId xmlns:a16="http://schemas.microsoft.com/office/drawing/2014/main" val="10001"/>
                  </a:ext>
                </a:extLst>
              </a:tr>
              <a:tr h="274320">
                <a:tc>
                  <a:txBody>
                    <a:bodyPr/>
                    <a:lstStyle/>
                    <a:p>
                      <a:pPr marL="0" marR="0" lvl="0" indent="0" algn="l" rtl="0">
                        <a:spcBef>
                          <a:spcPts val="0"/>
                        </a:spcBef>
                        <a:spcAft>
                          <a:spcPts val="0"/>
                        </a:spcAft>
                        <a:buNone/>
                      </a:pPr>
                      <a:r>
                        <a:rPr lang="en-US" sz="1000" b="1">
                          <a:latin typeface="Cambria"/>
                          <a:ea typeface="Cambria"/>
                          <a:cs typeface="Cambria"/>
                          <a:sym typeface="Cambria"/>
                        </a:rPr>
                        <a:t>Guvernul Republicii Moldova și MoldovaAgroIndBank S.A.</a:t>
                      </a:r>
                      <a:endParaRPr sz="1200" b="1">
                        <a:solidFill>
                          <a:schemeClr val="dk1"/>
                        </a:solidFill>
                        <a:latin typeface="Cambria"/>
                        <a:ea typeface="Cambria"/>
                        <a:cs typeface="Cambria"/>
                        <a:sym typeface="Cambria"/>
                      </a:endParaRPr>
                    </a:p>
                    <a:p>
                      <a:pPr marL="0" marR="0" lvl="0" indent="0" algn="l" rtl="0">
                        <a:spcBef>
                          <a:spcPts val="0"/>
                        </a:spcBef>
                        <a:spcAft>
                          <a:spcPts val="0"/>
                        </a:spcAft>
                        <a:buNone/>
                      </a:pPr>
                      <a:endParaRPr sz="1200" b="1">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None/>
                      </a:pPr>
                      <a:r>
                        <a:rPr lang="en-US" sz="1100" b="1">
                          <a:solidFill>
                            <a:schemeClr val="dk1"/>
                          </a:solidFill>
                          <a:latin typeface="Calibri"/>
                          <a:ea typeface="Calibri"/>
                          <a:cs typeface="Calibri"/>
                          <a:sym typeface="Calibri"/>
                        </a:rPr>
                        <a:t> </a:t>
                      </a:r>
                      <a:r>
                        <a:rPr lang="en-US" sz="1100" b="0">
                          <a:solidFill>
                            <a:schemeClr val="dk1"/>
                          </a:solidFill>
                          <a:latin typeface="Cambria"/>
                          <a:ea typeface="Cambria"/>
                          <a:cs typeface="Cambria"/>
                          <a:sym typeface="Cambria"/>
                        </a:rPr>
                        <a:t>ERA a reprezentat atât Guvernul Republicii Moldova, cât și Moldova-Agroindbank S.A. (MAIB) în cadrul acestei tranzacții. După mai multe tentative nereușite de vânzare, peste 41% din acțiunile Moldova-Agroindbank S.A., cea mai mare bancă din Republica Moldova, au fost tranzacționate la Bursa de Valori București, pentru un preț total de aproximativ 450 milioane MDL. Cele două pachete de acțiuni au fost achiziționate de statul Republica Moldova, în scopul soluționării unei crize bancare cu caracter sistemic.</a:t>
                      </a:r>
                      <a:endParaRPr/>
                    </a:p>
                    <a:p>
                      <a:pPr marL="0" marR="0" lvl="0" indent="0" algn="l" rtl="0">
                        <a:spcBef>
                          <a:spcPts val="0"/>
                        </a:spcBef>
                        <a:spcAft>
                          <a:spcPts val="0"/>
                        </a:spcAft>
                        <a:buNone/>
                      </a:pPr>
                      <a:r>
                        <a:rPr lang="en-US" sz="1100" b="0">
                          <a:solidFill>
                            <a:schemeClr val="dk1"/>
                          </a:solidFill>
                          <a:latin typeface="Cambria"/>
                          <a:ea typeface="Cambria"/>
                          <a:cs typeface="Cambria"/>
                          <a:sym typeface="Cambria"/>
                        </a:rPr>
                        <a:t>Tranzacția a urmat semnării de către Guvern a unui antecontract privind vânzarea acestor acțiuni către un consorțiu internațional, condus de Banca Europeană pentru Reconstrucție și Dezvoltare (BERD). Structurarea acestei operațiuni a presupus o abordare complexă și multilaterală, menită să asigure respectarea tuturor cerințelor legale aplicabile, în special a celor din domeniul dreptului concurenței, precum și conformitatea cu procedurile și exigențele specifice dreptului bancar și societar.</a:t>
                      </a:r>
                      <a:endParaRPr/>
                    </a:p>
                  </a:txBody>
                  <a:tcPr marL="100075" marR="100075" marT="50050" marB="50050"/>
                </a:tc>
                <a:extLst>
                  <a:ext uri="{0D108BD9-81ED-4DB2-BD59-A6C34878D82A}">
                    <a16:rowId xmlns:a16="http://schemas.microsoft.com/office/drawing/2014/main" val="10002"/>
                  </a:ext>
                </a:extLst>
              </a:tr>
              <a:tr h="274320">
                <a:tc>
                  <a:txBody>
                    <a:bodyPr/>
                    <a:lstStyle/>
                    <a:p>
                      <a:pPr marL="0" marR="0" lvl="0" indent="0" algn="l" rtl="0">
                        <a:spcBef>
                          <a:spcPts val="0"/>
                        </a:spcBef>
                        <a:spcAft>
                          <a:spcPts val="0"/>
                        </a:spcAft>
                        <a:buNone/>
                      </a:pPr>
                      <a:r>
                        <a:rPr lang="en-US" sz="1000" b="1">
                          <a:solidFill>
                            <a:schemeClr val="dk1"/>
                          </a:solidFill>
                          <a:latin typeface="Cambria"/>
                          <a:ea typeface="Cambria"/>
                          <a:cs typeface="Cambria"/>
                          <a:sym typeface="Cambria"/>
                        </a:rPr>
                        <a:t>SONY PICTURES </a:t>
                      </a:r>
                      <a:endParaRPr/>
                    </a:p>
                  </a:txBody>
                  <a:tcPr marL="100075" marR="100075" marT="50050" marB="50050"/>
                </a:tc>
                <a:tc>
                  <a:txBody>
                    <a:bodyPr/>
                    <a:lstStyle/>
                    <a:p>
                      <a:pPr marL="0" marR="0" lvl="0" indent="0" algn="l" rtl="0">
                        <a:spcBef>
                          <a:spcPts val="0"/>
                        </a:spcBef>
                        <a:spcAft>
                          <a:spcPts val="0"/>
                        </a:spcAft>
                        <a:buClr>
                          <a:schemeClr val="dk1"/>
                        </a:buClr>
                        <a:buSzPts val="1300"/>
                        <a:buFont typeface="Cambria"/>
                        <a:buNone/>
                      </a:pPr>
                      <a:r>
                        <a:rPr lang="en-US" sz="1100">
                          <a:latin typeface="Cambria"/>
                          <a:ea typeface="Cambria"/>
                          <a:cs typeface="Cambria"/>
                          <a:sym typeface="Cambria"/>
                        </a:rPr>
                        <a:t>ERA a acordat asistență juridică clientului în cadrul unei proceduri de due diligence, constând în analiza și evaluarea structurii corporative și a contractelor încheiate de o subsidiară locală din Republica Moldova, o companie IT rezidentă a Moldova IT Park. Activitatea desfășurată de ERA a permis identificarea și evidențierea principalelor aspecte juridice relevante ale contractelor analizate, inclusiv riscurile asociate acestora.În urma analizei, ERA a formulat propuneri de revizuire a contractelor, recomandări privind modificările necesare, sugestii de clauze contractuale adecvate și măsuri concrete de implementat, în vederea alinierii documentației contractuale la cerințele legale aplicabile și la obiectivele comerciale ale clientului.</a:t>
                      </a:r>
                      <a:endParaRPr/>
                    </a:p>
                  </a:txBody>
                  <a:tcPr marL="100075" marR="100075" marT="50050" marB="50050"/>
                </a:tc>
                <a:extLst>
                  <a:ext uri="{0D108BD9-81ED-4DB2-BD59-A6C34878D82A}">
                    <a16:rowId xmlns:a16="http://schemas.microsoft.com/office/drawing/2014/main" val="10003"/>
                  </a:ext>
                </a:extLst>
              </a:tr>
              <a:tr h="0">
                <a:tc>
                  <a:txBody>
                    <a:bodyPr/>
                    <a:lstStyle/>
                    <a:p>
                      <a:pPr marL="0" marR="0" lvl="0" indent="0" algn="l" rtl="0">
                        <a:spcBef>
                          <a:spcPts val="0"/>
                        </a:spcBef>
                        <a:spcAft>
                          <a:spcPts val="0"/>
                        </a:spcAft>
                        <a:buNone/>
                      </a:pPr>
                      <a:endParaRPr sz="1100" b="1">
                        <a:solidFill>
                          <a:schemeClr val="dk1"/>
                        </a:solidFill>
                        <a:latin typeface="Cambria"/>
                        <a:ea typeface="Cambria"/>
                        <a:cs typeface="Cambria"/>
                        <a:sym typeface="Cambria"/>
                      </a:endParaRPr>
                    </a:p>
                  </a:txBody>
                  <a:tcPr marL="100075" marR="100075" marT="50050" marB="50050"/>
                </a:tc>
                <a:tc>
                  <a:txBody>
                    <a:bodyPr/>
                    <a:lstStyle/>
                    <a:p>
                      <a:pPr marL="0" marR="0" lvl="0" indent="0" algn="l" rtl="0">
                        <a:spcBef>
                          <a:spcPts val="0"/>
                        </a:spcBef>
                        <a:spcAft>
                          <a:spcPts val="0"/>
                        </a:spcAft>
                        <a:buClr>
                          <a:schemeClr val="dk1"/>
                        </a:buClr>
                        <a:buSzPts val="1300"/>
                        <a:buFont typeface="Cambria"/>
                        <a:buNone/>
                      </a:pPr>
                      <a:r>
                        <a:rPr lang="en-US" sz="1100" dirty="0">
                          <a:latin typeface="Cambria"/>
                          <a:ea typeface="Cambria"/>
                          <a:cs typeface="Cambria"/>
                          <a:sym typeface="Cambria"/>
                        </a:rPr>
                        <a:t> </a:t>
                      </a:r>
                      <a:endParaRPr dirty="0"/>
                    </a:p>
                    <a:p>
                      <a:pPr marL="0" marR="0" lvl="0" indent="0" algn="l" rtl="0">
                        <a:spcBef>
                          <a:spcPts val="150"/>
                        </a:spcBef>
                        <a:spcAft>
                          <a:spcPts val="0"/>
                        </a:spcAft>
                        <a:buClr>
                          <a:schemeClr val="dk1"/>
                        </a:buClr>
                        <a:buSzPts val="1300"/>
                        <a:buFont typeface="Cambria"/>
                        <a:buNone/>
                      </a:pPr>
                      <a:r>
                        <a:rPr lang="en-US" sz="1100" dirty="0">
                          <a:latin typeface="Cambria"/>
                          <a:ea typeface="Cambria"/>
                          <a:cs typeface="Cambria"/>
                          <a:sym typeface="Cambria"/>
                        </a:rPr>
                        <a:t> </a:t>
                      </a:r>
                      <a:endParaRPr dirty="0"/>
                    </a:p>
                  </a:txBody>
                  <a:tcPr marL="100075" marR="100075" marT="50050" marB="50050"/>
                </a:tc>
                <a:extLst>
                  <a:ext uri="{0D108BD9-81ED-4DB2-BD59-A6C34878D82A}">
                    <a16:rowId xmlns:a16="http://schemas.microsoft.com/office/drawing/2014/main" val="10004"/>
                  </a:ext>
                </a:extLst>
              </a:tr>
            </a:tbl>
          </a:graphicData>
        </a:graphic>
      </p:graphicFrame>
      <p:sp>
        <p:nvSpPr>
          <p:cNvPr id="214" name="Google Shape;214;p11"/>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cxnSp>
        <p:nvCxnSpPr>
          <p:cNvPr id="215" name="Google Shape;215;p11"/>
          <p:cNvCxnSpPr/>
          <p:nvPr/>
        </p:nvCxnSpPr>
        <p:spPr>
          <a:xfrm rot="10800000" flipH="1">
            <a:off x="917436" y="1047949"/>
            <a:ext cx="11509653" cy="33925"/>
          </a:xfrm>
          <a:prstGeom prst="straightConnector1">
            <a:avLst/>
          </a:prstGeom>
          <a:noFill/>
          <a:ln w="9525" cap="flat" cmpd="sng">
            <a:solidFill>
              <a:srgbClr val="DA1F28"/>
            </a:solidFill>
            <a:prstDash val="solid"/>
            <a:miter lim="8000"/>
            <a:headEnd type="none" w="sm" len="sm"/>
            <a:tailEnd type="none" w="sm" len="sm"/>
          </a:ln>
        </p:spPr>
      </p:cxnSp>
      <p:grpSp>
        <p:nvGrpSpPr>
          <p:cNvPr id="216" name="Google Shape;216;p11"/>
          <p:cNvGrpSpPr/>
          <p:nvPr/>
        </p:nvGrpSpPr>
        <p:grpSpPr>
          <a:xfrm>
            <a:off x="639425" y="7686554"/>
            <a:ext cx="611624" cy="278385"/>
            <a:chOff x="639425" y="7686554"/>
            <a:chExt cx="611624" cy="278385"/>
          </a:xfrm>
        </p:grpSpPr>
        <p:pic>
          <p:nvPicPr>
            <p:cNvPr id="217" name="Google Shape;217;p11"/>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18" name="Google Shape;218;p11"/>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19" name="Google Shape;219;p11"/>
          <p:cNvSpPr txBox="1"/>
          <p:nvPr/>
        </p:nvSpPr>
        <p:spPr>
          <a:xfrm>
            <a:off x="917436" y="667903"/>
            <a:ext cx="6285469" cy="35315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4: Fuziuni și achiziții.</a:t>
            </a:r>
            <a:r>
              <a:rPr lang="en-US" sz="1400" b="1">
                <a:solidFill>
                  <a:schemeClr val="dk1"/>
                </a:solidFill>
                <a:latin typeface="Cambria"/>
                <a:ea typeface="Cambria"/>
                <a:cs typeface="Cambria"/>
                <a:sym typeface="Cambria"/>
              </a:rPr>
              <a:t/>
            </a:r>
            <a:endParaRPr/>
          </a:p>
        </p:txBody>
      </p:sp>
      <p:sp>
        <p:nvSpPr>
          <p:cNvPr id="220" name="Google Shape;220;p11"/>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000" b="1">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1F28"/>
        </a:solidFill>
        <a:effectLst/>
      </p:bgPr>
    </p:bg>
    <p:spTree>
      <p:nvGrpSpPr>
        <p:cNvPr id="1" name="Shape 225"/>
        <p:cNvGrpSpPr/>
        <p:nvPr/>
      </p:nvGrpSpPr>
      <p:grpSpPr>
        <a:xfrm>
          <a:off x="0" y="0"/>
          <a:ext cx="0" cy="0"/>
          <a:chOff x="0" y="0"/>
          <a:chExt cx="0" cy="0"/>
        </a:xfrm>
      </p:grpSpPr>
      <p:sp>
        <p:nvSpPr>
          <p:cNvPr id="226" name="Google Shape;226;p12"/>
          <p:cNvSpPr txBox="1">
            <a:spLocks noGrp="1"/>
          </p:cNvSpPr>
          <p:nvPr>
            <p:ph type="title"/>
          </p:nvPr>
        </p:nvSpPr>
        <p:spPr>
          <a:xfrm>
            <a:off x="917436" y="441869"/>
            <a:ext cx="11509653" cy="160417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900"/>
              <a:buFont typeface="Cambria"/>
              <a:buNone/>
            </a:pPr>
            <a:r>
              <a:rPr lang="en-US" sz="2900" b="1">
                <a:solidFill>
                  <a:schemeClr val="lt1"/>
                </a:solidFill>
                <a:latin typeface="Cambria"/>
                <a:ea typeface="Cambria"/>
                <a:cs typeface="Cambria"/>
                <a:sym typeface="Cambria"/>
              </a:rPr>
              <a:t>Secțiunea 5 </a:t>
            </a:r>
            <a:br>
              <a:rPr lang="en-US" sz="2900" b="1">
                <a:solidFill>
                  <a:schemeClr val="lt1"/>
                </a:solidFill>
                <a:latin typeface="Cambria"/>
                <a:ea typeface="Cambria"/>
                <a:cs typeface="Cambria"/>
                <a:sym typeface="Cambria"/>
              </a:rPr>
            </a:br>
            <a:br>
              <a:rPr lang="en-US" sz="2900" b="1">
                <a:solidFill>
                  <a:schemeClr val="lt1"/>
                </a:solidFill>
                <a:latin typeface="Cambria"/>
                <a:ea typeface="Cambria"/>
                <a:cs typeface="Cambria"/>
                <a:sym typeface="Cambria"/>
              </a:rPr>
            </a:br>
            <a:r>
              <a:rPr lang="en-US" sz="2900" b="1">
                <a:solidFill>
                  <a:schemeClr val="lt1"/>
                </a:solidFill>
                <a:latin typeface="Cambria"/>
                <a:ea typeface="Cambria"/>
                <a:cs typeface="Cambria"/>
                <a:sym typeface="Cambria"/>
              </a:rPr>
              <a:t> Echipa ERA pentru proiect</a:t>
            </a:r>
            <a:endParaRPr sz="2900">
              <a:solidFill>
                <a:schemeClr val="lt1"/>
              </a:solidFill>
            </a:endParaRPr>
          </a:p>
        </p:txBody>
      </p:sp>
      <p:sp>
        <p:nvSpPr>
          <p:cNvPr id="227" name="Google Shape;227;p12"/>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28" name="Google Shape;228;p12"/>
          <p:cNvGrpSpPr/>
          <p:nvPr/>
        </p:nvGrpSpPr>
        <p:grpSpPr>
          <a:xfrm>
            <a:off x="639425" y="7686554"/>
            <a:ext cx="611624" cy="278385"/>
            <a:chOff x="639425" y="7686554"/>
            <a:chExt cx="611624" cy="278385"/>
          </a:xfrm>
        </p:grpSpPr>
        <p:pic>
          <p:nvPicPr>
            <p:cNvPr id="229" name="Google Shape;229;p12"/>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30" name="Google Shape;230;p12"/>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31" name="Google Shape;231;p12"/>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chemeClr val="dk1"/>
              </a:buClr>
              <a:buSzPct val="100000"/>
              <a:buNone/>
            </a:pPr>
            <a:r>
              <a:rPr lang="en-US" sz="5600" b="1">
                <a:latin typeface="Cambria"/>
                <a:ea typeface="Cambria"/>
                <a:cs typeface="Cambria"/>
                <a:sym typeface="Cambria"/>
              </a:rPr>
              <a:t>OLEG EFRIM</a:t>
            </a: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Avocat, Partener Administrator</a:t>
            </a:r>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este avocat și unul dintre fondatorii ERA. Oleg Efrim a absolvit Facultatea de Drept a Universității de Stat a Republicii Moldova, unde a obținut o diplomă de licență și o diplomă de master în drept. </a:t>
            </a:r>
            <a:endParaRPr/>
          </a:p>
          <a:p>
            <a:pPr marL="0" lvl="0" indent="0" algn="just"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Oleg este arbitru ales de investitori locali și internaționali pentru disputele contractelor FIDIC. </a:t>
            </a:r>
            <a:endParaRPr sz="5600" b="1">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și-a început cariera în domeniul juridic în 1997, cu o activitate prodigioasă atât în sectorul comercial și non-profit, cât și în sectorul public. Din același an, Oleg Efrim este profesor de Drept Civil (Dreptul contractelor) la Facultatea de Drept a Universității de Stat a Republicii Moldova. Ca avocat, Oleg Efrim a participat la numeroase proiecte de investiții de amploare și a reprezentat interesele clienților locali și internaționali în instanțe. În sectorul public, în funcția sa de Avocat al Poporului, Viceministru și apoi Ministru al Justiției, Oleg Efrim a câștigat o experiență vastă în domeniul reglementării, achizițiilor publice și altor domenii conexe. </a:t>
            </a: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a fost nominalizat pentru:</a:t>
            </a:r>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Leading Individual by Legal 500 (2019, 2020).</a:t>
            </a:r>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Notable Practitioner by Chambers &amp; Partners în Litigii (2019, 2020, 2021).</a:t>
            </a:r>
            <a:endParaRPr sz="5600">
              <a:latin typeface="Cambria"/>
              <a:ea typeface="Cambria"/>
              <a:cs typeface="Cambria"/>
              <a:sym typeface="Cambria"/>
            </a:endParaRPr>
          </a:p>
          <a:p>
            <a:pPr marL="250203" lvl="0" indent="-250203" algn="l" rtl="0">
              <a:lnSpc>
                <a:spcPct val="120000"/>
              </a:lnSpc>
              <a:spcBef>
                <a:spcPts val="1095"/>
              </a:spcBef>
              <a:spcAft>
                <a:spcPts val="0"/>
              </a:spcAft>
              <a:buClr>
                <a:schemeClr val="dk1"/>
              </a:buClr>
              <a:buSzPct val="100000"/>
              <a:buFont typeface="Noto Sans Symbols"/>
              <a:buChar char="❖"/>
            </a:pPr>
            <a:r>
              <a:rPr lang="en-US" sz="5600">
                <a:latin typeface="Cambria"/>
                <a:ea typeface="Cambria"/>
                <a:cs typeface="Cambria"/>
                <a:sym typeface="Cambria"/>
              </a:rPr>
              <a:t>Highly Regarded în M&amp;A by IFLR1000 (2019, 2020, 2021). </a:t>
            </a: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Oleg Efrim vorbește română, rusă și engleză. </a:t>
            </a:r>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Experiență profesională:</a:t>
            </a:r>
            <a:r>
              <a:rPr lang="en-US" sz="5600">
                <a:latin typeface="Cambria"/>
                <a:ea typeface="Cambria"/>
                <a:cs typeface="Cambria"/>
                <a:sym typeface="Cambria"/>
              </a:rPr>
              <a:t/>
            </a:r>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250203" lvl="0" indent="-201562" algn="l" rtl="0">
              <a:lnSpc>
                <a:spcPct val="90000"/>
              </a:lnSpc>
              <a:spcBef>
                <a:spcPts val="1095"/>
              </a:spcBef>
              <a:spcAft>
                <a:spcPts val="0"/>
              </a:spcAft>
              <a:buClr>
                <a:schemeClr val="dk1"/>
              </a:buClr>
              <a:buSzPct val="100000"/>
              <a:buNone/>
            </a:pPr>
            <a:endParaRPr/>
          </a:p>
        </p:txBody>
      </p:sp>
      <p:sp>
        <p:nvSpPr>
          <p:cNvPr id="238" name="Google Shape;238;p13"/>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Ofertă de servicii juridice</a:t>
            </a:r>
            <a:endParaRPr/>
          </a:p>
        </p:txBody>
      </p:sp>
      <p:sp>
        <p:nvSpPr>
          <p:cNvPr id="239" name="Google Shape;239;p13"/>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cxnSp>
        <p:nvCxnSpPr>
          <p:cNvPr id="240" name="Google Shape;240;p13"/>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41" name="Google Shape;241;p13"/>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42" name="Google Shape;242;p13"/>
          <p:cNvGrpSpPr/>
          <p:nvPr/>
        </p:nvGrpSpPr>
        <p:grpSpPr>
          <a:xfrm>
            <a:off x="639425" y="7686554"/>
            <a:ext cx="611624" cy="278385"/>
            <a:chOff x="639425" y="7686554"/>
            <a:chExt cx="611624" cy="278385"/>
          </a:xfrm>
        </p:grpSpPr>
        <p:pic>
          <p:nvPicPr>
            <p:cNvPr id="243" name="Google Shape;243;p13"/>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44" name="Google Shape;244;p13"/>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45" name="Google Shape;245;p13"/>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5: CV-urile membrilor echipei ERA</a:t>
            </a:r>
            <a:r>
              <a:rPr lang="en-US" sz="1400" b="1">
                <a:solidFill>
                  <a:schemeClr val="dk1"/>
                </a:solidFill>
                <a:latin typeface="Cambria"/>
                <a:ea typeface="Cambria"/>
                <a:cs typeface="Cambria"/>
                <a:sym typeface="Cambria"/>
              </a:rPr>
              <a:t/>
            </a:r>
            <a:endParaRPr/>
          </a:p>
        </p:txBody>
      </p:sp>
      <p:graphicFrame>
        <p:nvGraphicFramePr>
          <p:cNvPr id="246" name="Google Shape;246;p13"/>
          <p:cNvGraphicFramePr/>
          <p:nvPr/>
        </p:nvGraphicFramePr>
        <p:xfrm>
          <a:off x="7019428" y="1610617"/>
          <a:ext cx="5407650" cy="3854500"/>
        </p:xfrm>
        <a:graphic>
          <a:graphicData uri="http://schemas.openxmlformats.org/drawingml/2006/table">
            <a:tbl>
              <a:tblPr firstRow="1" firstCol="1" bandRow="1">
                <a:noFill/>
                <a:tableStyleId>{6FF0782A-B248-4C6F-8606-AE48E0E161FE}</a:tableStyleId>
              </a:tblPr>
              <a:tblGrid>
                <a:gridCol w="1958975">
                  <a:extLst>
                    <a:ext uri="{9D8B030D-6E8A-4147-A177-3AD203B41FA5}">
                      <a16:colId xmlns:a16="http://schemas.microsoft.com/office/drawing/2014/main" val="20000"/>
                    </a:ext>
                  </a:extLst>
                </a:gridCol>
                <a:gridCol w="3448675">
                  <a:extLst>
                    <a:ext uri="{9D8B030D-6E8A-4147-A177-3AD203B41FA5}">
                      <a16:colId xmlns:a16="http://schemas.microsoft.com/office/drawing/2014/main" val="20001"/>
                    </a:ext>
                  </a:extLst>
                </a:gridCol>
              </a:tblGrid>
              <a:tr h="1401650">
                <a:tc>
                  <a:txBody>
                    <a:bodyPr/>
                    <a:lstStyle/>
                    <a:p>
                      <a:pPr marL="0" marR="0" lvl="0" indent="0" algn="just" rtl="0">
                        <a:spcBef>
                          <a:spcPts val="0"/>
                        </a:spcBef>
                        <a:spcAft>
                          <a:spcPts val="0"/>
                        </a:spcAft>
                        <a:buNone/>
                      </a:pPr>
                      <a:r>
                        <a:rPr lang="en-US" sz="1100">
                          <a:latin typeface="Cambria"/>
                          <a:ea typeface="Cambria"/>
                          <a:cs typeface="Cambria"/>
                          <a:sym typeface="Cambria"/>
                        </a:rPr>
                        <a:t>aprilie 2015/prezent</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martie 2019 – ianuarie 2021</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martie 2019 – ianuarie 2021</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Avocat, Partener Administrator, Efrim, Roșca și Asociații, Firmă de avocatură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Președintele Comitetului Juridic, Chambers Americane (AmCham) în Moldova</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Președintele Comitetului de Reglementare, Asociația Europeană de Afaceri</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mai 2011 – februarie 2015</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Ministru al Justiției al Republicii Moldova</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noiembrie 2009 – mai 2011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Viceministru al Justiției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525625">
                <a:tc>
                  <a:txBody>
                    <a:bodyPr/>
                    <a:lstStyle/>
                    <a:p>
                      <a:pPr marL="0" marR="0" lvl="0" indent="0" algn="just" rtl="0">
                        <a:spcBef>
                          <a:spcPts val="0"/>
                        </a:spcBef>
                        <a:spcAft>
                          <a:spcPts val="0"/>
                        </a:spcAft>
                        <a:buNone/>
                      </a:pPr>
                      <a:r>
                        <a:rPr lang="en-US" sz="1100">
                          <a:latin typeface="Cambria"/>
                          <a:ea typeface="Cambria"/>
                          <a:cs typeface="Cambria"/>
                          <a:sym typeface="Cambria"/>
                        </a:rPr>
                        <a:t>octombrie 2008 - noiembrie 2009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Avocat al Poporului al Republicii Moldova</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septembrie 2002 – noiembrie 2008</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Avocat Asociat la Firma de Avocatură "Avornic &amp; Partenerii"</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4"/>
                  </a:ext>
                </a:extLst>
              </a:tr>
              <a:tr h="525625">
                <a:tc>
                  <a:txBody>
                    <a:bodyPr/>
                    <a:lstStyle/>
                    <a:p>
                      <a:pPr marL="0" marR="0" lvl="0" indent="0" algn="just" rtl="0">
                        <a:spcBef>
                          <a:spcPts val="0"/>
                        </a:spcBef>
                        <a:spcAft>
                          <a:spcPts val="0"/>
                        </a:spcAft>
                        <a:buNone/>
                      </a:pPr>
                      <a:r>
                        <a:rPr lang="en-US" sz="1100">
                          <a:latin typeface="Cambria"/>
                          <a:ea typeface="Cambria"/>
                          <a:cs typeface="Cambria"/>
                          <a:sym typeface="Cambria"/>
                        </a:rPr>
                        <a:t>august 1997 – prezent</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Lector universitar de Drept Civil (dreptul contractelor) la Universitatea de Stat din Moldova, Facultatea de Drept</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5"/>
                  </a:ext>
                </a:extLst>
              </a:tr>
              <a:tr h="350400">
                <a:tc>
                  <a:txBody>
                    <a:bodyPr/>
                    <a:lstStyle/>
                    <a:p>
                      <a:pPr marL="0" marR="0" lvl="0" indent="0" algn="just" rtl="0">
                        <a:spcBef>
                          <a:spcPts val="0"/>
                        </a:spcBef>
                        <a:spcAft>
                          <a:spcPts val="0"/>
                        </a:spcAft>
                        <a:buNone/>
                      </a:pPr>
                      <a:r>
                        <a:rPr lang="en-US" sz="1100">
                          <a:latin typeface="Cambria"/>
                          <a:ea typeface="Cambria"/>
                          <a:cs typeface="Cambria"/>
                          <a:sym typeface="Cambria"/>
                        </a:rPr>
                        <a:t>noiembrie 1997– prezent, </a:t>
                      </a:r>
                      <a:endParaRPr sz="1000">
                        <a:latin typeface="Cambria"/>
                        <a:ea typeface="Cambria"/>
                        <a:cs typeface="Cambria"/>
                        <a:sym typeface="Cambria"/>
                      </a:endParaRPr>
                    </a:p>
                    <a:p>
                      <a:pPr marL="0" marR="0" lvl="0" indent="0" algn="just" rtl="0">
                        <a:spcBef>
                          <a:spcPts val="0"/>
                        </a:spcBef>
                        <a:spcAft>
                          <a:spcPts val="0"/>
                        </a:spcAft>
                        <a:buNone/>
                      </a:pPr>
                      <a:r>
                        <a:rPr lang="en-US" sz="1100">
                          <a:latin typeface="Cambria"/>
                          <a:ea typeface="Cambria"/>
                          <a:cs typeface="Cambria"/>
                          <a:sym typeface="Cambria"/>
                        </a:rPr>
                        <a:t> </a:t>
                      </a:r>
                      <a:endParaRPr sz="10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100">
                          <a:latin typeface="Cambria"/>
                          <a:ea typeface="Cambria"/>
                          <a:cs typeface="Cambria"/>
                          <a:sym typeface="Cambria"/>
                        </a:rPr>
                        <a:t>Avocat, membru al Baroului din Moldova</a:t>
                      </a:r>
                      <a:endParaRPr sz="1000">
                        <a:latin typeface="Cambria"/>
                        <a:ea typeface="Cambria"/>
                        <a:cs typeface="Cambria"/>
                        <a:sym typeface="Cambria"/>
                      </a:endParaRPr>
                    </a:p>
                    <a:p>
                      <a:pPr marL="0" marR="0" lvl="0" indent="0" algn="l" rtl="0">
                        <a:spcBef>
                          <a:spcPts val="0"/>
                        </a:spcBef>
                        <a:spcAft>
                          <a:spcPts val="0"/>
                        </a:spcAft>
                        <a:buNone/>
                      </a:pPr>
                      <a:r>
                        <a:rPr lang="en-US" sz="1000">
                          <a:latin typeface="Cambria"/>
                          <a:ea typeface="Cambria"/>
                          <a:cs typeface="Cambria"/>
                          <a:sym typeface="Cambria"/>
                        </a:rPr>
                        <a:t>	</a:t>
                      </a:r>
                      <a:endParaRPr sz="1000">
                        <a:latin typeface="Cambria"/>
                        <a:ea typeface="Cambria"/>
                        <a:cs typeface="Cambria"/>
                        <a:sym typeface="Cambria"/>
                      </a:endParaRPr>
                    </a:p>
                  </a:txBody>
                  <a:tcPr marL="68575" marR="68575" marT="0" marB="0"/>
                </a:tc>
                <a:extLst>
                  <a:ext uri="{0D108BD9-81ED-4DB2-BD59-A6C34878D82A}">
                    <a16:rowId xmlns:a16="http://schemas.microsoft.com/office/drawing/2014/main" val="10006"/>
                  </a:ext>
                </a:extLst>
              </a:tr>
            </a:tbl>
          </a:graphicData>
        </a:graphic>
      </p:graphicFrame>
      <p:sp>
        <p:nvSpPr>
          <p:cNvPr id="247" name="Google Shape;247;p13"/>
          <p:cNvSpPr txBox="1"/>
          <p:nvPr/>
        </p:nvSpPr>
        <p:spPr>
          <a:xfrm>
            <a:off x="7019427" y="5869172"/>
            <a:ext cx="5845967" cy="14842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mbria"/>
                <a:ea typeface="Cambria"/>
                <a:cs typeface="Cambria"/>
                <a:sym typeface="Cambria"/>
              </a:rPr>
              <a:t>Studii:</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Universitatea de Stat din Moldova	</a:t>
            </a:r>
            <a:br>
              <a:rPr lang="en-US" sz="1400">
                <a:solidFill>
                  <a:schemeClr val="dk1"/>
                </a:solidFill>
                <a:latin typeface="Cambria"/>
                <a:ea typeface="Cambria"/>
                <a:cs typeface="Cambria"/>
                <a:sym typeface="Cambria"/>
              </a:rPr>
            </a:br>
            <a:r>
              <a:rPr lang="en-US" sz="1400">
                <a:solidFill>
                  <a:schemeClr val="dk1"/>
                </a:solidFill>
                <a:latin typeface="Cambria"/>
                <a:ea typeface="Cambria"/>
                <a:cs typeface="Cambria"/>
                <a:sym typeface="Cambria"/>
              </a:rPr>
              <a:t>Studii de doctorat, tema de cercetare "Obligațiile care decurg din îmbogățirea fără justă cauză" </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Universitatea de Stat din Moldova, Facultatea de Drept, LLM în drept privat</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r>
              <a:rPr lang="en-US" sz="1400">
                <a:solidFill>
                  <a:schemeClr val="dk1"/>
                </a:solidFill>
                <a:latin typeface="Cambria"/>
                <a:ea typeface="Cambria"/>
                <a:cs typeface="Cambria"/>
                <a:sym typeface="Cambria"/>
              </a:rPr>
              <a:t>Universitatea de Stat din Moldova, Facultatea de Drept, diplomă LLB în drept </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endParaRPr sz="2045">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4"/>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chemeClr val="dk1"/>
              </a:buClr>
              <a:buSzPct val="100000"/>
              <a:buNone/>
            </a:pPr>
            <a:endParaRPr sz="5600" b="1">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VLADISLAV ROȘCA</a:t>
            </a: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Avocat, Partener</a:t>
            </a:r>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este avocat și unul dintre fondatorii ERA. Vladislav Roşca a absolvit Facultatea de Drept a Universității din Oradea, România, obținând ulterior titlul de Master în Drept la Academia Internațională de Drept Economic a Republicii Moldova.</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și-a început cariera în domeniul juridic în 1999, reprezentând clienți locali și internaționali în numeroase litigii cu diverse domenii de specializare. Vladislav Roşca are competențe excepționale și un portofoliu impresionant de cazuri complexe și notorietate.</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Vladislav Roşca a fost nominalizat de prestigioasa publicație Best Lawyers în secțiunea Litigii în 2009 și 2010, precum și de Chambers &amp; Partners în secțiunea Litigii în 2013 și 2014, 2019, 2020, 2021.</a:t>
            </a:r>
            <a:endParaRPr sz="5600">
              <a:latin typeface="Cambria"/>
              <a:ea typeface="Cambria"/>
              <a:cs typeface="Cambria"/>
              <a:sym typeface="Cambria"/>
            </a:endParaRPr>
          </a:p>
          <a:p>
            <a:pPr marL="0" lvl="0" indent="0" algn="just" rtl="0">
              <a:lnSpc>
                <a:spcPct val="120000"/>
              </a:lnSpc>
              <a:spcBef>
                <a:spcPts val="1095"/>
              </a:spcBef>
              <a:spcAft>
                <a:spcPts val="0"/>
              </a:spcAft>
              <a:buClr>
                <a:schemeClr val="dk1"/>
              </a:buClr>
              <a:buSzPct val="100000"/>
              <a:buNone/>
            </a:pPr>
            <a:r>
              <a:rPr lang="en-US" sz="5600">
                <a:latin typeface="Cambria"/>
                <a:ea typeface="Cambria"/>
                <a:cs typeface="Cambria"/>
                <a:sym typeface="Cambria"/>
              </a:rPr>
              <a:t>Domeniile de expertiză ale lui Vladislav Roșca sunt: dreptul corporativ și comercial, piața de capital, imobiliare, insolvență, audit juridic, arbitraj comercial, litigii comerciale și civile, litigii administrative și probleme de drept penal </a:t>
            </a:r>
            <a:endParaRPr/>
          </a:p>
          <a:p>
            <a:pPr marL="0" lvl="0" indent="0" algn="l" rtl="0">
              <a:lnSpc>
                <a:spcPct val="120000"/>
              </a:lnSpc>
              <a:spcBef>
                <a:spcPts val="1095"/>
              </a:spcBef>
              <a:spcAft>
                <a:spcPts val="0"/>
              </a:spcAft>
              <a:buClr>
                <a:schemeClr val="dk1"/>
              </a:buClr>
              <a:buSzPct val="100000"/>
              <a:buNone/>
            </a:pPr>
            <a:r>
              <a:rPr lang="en-US" sz="5600">
                <a:latin typeface="Cambria"/>
                <a:ea typeface="Cambria"/>
                <a:cs typeface="Cambria"/>
                <a:sym typeface="Cambria"/>
              </a:rPr>
              <a:t>Limbi vorbite: română, rusă, engleză, italiană.</a:t>
            </a:r>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r>
              <a:rPr lang="en-US" sz="5600" b="1">
                <a:latin typeface="Cambria"/>
                <a:ea typeface="Cambria"/>
                <a:cs typeface="Cambria"/>
                <a:sym typeface="Cambria"/>
              </a:rPr>
              <a:t>Experiență profesională:</a:t>
            </a:r>
            <a:r>
              <a:rPr lang="en-US" sz="5600">
                <a:latin typeface="Cambria"/>
                <a:ea typeface="Cambria"/>
                <a:cs typeface="Cambria"/>
                <a:sym typeface="Cambria"/>
              </a:rPr>
              <a:t/>
            </a:r>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ct val="100000"/>
              <a:buNone/>
            </a:pPr>
            <a:endParaRPr sz="5600">
              <a:latin typeface="Cambria"/>
              <a:ea typeface="Cambria"/>
              <a:cs typeface="Cambria"/>
              <a:sym typeface="Cambria"/>
            </a:endParaRPr>
          </a:p>
          <a:p>
            <a:pPr marL="250203" lvl="0" indent="-201562" algn="l" rtl="0">
              <a:lnSpc>
                <a:spcPct val="90000"/>
              </a:lnSpc>
              <a:spcBef>
                <a:spcPts val="1095"/>
              </a:spcBef>
              <a:spcAft>
                <a:spcPts val="0"/>
              </a:spcAft>
              <a:buClr>
                <a:schemeClr val="dk1"/>
              </a:buClr>
              <a:buSzPct val="100000"/>
              <a:buNone/>
            </a:pPr>
            <a:endParaRPr/>
          </a:p>
        </p:txBody>
      </p:sp>
      <p:sp>
        <p:nvSpPr>
          <p:cNvPr id="254" name="Google Shape;254;p14"/>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Ofertă de servicii juridice</a:t>
            </a:r>
            <a:endParaRPr/>
          </a:p>
        </p:txBody>
      </p:sp>
      <p:sp>
        <p:nvSpPr>
          <p:cNvPr id="255" name="Google Shape;255;p14"/>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cxnSp>
        <p:nvCxnSpPr>
          <p:cNvPr id="256" name="Google Shape;256;p14"/>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57" name="Google Shape;257;p14"/>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58" name="Google Shape;258;p14"/>
          <p:cNvGrpSpPr/>
          <p:nvPr/>
        </p:nvGrpSpPr>
        <p:grpSpPr>
          <a:xfrm>
            <a:off x="639425" y="7686554"/>
            <a:ext cx="611624" cy="278385"/>
            <a:chOff x="639425" y="7686554"/>
            <a:chExt cx="611624" cy="278385"/>
          </a:xfrm>
        </p:grpSpPr>
        <p:pic>
          <p:nvPicPr>
            <p:cNvPr id="259" name="Google Shape;259;p14"/>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60" name="Google Shape;260;p14"/>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61" name="Google Shape;261;p14"/>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5: CV-urile membrilor echipei ERA</a:t>
            </a:r>
            <a:r>
              <a:rPr lang="en-US" sz="1400" b="1">
                <a:solidFill>
                  <a:schemeClr val="dk1"/>
                </a:solidFill>
                <a:latin typeface="Cambria"/>
                <a:ea typeface="Cambria"/>
                <a:cs typeface="Cambria"/>
                <a:sym typeface="Cambria"/>
              </a:rPr>
              <a:t/>
            </a:r>
            <a:endParaRPr/>
          </a:p>
        </p:txBody>
      </p:sp>
      <p:graphicFrame>
        <p:nvGraphicFramePr>
          <p:cNvPr id="262" name="Google Shape;262;p14"/>
          <p:cNvGraphicFramePr/>
          <p:nvPr/>
        </p:nvGraphicFramePr>
        <p:xfrm>
          <a:off x="7109474" y="2768485"/>
          <a:ext cx="5317600" cy="2654125"/>
        </p:xfrm>
        <a:graphic>
          <a:graphicData uri="http://schemas.openxmlformats.org/drawingml/2006/table">
            <a:tbl>
              <a:tblPr firstCol="1" bandRow="1">
                <a:noFill/>
                <a:tableStyleId>{6FF0782A-B248-4C6F-8606-AE48E0E161FE}</a:tableStyleId>
              </a:tblPr>
              <a:tblGrid>
                <a:gridCol w="1530075">
                  <a:extLst>
                    <a:ext uri="{9D8B030D-6E8A-4147-A177-3AD203B41FA5}">
                      <a16:colId xmlns:a16="http://schemas.microsoft.com/office/drawing/2014/main" val="20000"/>
                    </a:ext>
                  </a:extLst>
                </a:gridCol>
                <a:gridCol w="3787525">
                  <a:extLst>
                    <a:ext uri="{9D8B030D-6E8A-4147-A177-3AD203B41FA5}">
                      <a16:colId xmlns:a16="http://schemas.microsoft.com/office/drawing/2014/main" val="20001"/>
                    </a:ext>
                  </a:extLst>
                </a:gridCol>
              </a:tblGrid>
              <a:tr h="612500">
                <a:tc>
                  <a:txBody>
                    <a:bodyPr/>
                    <a:lstStyle/>
                    <a:p>
                      <a:pPr marL="0" marR="0" lvl="0" indent="0" algn="just" rtl="0">
                        <a:spcBef>
                          <a:spcPts val="0"/>
                        </a:spcBef>
                        <a:spcAft>
                          <a:spcPts val="0"/>
                        </a:spcAft>
                        <a:buNone/>
                      </a:pPr>
                      <a:r>
                        <a:rPr lang="en-US" sz="1200">
                          <a:latin typeface="Cambria"/>
                          <a:ea typeface="Cambria"/>
                          <a:cs typeface="Cambria"/>
                          <a:sym typeface="Cambria"/>
                        </a:rPr>
                        <a:t>aprilie 2015 - prezent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Firma de Avocatură Efrim Roșca și Asociații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Avocat, Partener</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816650">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august 1999 - aprilie 2015</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Biroul de avocatură "Vladislav Roșca"</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Avocat</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816650">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septembrie 1999 - iunie 2002</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Lector universitar</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Academia Internațională de Drept Economic </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408325">
                <a:tc>
                  <a:txBody>
                    <a:bodyPr/>
                    <a:lstStyle/>
                    <a:p>
                      <a:pPr marL="0" marR="0" lvl="0" indent="0" algn="just" rtl="0">
                        <a:spcBef>
                          <a:spcPts val="0"/>
                        </a:spcBef>
                        <a:spcAft>
                          <a:spcPts val="0"/>
                        </a:spcAft>
                        <a:buNone/>
                      </a:pPr>
                      <a:r>
                        <a:rPr lang="en-US" sz="1200">
                          <a:latin typeface="Cambria"/>
                          <a:ea typeface="Cambria"/>
                          <a:cs typeface="Cambria"/>
                          <a:sym typeface="Cambria"/>
                        </a:rPr>
                        <a:t>august 1999 – prezent</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Avocat, membru al Baroului din Moldova</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txBox="1">
            <a:spLocks noGrp="1"/>
          </p:cNvSpPr>
          <p:nvPr>
            <p:ph type="body" idx="1"/>
          </p:nvPr>
        </p:nvSpPr>
        <p:spPr>
          <a:xfrm>
            <a:off x="917435" y="1144884"/>
            <a:ext cx="11509653" cy="5935564"/>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dk1"/>
              </a:buClr>
              <a:buSzPts val="1400"/>
              <a:buNone/>
            </a:pPr>
            <a:r>
              <a:rPr lang="en-US" sz="1400" b="1">
                <a:latin typeface="Cambria"/>
                <a:ea typeface="Cambria"/>
                <a:cs typeface="Cambria"/>
                <a:sym typeface="Cambria"/>
              </a:rPr>
              <a:t>INA JIMBEI (PhD)</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Avocat Asociat Principal</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Ina JIMBEI este avocat în echipa ERA, profesor universitar la Facultatea de Drept a Universității de Stat din Moldova. Ea este unul dintre specialiștii bine cunoscuți în dreptul procesual civil și dreptul administrativ. Din 2018, Ina este unul dintre experții locali care lucrează pentru BERD. Are competențe în dreptul comercial, dreptul concurenței și domeniul de reglementare. </a:t>
            </a:r>
            <a:endParaRPr sz="1400">
              <a:latin typeface="Cambria"/>
              <a:ea typeface="Cambria"/>
              <a:cs typeface="Cambria"/>
              <a:sym typeface="Cambria"/>
            </a:endParaRPr>
          </a:p>
          <a:p>
            <a:pPr marL="0" lvl="0" indent="0" algn="l" rtl="0">
              <a:lnSpc>
                <a:spcPct val="120000"/>
              </a:lnSpc>
              <a:spcBef>
                <a:spcPts val="1095"/>
              </a:spcBef>
              <a:spcAft>
                <a:spcPts val="0"/>
              </a:spcAft>
              <a:buClr>
                <a:schemeClr val="dk1"/>
              </a:buClr>
              <a:buSzPts val="1400"/>
              <a:buNone/>
            </a:pPr>
            <a:r>
              <a:rPr lang="en-US" sz="1400" b="1">
                <a:latin typeface="Cambria"/>
                <a:ea typeface="Cambria"/>
                <a:cs typeface="Cambria"/>
                <a:sym typeface="Cambria"/>
              </a:rPr>
              <a:t>Experiență profesională:</a:t>
            </a:r>
            <a:r>
              <a:rPr lang="en-US" sz="1400">
                <a:latin typeface="Cambria"/>
                <a:ea typeface="Cambria"/>
                <a:cs typeface="Cambria"/>
                <a:sym typeface="Cambria"/>
              </a:rPr>
              <a:t/>
            </a:r>
            <a:endParaRPr/>
          </a:p>
          <a:p>
            <a:pPr marL="0" lvl="0" indent="0" algn="l"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ctr" rtl="0">
              <a:lnSpc>
                <a:spcPct val="12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l" rtl="0">
              <a:lnSpc>
                <a:spcPct val="9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5600"/>
              <a:buNone/>
            </a:pPr>
            <a:endParaRPr sz="56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5600"/>
              <a:buNone/>
            </a:pPr>
            <a:endParaRPr sz="5600">
              <a:latin typeface="Cambria"/>
              <a:ea typeface="Cambria"/>
              <a:cs typeface="Cambria"/>
              <a:sym typeface="Cambria"/>
            </a:endParaRPr>
          </a:p>
          <a:p>
            <a:pPr marL="250203" lvl="0" indent="-55575" algn="l" rtl="0">
              <a:lnSpc>
                <a:spcPct val="90000"/>
              </a:lnSpc>
              <a:spcBef>
                <a:spcPts val="1095"/>
              </a:spcBef>
              <a:spcAft>
                <a:spcPts val="0"/>
              </a:spcAft>
              <a:buClr>
                <a:schemeClr val="dk1"/>
              </a:buClr>
              <a:buSzPts val="3065"/>
              <a:buNone/>
            </a:pPr>
            <a:endParaRPr/>
          </a:p>
        </p:txBody>
      </p:sp>
      <p:sp>
        <p:nvSpPr>
          <p:cNvPr id="269" name="Google Shape;269;p15"/>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Ofertă de servicii juridice</a:t>
            </a:r>
            <a:endParaRPr/>
          </a:p>
        </p:txBody>
      </p:sp>
      <p:sp>
        <p:nvSpPr>
          <p:cNvPr id="270" name="Google Shape;270;p15"/>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cxnSp>
        <p:nvCxnSpPr>
          <p:cNvPr id="271" name="Google Shape;271;p15"/>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72" name="Google Shape;272;p15"/>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73" name="Google Shape;273;p15"/>
          <p:cNvGrpSpPr/>
          <p:nvPr/>
        </p:nvGrpSpPr>
        <p:grpSpPr>
          <a:xfrm>
            <a:off x="639425" y="7686554"/>
            <a:ext cx="611624" cy="278385"/>
            <a:chOff x="639425" y="7686554"/>
            <a:chExt cx="611624" cy="278385"/>
          </a:xfrm>
        </p:grpSpPr>
        <p:pic>
          <p:nvPicPr>
            <p:cNvPr id="274" name="Google Shape;274;p15"/>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75" name="Google Shape;275;p15"/>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76" name="Google Shape;276;p15"/>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5: CV-urile membrilor echipei ERA</a:t>
            </a:r>
            <a:r>
              <a:rPr lang="en-US" sz="1400" b="1">
                <a:solidFill>
                  <a:schemeClr val="dk1"/>
                </a:solidFill>
                <a:latin typeface="Cambria"/>
                <a:ea typeface="Cambria"/>
                <a:cs typeface="Cambria"/>
                <a:sym typeface="Cambria"/>
              </a:rPr>
              <a:t/>
            </a:r>
            <a:endParaRPr/>
          </a:p>
        </p:txBody>
      </p:sp>
      <p:sp>
        <p:nvSpPr>
          <p:cNvPr id="277" name="Google Shape;277;p15"/>
          <p:cNvSpPr txBox="1"/>
          <p:nvPr/>
        </p:nvSpPr>
        <p:spPr>
          <a:xfrm>
            <a:off x="917435" y="5852527"/>
            <a:ext cx="5845967" cy="14842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mbria"/>
                <a:ea typeface="Cambria"/>
                <a:cs typeface="Cambria"/>
                <a:sym typeface="Cambria"/>
              </a:rPr>
              <a:t>Studii:</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PhD, Universitatea de Stat din Moldova, tema de cercetare "Procedura de examinare a apelului în procesul civil"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Universitatea de Stat din Moldova, Facultatea de Drept, LLM în Drept Procesual Civil</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Universitatea de Stat din Moldova, Facultatea de Drept, diplomă LLB în drept.</a:t>
            </a:r>
            <a:endParaRPr sz="1400">
              <a:solidFill>
                <a:schemeClr val="dk1"/>
              </a:solidFill>
              <a:latin typeface="Cambria"/>
              <a:ea typeface="Cambria"/>
              <a:cs typeface="Cambria"/>
              <a:sym typeface="Cambria"/>
            </a:endParaRPr>
          </a:p>
          <a:p>
            <a:pPr marL="0" marR="0" lvl="0" indent="0" algn="l" rtl="0">
              <a:spcBef>
                <a:spcPts val="0"/>
              </a:spcBef>
              <a:spcAft>
                <a:spcPts val="0"/>
              </a:spcAft>
              <a:buNone/>
            </a:pPr>
            <a:endParaRPr sz="2045">
              <a:solidFill>
                <a:schemeClr val="dk1"/>
              </a:solidFill>
              <a:latin typeface="Calibri"/>
              <a:ea typeface="Calibri"/>
              <a:cs typeface="Calibri"/>
              <a:sym typeface="Calibri"/>
            </a:endParaRPr>
          </a:p>
        </p:txBody>
      </p:sp>
      <p:graphicFrame>
        <p:nvGraphicFramePr>
          <p:cNvPr id="278" name="Google Shape;278;p15"/>
          <p:cNvGraphicFramePr/>
          <p:nvPr/>
        </p:nvGraphicFramePr>
        <p:xfrm>
          <a:off x="917435" y="3966118"/>
          <a:ext cx="5407650" cy="1280160"/>
        </p:xfrm>
        <a:graphic>
          <a:graphicData uri="http://schemas.openxmlformats.org/drawingml/2006/table">
            <a:tbl>
              <a:tblPr firstRow="1" firstCol="1" bandRow="1">
                <a:noFill/>
                <a:tableStyleId>{6FF0782A-B248-4C6F-8606-AE48E0E161FE}</a:tableStyleId>
              </a:tblPr>
              <a:tblGrid>
                <a:gridCol w="1958975">
                  <a:extLst>
                    <a:ext uri="{9D8B030D-6E8A-4147-A177-3AD203B41FA5}">
                      <a16:colId xmlns:a16="http://schemas.microsoft.com/office/drawing/2014/main" val="20000"/>
                    </a:ext>
                  </a:extLst>
                </a:gridCol>
                <a:gridCol w="3448675">
                  <a:extLst>
                    <a:ext uri="{9D8B030D-6E8A-4147-A177-3AD203B41FA5}">
                      <a16:colId xmlns:a16="http://schemas.microsoft.com/office/drawing/2014/main" val="20001"/>
                    </a:ext>
                  </a:extLst>
                </a:gridCol>
              </a:tblGrid>
              <a:tr h="152400">
                <a:tc>
                  <a:txBody>
                    <a:bodyPr/>
                    <a:lstStyle/>
                    <a:p>
                      <a:pPr marL="0" marR="0" lvl="0" indent="0" algn="just" rtl="0">
                        <a:spcBef>
                          <a:spcPts val="0"/>
                        </a:spcBef>
                        <a:spcAft>
                          <a:spcPts val="0"/>
                        </a:spcAft>
                        <a:buNone/>
                      </a:pPr>
                      <a:r>
                        <a:rPr lang="en-US" sz="1200">
                          <a:latin typeface="Cambria"/>
                          <a:ea typeface="Cambria"/>
                          <a:cs typeface="Cambria"/>
                          <a:sym typeface="Cambria"/>
                        </a:rPr>
                        <a:t>februarie 2020-prezent</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Avocat, "Efrim, Roșca și Asociații", Firmă de avocatură</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decembrie 2011 – ianuarie 2020</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Biroul de avocatură Ina JIMBEI</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august 2012 - prezent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Lector universitar de Drept Procesual Civil, Facultatea de Drept a Universității de Stat din Moldova</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r h="152400">
                <a:tc>
                  <a:txBody>
                    <a:bodyPr/>
                    <a:lstStyle/>
                    <a:p>
                      <a:pPr marL="0" marR="0" lvl="0" indent="0" algn="just" rtl="0">
                        <a:spcBef>
                          <a:spcPts val="0"/>
                        </a:spcBef>
                        <a:spcAft>
                          <a:spcPts val="0"/>
                        </a:spcAft>
                        <a:buNone/>
                      </a:pPr>
                      <a:r>
                        <a:rPr lang="en-US" sz="1200">
                          <a:latin typeface="Cambria"/>
                          <a:ea typeface="Cambria"/>
                          <a:cs typeface="Cambria"/>
                          <a:sym typeface="Cambria"/>
                        </a:rPr>
                        <a:t>decembrie 2011 - prezent</a:t>
                      </a:r>
                      <a:endParaRPr sz="1200">
                        <a:latin typeface="Cambria"/>
                        <a:ea typeface="Cambria"/>
                        <a:cs typeface="Cambria"/>
                        <a:sym typeface="Cambria"/>
                      </a:endParaRPr>
                    </a:p>
                    <a:p>
                      <a:pPr marL="0" marR="0" lvl="0" indent="0" algn="just"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just" rtl="0">
                        <a:spcBef>
                          <a:spcPts val="0"/>
                        </a:spcBef>
                        <a:spcAft>
                          <a:spcPts val="0"/>
                        </a:spcAft>
                        <a:buNone/>
                      </a:pPr>
                      <a:r>
                        <a:rPr lang="en-US" sz="1200">
                          <a:latin typeface="Cambria"/>
                          <a:ea typeface="Cambria"/>
                          <a:cs typeface="Cambria"/>
                          <a:sym typeface="Cambria"/>
                        </a:rPr>
                        <a:t>Avocat, membru al Baroului din Moldova</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3"/>
                  </a:ext>
                </a:extLst>
              </a:tr>
            </a:tbl>
          </a:graphicData>
        </a:graphic>
      </p:graphicFrame>
      <p:sp>
        <p:nvSpPr>
          <p:cNvPr id="279" name="Google Shape;279;p15"/>
          <p:cNvSpPr txBox="1"/>
          <p:nvPr/>
        </p:nvSpPr>
        <p:spPr>
          <a:xfrm>
            <a:off x="6929546" y="2710640"/>
            <a:ext cx="5845967" cy="37548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b="1">
                <a:solidFill>
                  <a:schemeClr val="dk1"/>
                </a:solidFill>
                <a:latin typeface="Cambria"/>
                <a:ea typeface="Cambria"/>
                <a:cs typeface="Cambria"/>
                <a:sym typeface="Cambria"/>
              </a:rPr>
              <a:t>Cursuri de specializare</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18.07.2015 –14.08.2015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Școala de vară în Drept Internațional Comparat și Dreptul Concurenței (Franz von Liszt-Institut fur internationales Recht und Rechtsvergleichnung, Giessen, Frankfurt, Germania)</a:t>
            </a:r>
            <a:r>
              <a:rPr lang="en-US" sz="1400" i="1">
                <a:solidFill>
                  <a:schemeClr val="dk1"/>
                </a:solidFill>
                <a:latin typeface="Cambria"/>
                <a:ea typeface="Cambria"/>
                <a:cs typeface="Cambria"/>
                <a:sym typeface="Cambria"/>
              </a:rPr>
              <a:t/>
            </a:r>
            <a:r>
              <a:rPr lang="en-US" sz="1400">
                <a:solidFill>
                  <a:schemeClr val="dk1"/>
                </a:solidFill>
                <a:latin typeface="Cambria"/>
                <a:ea typeface="Cambria"/>
                <a:cs typeface="Cambria"/>
                <a:sym typeface="Cambria"/>
              </a:rPr>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08.06.2015 –18.07.2015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Școala de vară în dreptul european, dreptul comercial internațional, dreptul concurenței (Universitat Augsburg, Munich, Germania)</a:t>
            </a:r>
            <a:r>
              <a:rPr lang="en-US" sz="1400" i="1">
                <a:solidFill>
                  <a:schemeClr val="dk1"/>
                </a:solidFill>
                <a:latin typeface="Cambria"/>
                <a:ea typeface="Cambria"/>
                <a:cs typeface="Cambria"/>
                <a:sym typeface="Cambria"/>
              </a:rPr>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04.07.2016-29.07.2016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Munich University Summer Training în dreptul german și european – MUST (Ludwig-Maximilians-Universitat Munchen)</a:t>
            </a:r>
            <a:r>
              <a:rPr lang="en-US" sz="1400" i="1">
                <a:solidFill>
                  <a:schemeClr val="dk1"/>
                </a:solidFill>
                <a:latin typeface="Cambria"/>
                <a:ea typeface="Cambria"/>
                <a:cs typeface="Cambria"/>
                <a:sym typeface="Cambria"/>
              </a:rPr>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endParaRPr sz="1400" b="1">
              <a:solidFill>
                <a:schemeClr val="dk1"/>
              </a:solidFill>
              <a:latin typeface="Cambria"/>
              <a:ea typeface="Cambria"/>
              <a:cs typeface="Cambria"/>
              <a:sym typeface="Cambria"/>
            </a:endParaRPr>
          </a:p>
          <a:p>
            <a:pPr marL="0" marR="0" lvl="0" indent="0" algn="just" rtl="0">
              <a:spcBef>
                <a:spcPts val="0"/>
              </a:spcBef>
              <a:spcAft>
                <a:spcPts val="0"/>
              </a:spcAft>
              <a:buNone/>
            </a:pPr>
            <a:endParaRPr sz="1400" b="1">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b="1">
                <a:solidFill>
                  <a:schemeClr val="dk1"/>
                </a:solidFill>
                <a:latin typeface="Cambria"/>
                <a:ea typeface="Cambria"/>
                <a:cs typeface="Cambria"/>
                <a:sym typeface="Cambria"/>
              </a:rPr>
              <a:t>Limbi vorbite: </a:t>
            </a:r>
            <a:endParaRPr sz="1400">
              <a:solidFill>
                <a:schemeClr val="dk1"/>
              </a:solidFill>
              <a:latin typeface="Cambria"/>
              <a:ea typeface="Cambria"/>
              <a:cs typeface="Cambria"/>
              <a:sym typeface="Cambria"/>
            </a:endParaRPr>
          </a:p>
          <a:p>
            <a:pPr marL="0" marR="0" lvl="0" indent="0" algn="just" rtl="0">
              <a:spcBef>
                <a:spcPts val="0"/>
              </a:spcBef>
              <a:spcAft>
                <a:spcPts val="0"/>
              </a:spcAft>
              <a:buNone/>
            </a:pPr>
            <a:r>
              <a:rPr lang="en-US" sz="1400">
                <a:solidFill>
                  <a:schemeClr val="dk1"/>
                </a:solidFill>
                <a:latin typeface="Cambria"/>
                <a:ea typeface="Cambria"/>
                <a:cs typeface="Cambria"/>
                <a:sym typeface="Cambria"/>
              </a:rPr>
              <a:t>română, rusă, engleză, germană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6"/>
          <p:cNvSpPr txBox="1">
            <a:spLocks noGrp="1"/>
          </p:cNvSpPr>
          <p:nvPr>
            <p:ph type="body" idx="1"/>
          </p:nvPr>
        </p:nvSpPr>
        <p:spPr>
          <a:xfrm>
            <a:off x="917435" y="1144884"/>
            <a:ext cx="5852160" cy="5935564"/>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Clr>
                <a:schemeClr val="dk1"/>
              </a:buClr>
              <a:buSzPts val="1400"/>
              <a:buNone/>
            </a:pPr>
            <a:r>
              <a:rPr lang="en-US" sz="1400" b="1">
                <a:latin typeface="Cambria"/>
                <a:ea typeface="Cambria"/>
                <a:cs typeface="Cambria"/>
                <a:sym typeface="Cambria"/>
              </a:rPr>
              <a:t>GICU BLOȘENCO</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Departamentul Corporativ</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Gicu Bloșenco este avocat în echipa ERA. A obținut diploma sa de drept de la Universitatea de Stat din Moldova și a demonstrat interes academic în dreptul civil și arbitrajul comercial.</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Domeniile de expertiză ale lui Gicu sunt dreptul corporativ și comercial, imobiliare, litigii și arbitraj.</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Din 2021 până în 2023, a îndrumat echipa Facultății de Drept a Universității de Stat din Moldova la competiția internațională de arbitraj comercial Willem C. Vis Moot.</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Gicu vorbește română, rusă, engleză și franceză.</a:t>
            </a:r>
            <a:endParaRPr sz="1400">
              <a:latin typeface="Cambria"/>
              <a:ea typeface="Cambria"/>
              <a:cs typeface="Cambria"/>
              <a:sym typeface="Cambria"/>
            </a:endParaRPr>
          </a:p>
          <a:p>
            <a:pPr marL="0" lvl="0" indent="0" algn="just" rtl="0">
              <a:lnSpc>
                <a:spcPct val="120000"/>
              </a:lnSpc>
              <a:spcBef>
                <a:spcPts val="1095"/>
              </a:spcBef>
              <a:spcAft>
                <a:spcPts val="0"/>
              </a:spcAft>
              <a:buClr>
                <a:schemeClr val="dk1"/>
              </a:buClr>
              <a:buSzPts val="1400"/>
              <a:buNone/>
            </a:pPr>
            <a:r>
              <a:rPr lang="en-US" sz="1400" b="1">
                <a:latin typeface="Cambria"/>
                <a:ea typeface="Cambria"/>
                <a:cs typeface="Cambria"/>
                <a:sym typeface="Cambria"/>
              </a:rPr>
              <a:t>Studii:</a:t>
            </a:r>
            <a:endParaRPr/>
          </a:p>
          <a:p>
            <a:pPr marL="0" lvl="0" indent="0" algn="just" rtl="0">
              <a:lnSpc>
                <a:spcPct val="120000"/>
              </a:lnSpc>
              <a:spcBef>
                <a:spcPts val="1095"/>
              </a:spcBef>
              <a:spcAft>
                <a:spcPts val="0"/>
              </a:spcAft>
              <a:buClr>
                <a:schemeClr val="dk1"/>
              </a:buClr>
              <a:buSzPts val="1400"/>
              <a:buNone/>
            </a:pPr>
            <a:r>
              <a:rPr lang="en-US" sz="1400">
                <a:latin typeface="Cambria"/>
                <a:ea typeface="Cambria"/>
                <a:cs typeface="Cambria"/>
                <a:sym typeface="Cambria"/>
              </a:rPr>
              <a:t>Universitatea de Stat din Moldova, Facultatea de Drept, diplomă LLB în drept.</a:t>
            </a: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ctr" rtl="0">
              <a:lnSpc>
                <a:spcPct val="120000"/>
              </a:lnSpc>
              <a:spcBef>
                <a:spcPts val="1095"/>
              </a:spcBef>
              <a:spcAft>
                <a:spcPts val="0"/>
              </a:spcAft>
              <a:buClr>
                <a:schemeClr val="dk1"/>
              </a:buClr>
              <a:buSzPts val="1400"/>
              <a:buNone/>
            </a:pPr>
            <a:r>
              <a:rPr lang="en-US" sz="1400" b="1">
                <a:latin typeface="Cambria"/>
                <a:ea typeface="Cambria"/>
                <a:cs typeface="Cambria"/>
                <a:sym typeface="Cambria"/>
              </a:rPr>
              <a:t>Experiență Profesională</a:t>
            </a:r>
            <a:endParaRPr sz="1400">
              <a:latin typeface="Cambria"/>
              <a:ea typeface="Cambria"/>
              <a:cs typeface="Cambria"/>
              <a:sym typeface="Cambria"/>
            </a:endParaRPr>
          </a:p>
          <a:p>
            <a:pPr marL="0" lvl="0" indent="0" algn="l" rtl="0">
              <a:lnSpc>
                <a:spcPct val="9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1400"/>
              <a:buNone/>
            </a:pPr>
            <a:endParaRPr sz="1400">
              <a:latin typeface="Cambria"/>
              <a:ea typeface="Cambria"/>
              <a:cs typeface="Cambria"/>
              <a:sym typeface="Cambria"/>
            </a:endParaRPr>
          </a:p>
          <a:p>
            <a:pPr marL="0" lvl="0" indent="0" algn="just" rtl="0">
              <a:lnSpc>
                <a:spcPct val="170000"/>
              </a:lnSpc>
              <a:spcBef>
                <a:spcPts val="1095"/>
              </a:spcBef>
              <a:spcAft>
                <a:spcPts val="0"/>
              </a:spcAft>
              <a:buClr>
                <a:schemeClr val="dk1"/>
              </a:buClr>
              <a:buSzPts val="1400"/>
              <a:buNone/>
            </a:pPr>
            <a:endParaRPr sz="1400">
              <a:latin typeface="Cambria"/>
              <a:ea typeface="Cambria"/>
              <a:cs typeface="Cambria"/>
              <a:sym typeface="Cambria"/>
            </a:endParaRPr>
          </a:p>
          <a:p>
            <a:pPr marL="250203" lvl="0" indent="-55575" algn="l" rtl="0">
              <a:lnSpc>
                <a:spcPct val="90000"/>
              </a:lnSpc>
              <a:spcBef>
                <a:spcPts val="1095"/>
              </a:spcBef>
              <a:spcAft>
                <a:spcPts val="0"/>
              </a:spcAft>
              <a:buClr>
                <a:schemeClr val="dk1"/>
              </a:buClr>
              <a:buSzPts val="3065"/>
              <a:buNone/>
            </a:pPr>
            <a:endParaRPr/>
          </a:p>
        </p:txBody>
      </p:sp>
      <p:sp>
        <p:nvSpPr>
          <p:cNvPr id="286" name="Google Shape;286;p16"/>
          <p:cNvSpPr txBox="1">
            <a:spLocks noGrp="1"/>
          </p:cNvSpPr>
          <p:nvPr>
            <p:ph type="ftr" idx="11"/>
          </p:nvPr>
        </p:nvSpPr>
        <p:spPr>
          <a:xfrm>
            <a:off x="4420374" y="7692361"/>
            <a:ext cx="4503777" cy="4418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000" b="1">
                <a:latin typeface="Cambria"/>
                <a:ea typeface="Cambria"/>
                <a:cs typeface="Cambria"/>
                <a:sym typeface="Cambria"/>
              </a:rPr>
              <a:t>Ofertă de servicii juridice</a:t>
            </a:r>
            <a:endParaRPr/>
          </a:p>
        </p:txBody>
      </p:sp>
      <p:sp>
        <p:nvSpPr>
          <p:cNvPr id="287" name="Google Shape;287;p16"/>
          <p:cNvSpPr txBox="1">
            <a:spLocks noGrp="1"/>
          </p:cNvSpPr>
          <p:nvPr>
            <p:ph type="sldNum" idx="12"/>
          </p:nvPr>
        </p:nvSpPr>
        <p:spPr>
          <a:xfrm>
            <a:off x="9424571" y="7692361"/>
            <a:ext cx="3002518" cy="441869"/>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cxnSp>
        <p:nvCxnSpPr>
          <p:cNvPr id="288" name="Google Shape;288;p16"/>
          <p:cNvCxnSpPr/>
          <p:nvPr/>
        </p:nvCxnSpPr>
        <p:spPr>
          <a:xfrm rot="10800000" flipH="1">
            <a:off x="917436" y="962671"/>
            <a:ext cx="11509653" cy="33925"/>
          </a:xfrm>
          <a:prstGeom prst="straightConnector1">
            <a:avLst/>
          </a:prstGeom>
          <a:noFill/>
          <a:ln w="9525" cap="flat" cmpd="sng">
            <a:solidFill>
              <a:srgbClr val="DA1F28"/>
            </a:solidFill>
            <a:prstDash val="solid"/>
            <a:miter lim="8000"/>
            <a:headEnd type="none" w="sm" len="sm"/>
            <a:tailEnd type="none" w="sm" len="sm"/>
          </a:ln>
        </p:spPr>
      </p:cxnSp>
      <p:sp>
        <p:nvSpPr>
          <p:cNvPr id="289" name="Google Shape;289;p16"/>
          <p:cNvSpPr/>
          <p:nvPr/>
        </p:nvSpPr>
        <p:spPr>
          <a:xfrm>
            <a:off x="0" y="656754"/>
            <a:ext cx="202187" cy="422688"/>
          </a:xfrm>
          <a:prstGeom prst="rect">
            <a:avLst/>
          </a:prstGeom>
          <a:noFill/>
          <a:ln>
            <a:noFill/>
          </a:ln>
        </p:spPr>
        <p:txBody>
          <a:bodyPr spcFirstLastPara="1" wrap="square" lIns="100075" tIns="50025" rIns="100075" bIns="50025" anchor="ctr" anchorCtr="0">
            <a:spAutoFit/>
          </a:bodyPr>
          <a:lstStyle/>
          <a:p>
            <a:pPr marL="0" marR="0" lvl="0" indent="0" algn="l" rtl="0">
              <a:spcBef>
                <a:spcPts val="0"/>
              </a:spcBef>
              <a:spcAft>
                <a:spcPts val="0"/>
              </a:spcAft>
              <a:buNone/>
            </a:pPr>
            <a:endParaRPr sz="2090">
              <a:solidFill>
                <a:schemeClr val="dk1"/>
              </a:solidFill>
              <a:latin typeface="Calibri"/>
              <a:ea typeface="Calibri"/>
              <a:cs typeface="Calibri"/>
              <a:sym typeface="Calibri"/>
            </a:endParaRPr>
          </a:p>
        </p:txBody>
      </p:sp>
      <p:grpSp>
        <p:nvGrpSpPr>
          <p:cNvPr id="290" name="Google Shape;290;p16"/>
          <p:cNvGrpSpPr/>
          <p:nvPr/>
        </p:nvGrpSpPr>
        <p:grpSpPr>
          <a:xfrm>
            <a:off x="639425" y="7686554"/>
            <a:ext cx="611624" cy="278385"/>
            <a:chOff x="639425" y="7686554"/>
            <a:chExt cx="611624" cy="278385"/>
          </a:xfrm>
        </p:grpSpPr>
        <p:pic>
          <p:nvPicPr>
            <p:cNvPr id="291" name="Google Shape;291;p16"/>
            <p:cNvPicPr preferRelativeResize="0"/>
            <p:nvPr/>
          </p:nvPicPr>
          <p:blipFill rotWithShape="1">
            <a:blip r:embed="rId3">
              <a:alphaModFix amt="50000"/>
            </a:blip>
            <a:srcRect/>
            <a:stretch/>
          </p:blipFill>
          <p:spPr>
            <a:xfrm>
              <a:off x="750629" y="7686554"/>
              <a:ext cx="333613" cy="222409"/>
            </a:xfrm>
            <a:prstGeom prst="rect">
              <a:avLst/>
            </a:prstGeom>
            <a:noFill/>
            <a:ln>
              <a:noFill/>
            </a:ln>
          </p:spPr>
        </p:pic>
        <p:cxnSp>
          <p:nvCxnSpPr>
            <p:cNvPr id="292" name="Google Shape;292;p16"/>
            <p:cNvCxnSpPr/>
            <p:nvPr/>
          </p:nvCxnSpPr>
          <p:spPr>
            <a:xfrm>
              <a:off x="639425" y="7964939"/>
              <a:ext cx="611624" cy="0"/>
            </a:xfrm>
            <a:prstGeom prst="straightConnector1">
              <a:avLst/>
            </a:prstGeom>
            <a:noFill/>
            <a:ln w="12700" cap="flat" cmpd="sng">
              <a:solidFill>
                <a:srgbClr val="DA2912"/>
              </a:solidFill>
              <a:prstDash val="solid"/>
              <a:miter lim="8000"/>
              <a:headEnd type="none" w="sm" len="sm"/>
              <a:tailEnd type="none" w="sm" len="sm"/>
            </a:ln>
          </p:spPr>
        </p:cxnSp>
      </p:grpSp>
      <p:sp>
        <p:nvSpPr>
          <p:cNvPr id="293" name="Google Shape;293;p16"/>
          <p:cNvSpPr txBox="1"/>
          <p:nvPr/>
        </p:nvSpPr>
        <p:spPr>
          <a:xfrm>
            <a:off x="917436" y="639230"/>
            <a:ext cx="4024209" cy="38182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DA1F28"/>
              </a:buClr>
              <a:buSzPts val="1400"/>
              <a:buFont typeface="Cambria"/>
              <a:buNone/>
            </a:pPr>
            <a:r>
              <a:rPr lang="en-US" sz="1400" b="1">
                <a:solidFill>
                  <a:srgbClr val="DA1F28"/>
                </a:solidFill>
                <a:latin typeface="Cambria"/>
                <a:ea typeface="Cambria"/>
                <a:cs typeface="Cambria"/>
                <a:sym typeface="Cambria"/>
              </a:rPr>
              <a:t>Secțiunea 5: CV-urile membrilor echipei ERA</a:t>
            </a:r>
            <a:r>
              <a:rPr lang="en-US" sz="1400" b="1">
                <a:solidFill>
                  <a:schemeClr val="dk1"/>
                </a:solidFill>
                <a:latin typeface="Cambria"/>
                <a:ea typeface="Cambria"/>
                <a:cs typeface="Cambria"/>
                <a:sym typeface="Cambria"/>
              </a:rPr>
              <a:t/>
            </a:r>
            <a:endParaRPr/>
          </a:p>
        </p:txBody>
      </p:sp>
      <p:graphicFrame>
        <p:nvGraphicFramePr>
          <p:cNvPr id="294" name="Google Shape;294;p16"/>
          <p:cNvGraphicFramePr/>
          <p:nvPr/>
        </p:nvGraphicFramePr>
        <p:xfrm>
          <a:off x="7164493" y="1781175"/>
          <a:ext cx="5649600" cy="1828800"/>
        </p:xfrm>
        <a:graphic>
          <a:graphicData uri="http://schemas.openxmlformats.org/drawingml/2006/table">
            <a:tbl>
              <a:tblPr firstRow="1" firstCol="1" bandRow="1">
                <a:noFill/>
                <a:tableStyleId>{6FF0782A-B248-4C6F-8606-AE48E0E161FE}</a:tableStyleId>
              </a:tblPr>
              <a:tblGrid>
                <a:gridCol w="1868800">
                  <a:extLst>
                    <a:ext uri="{9D8B030D-6E8A-4147-A177-3AD203B41FA5}">
                      <a16:colId xmlns:a16="http://schemas.microsoft.com/office/drawing/2014/main" val="20000"/>
                    </a:ext>
                  </a:extLst>
                </a:gridCol>
                <a:gridCol w="3780800">
                  <a:extLst>
                    <a:ext uri="{9D8B030D-6E8A-4147-A177-3AD203B41FA5}">
                      <a16:colId xmlns:a16="http://schemas.microsoft.com/office/drawing/2014/main" val="20001"/>
                    </a:ext>
                  </a:extLst>
                </a:gridCol>
              </a:tblGrid>
              <a:tr h="514350">
                <a:tc>
                  <a:txBody>
                    <a:bodyPr/>
                    <a:lstStyle/>
                    <a:p>
                      <a:pPr marL="0" marR="0" lvl="0" indent="0" algn="l" rtl="0">
                        <a:spcBef>
                          <a:spcPts val="0"/>
                        </a:spcBef>
                        <a:spcAft>
                          <a:spcPts val="0"/>
                        </a:spcAft>
                        <a:buNone/>
                      </a:pPr>
                      <a:r>
                        <a:rPr lang="en-US" sz="1200">
                          <a:latin typeface="Cambria"/>
                          <a:ea typeface="Cambria"/>
                          <a:cs typeface="Cambria"/>
                          <a:sym typeface="Cambria"/>
                        </a:rPr>
                        <a:t>decembrie 2023 – prezent</a:t>
                      </a: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 </a:t>
                      </a:r>
                      <a:endParaRPr sz="1200">
                        <a:latin typeface="Cambria"/>
                        <a:ea typeface="Cambria"/>
                        <a:cs typeface="Cambria"/>
                        <a:sym typeface="Cambria"/>
                      </a:endParaRPr>
                    </a:p>
                  </a:txBody>
                  <a:tcPr marL="68575" marR="68575" marT="0" marB="0"/>
                </a:tc>
                <a:tc>
                  <a:txBody>
                    <a:bodyPr/>
                    <a:lstStyle/>
                    <a:p>
                      <a:pPr marL="0" marR="0" lvl="0" indent="0" algn="l" rtl="0">
                        <a:spcBef>
                          <a:spcPts val="0"/>
                        </a:spcBef>
                        <a:spcAft>
                          <a:spcPts val="0"/>
                        </a:spcAft>
                        <a:buNone/>
                      </a:pPr>
                      <a:r>
                        <a:rPr lang="en-US" sz="1200">
                          <a:latin typeface="Cambria"/>
                          <a:ea typeface="Cambria"/>
                          <a:cs typeface="Cambria"/>
                          <a:sym typeface="Cambria"/>
                        </a:rPr>
                        <a:t>Firma de Avocatură Efrim Roșca și Asociații </a:t>
                      </a: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Avocat</a:t>
                      </a:r>
                      <a:endParaRPr sz="1200">
                        <a:latin typeface="Cambria"/>
                        <a:ea typeface="Cambria"/>
                        <a:cs typeface="Cambria"/>
                        <a:sym typeface="Cambria"/>
                      </a:endParaRPr>
                    </a:p>
                  </a:txBody>
                  <a:tcPr marL="68575" marR="68575" marT="0" marB="0"/>
                </a:tc>
                <a:extLst>
                  <a:ext uri="{0D108BD9-81ED-4DB2-BD59-A6C34878D82A}">
                    <a16:rowId xmlns:a16="http://schemas.microsoft.com/office/drawing/2014/main" val="10000"/>
                  </a:ext>
                </a:extLst>
              </a:tr>
              <a:tr h="152400">
                <a:tc>
                  <a:txBody>
                    <a:bodyPr/>
                    <a:lstStyle/>
                    <a:p>
                      <a:pPr marL="0" marR="0" lvl="0" indent="0" algn="l" rtl="0">
                        <a:spcBef>
                          <a:spcPts val="0"/>
                        </a:spcBef>
                        <a:spcAft>
                          <a:spcPts val="0"/>
                        </a:spcAft>
                        <a:buNone/>
                      </a:pPr>
                      <a:r>
                        <a:rPr lang="en-US" sz="1200">
                          <a:latin typeface="Cambria"/>
                          <a:ea typeface="Cambria"/>
                          <a:cs typeface="Cambria"/>
                          <a:sym typeface="Cambria"/>
                        </a:rPr>
                        <a:t>ianuarie 2021 - decembrie 2023</a:t>
                      </a:r>
                      <a:endParaRPr sz="1200">
                        <a:latin typeface="Cambria"/>
                        <a:ea typeface="Cambria"/>
                        <a:cs typeface="Cambria"/>
                        <a:sym typeface="Cambria"/>
                      </a:endParaRPr>
                    </a:p>
                  </a:txBody>
                  <a:tcPr marL="68575" marR="68575" marT="0" marB="0"/>
                </a:tc>
                <a:tc>
                  <a:txBody>
                    <a:bodyPr/>
                    <a:lstStyle/>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Firma de Avocatură Efrim Roșca și Asociații </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Avocat stagiar</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mbria"/>
                        <a:ea typeface="Cambria"/>
                        <a:cs typeface="Cambria"/>
                        <a:sym typeface="Cambria"/>
                      </a:endParaRPr>
                    </a:p>
                  </a:txBody>
                  <a:tcPr marL="68575" marR="68575" marT="0" marB="0"/>
                </a:tc>
                <a:extLst>
                  <a:ext uri="{0D108BD9-81ED-4DB2-BD59-A6C34878D82A}">
                    <a16:rowId xmlns:a16="http://schemas.microsoft.com/office/drawing/2014/main" val="10001"/>
                  </a:ext>
                </a:extLst>
              </a:tr>
              <a:tr h="152400">
                <a:tc>
                  <a:txBody>
                    <a:bodyPr/>
                    <a:lstStyle/>
                    <a:p>
                      <a:pPr marL="457200" marR="0" lvl="0" indent="-457200" algn="l" rtl="0">
                        <a:spcBef>
                          <a:spcPts val="0"/>
                        </a:spcBef>
                        <a:spcAft>
                          <a:spcPts val="0"/>
                        </a:spcAft>
                        <a:buNone/>
                      </a:pPr>
                      <a:endParaRPr sz="1200">
                        <a:latin typeface="Cambria"/>
                        <a:ea typeface="Cambria"/>
                        <a:cs typeface="Cambria"/>
                        <a:sym typeface="Cambria"/>
                      </a:endParaRPr>
                    </a:p>
                    <a:p>
                      <a:pPr marL="0" marR="0" lvl="0" indent="0" algn="l" rtl="0">
                        <a:spcBef>
                          <a:spcPts val="0"/>
                        </a:spcBef>
                        <a:spcAft>
                          <a:spcPts val="0"/>
                        </a:spcAft>
                        <a:buNone/>
                      </a:pPr>
                      <a:r>
                        <a:rPr lang="en-US" sz="1200">
                          <a:latin typeface="Cambria"/>
                          <a:ea typeface="Cambria"/>
                          <a:cs typeface="Cambria"/>
                          <a:sym typeface="Cambria"/>
                        </a:rPr>
                        <a:t> septembrie 2020 – ianuarie 2021</a:t>
                      </a:r>
                      <a:endParaRPr sz="1200">
                        <a:latin typeface="Cambria"/>
                        <a:ea typeface="Cambria"/>
                        <a:cs typeface="Cambria"/>
                        <a:sym typeface="Cambria"/>
                      </a:endParaRPr>
                    </a:p>
                  </a:txBody>
                  <a:tcPr marL="68575" marR="68575" marT="0" marB="0"/>
                </a:tc>
                <a:tc>
                  <a:txBody>
                    <a:bodyPr/>
                    <a:lstStyle/>
                    <a:p>
                      <a:pPr marL="0" marR="0" lvl="0" indent="0" algn="l" rtl="0">
                        <a:spcBef>
                          <a:spcPts val="0"/>
                        </a:spcBef>
                        <a:spcAft>
                          <a:spcPts val="0"/>
                        </a:spcAft>
                        <a:buNone/>
                      </a:pPr>
                      <a:endParaRPr sz="1200" b="0">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Firma de Avocatură Efrim Roșca și Asociații </a:t>
                      </a:r>
                      <a:endParaRPr sz="1200" b="0" i="0" u="none" strike="noStrike" cap="none">
                        <a:solidFill>
                          <a:schemeClr val="dk1"/>
                        </a:solidFill>
                        <a:latin typeface="Cambria"/>
                        <a:ea typeface="Cambria"/>
                        <a:cs typeface="Cambria"/>
                        <a:sym typeface="Cambria"/>
                      </a:endParaRPr>
                    </a:p>
                    <a:p>
                      <a:pPr marL="0" marR="0" lvl="0" indent="0" algn="l" rtl="0">
                        <a:lnSpc>
                          <a:spcPct val="100000"/>
                        </a:lnSpc>
                        <a:spcBef>
                          <a:spcPts val="0"/>
                        </a:spcBef>
                        <a:spcAft>
                          <a:spcPts val="0"/>
                        </a:spcAft>
                        <a:buClr>
                          <a:schemeClr val="dk1"/>
                        </a:buClr>
                        <a:buSzPts val="1200"/>
                        <a:buFont typeface="Cambria"/>
                        <a:buNone/>
                      </a:pPr>
                      <a:r>
                        <a:rPr lang="en-US" sz="1200" b="0" i="0" u="none" strike="noStrike" cap="none">
                          <a:solidFill>
                            <a:schemeClr val="dk1"/>
                          </a:solidFill>
                          <a:latin typeface="Cambria"/>
                          <a:ea typeface="Cambria"/>
                          <a:cs typeface="Cambria"/>
                          <a:sym typeface="Cambria"/>
                        </a:rPr>
                        <a:t>Consultant juridic</a:t>
                      </a:r>
                      <a:endParaRPr sz="1200" b="0" i="0" u="none" strike="noStrike" cap="none">
                        <a:solidFill>
                          <a:schemeClr val="dk1"/>
                        </a:solidFill>
                        <a:latin typeface="Cambria"/>
                        <a:ea typeface="Cambria"/>
                        <a:cs typeface="Cambria"/>
                        <a:sym typeface="Cambria"/>
                      </a:endParaRPr>
                    </a:p>
                    <a:p>
                      <a:pPr marL="0" marR="0" lvl="0" indent="0" algn="l" rtl="0">
                        <a:spcBef>
                          <a:spcPts val="0"/>
                        </a:spcBef>
                        <a:spcAft>
                          <a:spcPts val="0"/>
                        </a:spcAft>
                        <a:buNone/>
                      </a:pPr>
                      <a:endParaRPr sz="1200" b="0">
                        <a:latin typeface="Cambria"/>
                        <a:ea typeface="Cambria"/>
                        <a:cs typeface="Cambria"/>
                        <a:sym typeface="Cambria"/>
                      </a:endParaRPr>
                    </a:p>
                  </a:txBody>
                  <a:tcPr marL="68575" marR="68575" marT="0" marB="0"/>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3678</Words>
  <Application>Microsoft Office PowerPoint</Application>
  <PresentationFormat>Custom</PresentationFormat>
  <Paragraphs>386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Noto Sans Symbols</vt:lpstr>
      <vt:lpstr>Office Theme</vt:lpstr>
      <vt:lpstr>PowerPoint Presentation</vt:lpstr>
      <vt:lpstr> </vt:lpstr>
      <vt:lpstr>Secțiunea 1   Obiectul serviciilor</vt:lpstr>
      <vt:lpstr>PowerPoint Presentation</vt:lpstr>
      <vt:lpstr>PowerPoint Presentation</vt:lpstr>
      <vt:lpstr>PowerPoint Presentation</vt:lpstr>
      <vt:lpstr>PowerPoint Presentation</vt:lpstr>
      <vt:lpstr>Secțiunea 2   Oferta financiară</vt:lpstr>
      <vt:lpstr>PowerPoint Presentation</vt:lpstr>
      <vt:lpstr>Secțiunea 3   Profilul ERA </vt:lpstr>
      <vt:lpstr>PowerPoint Presentation</vt:lpstr>
      <vt:lpstr>Secțiunea 4  Experiență relevantă: Fuziuni și Achiziții</vt:lpstr>
      <vt:lpstr>PowerPoint Presentation</vt:lpstr>
      <vt:lpstr>Secțiunea 5    Echipa ERA pentru proiect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Efrim,Paul P.</cp:lastModifiedBy>
  <cp:revision>5</cp:revision>
  <dcterms:created xsi:type="dcterms:W3CDTF">2017-09-15T07:02:19Z</dcterms:created>
  <dcterms:modified xsi:type="dcterms:W3CDTF">2026-06-01T16:24:14Z</dcterms:modified>
</cp:coreProperties>
</file>