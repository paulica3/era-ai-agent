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3" r:id="rId7"/>
    <p:sldId id="272" r:id="rId8"/>
    <p:sldId id="261" r:id="rId9"/>
    <p:sldId id="262" r:id="rId10"/>
    <p:sldId id="263" r:id="rId11"/>
    <p:sldId id="264" r:id="rId12"/>
    <p:sldId id="265" r:id="rId13"/>
    <p:sldId id="266" r:id="rId14"/>
    <p:sldId id="267" r:id="rId15"/>
    <p:sldId id="268" r:id="rId16"/>
    <p:sldId id="269" r:id="rId17"/>
    <p:sldId id="270" r:id="rId18"/>
    <p:sldId id="271" r:id="rId19"/>
  </p:sldIdLst>
  <p:sldSz cx="13344525" cy="82994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14">
          <p15:clr>
            <a:srgbClr val="A4A3A4"/>
          </p15:clr>
        </p15:guide>
        <p15:guide id="2" pos="420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ye520NtAUYpLDSqaC4w4y14t9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599C68-CCEA-4331-8874-6C1E036581AA}">
  <a:tblStyle styleId="{73599C68-CCEA-4331-8874-6C1E036581A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FF0782A-B248-4C6F-8606-AE48E0E161FE}"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1128" y="72"/>
      </p:cViewPr>
      <p:guideLst>
        <p:guide orient="horz" pos="2614"/>
        <p:guide pos="42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3" Type="http://customschemas.google.com/relationships/presentationmetadata" Target="meta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919175" y="553297"/>
            <a:ext cx="4303956" cy="1936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502"/>
              <a:buFont typeface="Calibri"/>
              <a:buNone/>
              <a:defRPr sz="3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a:spLocks noGrp="1"/>
          </p:cNvSpPr>
          <p:nvPr>
            <p:ph type="pic" idx="2"/>
          </p:nvPr>
        </p:nvSpPr>
        <p:spPr>
          <a:xfrm>
            <a:off x="5673161" y="1194968"/>
            <a:ext cx="6755666" cy="5897989"/>
          </a:xfrm>
          <a:prstGeom prst="rect">
            <a:avLst/>
          </a:prstGeom>
          <a:noFill/>
          <a:ln>
            <a:noFill/>
          </a:ln>
        </p:spPr>
        <p:txBody>
          <a:bodyPr/>
          <a:lstStyle/>
          <a:p>
            <a:endParaRPr lang="en-US"/>
          </a:p>
        </p:txBody>
      </p:sp>
      <p:sp>
        <p:nvSpPr>
          <p:cNvPr id="18" name="Google Shape;18;p18"/>
          <p:cNvSpPr txBox="1">
            <a:spLocks noGrp="1"/>
          </p:cNvSpPr>
          <p:nvPr>
            <p:ph type="body" idx="1"/>
          </p:nvPr>
        </p:nvSpPr>
        <p:spPr>
          <a:xfrm>
            <a:off x="919175" y="2489835"/>
            <a:ext cx="4303956" cy="46127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chemeClr val="dk1"/>
              </a:buClr>
              <a:buSzPts val="1751"/>
              <a:buNone/>
              <a:defRPr sz="1751"/>
            </a:lvl1pPr>
            <a:lvl2pPr marL="914400" lvl="1" indent="-228600" algn="l">
              <a:lnSpc>
                <a:spcPct val="90000"/>
              </a:lnSpc>
              <a:spcBef>
                <a:spcPts val="547"/>
              </a:spcBef>
              <a:spcAft>
                <a:spcPts val="0"/>
              </a:spcAft>
              <a:buClr>
                <a:schemeClr val="dk1"/>
              </a:buClr>
              <a:buSzPts val="1532"/>
              <a:buNone/>
              <a:defRPr sz="1532"/>
            </a:lvl2pPr>
            <a:lvl3pPr marL="1371600" lvl="2" indent="-228600" algn="l">
              <a:lnSpc>
                <a:spcPct val="90000"/>
              </a:lnSpc>
              <a:spcBef>
                <a:spcPts val="547"/>
              </a:spcBef>
              <a:spcAft>
                <a:spcPts val="0"/>
              </a:spcAft>
              <a:buClr>
                <a:schemeClr val="dk1"/>
              </a:buClr>
              <a:buSzPts val="1313"/>
              <a:buNone/>
              <a:defRPr sz="1313"/>
            </a:lvl3pPr>
            <a:lvl4pPr marL="1828800" lvl="3" indent="-228600" algn="l">
              <a:lnSpc>
                <a:spcPct val="90000"/>
              </a:lnSpc>
              <a:spcBef>
                <a:spcPts val="547"/>
              </a:spcBef>
              <a:spcAft>
                <a:spcPts val="0"/>
              </a:spcAft>
              <a:buClr>
                <a:schemeClr val="dk1"/>
              </a:buClr>
              <a:buSzPts val="1095"/>
              <a:buNone/>
              <a:defRPr sz="1095"/>
            </a:lvl4pPr>
            <a:lvl5pPr marL="2286000" lvl="4" indent="-228600" algn="l">
              <a:lnSpc>
                <a:spcPct val="90000"/>
              </a:lnSpc>
              <a:spcBef>
                <a:spcPts val="547"/>
              </a:spcBef>
              <a:spcAft>
                <a:spcPts val="0"/>
              </a:spcAft>
              <a:buClr>
                <a:schemeClr val="dk1"/>
              </a:buClr>
              <a:buSzPts val="1095"/>
              <a:buNone/>
              <a:defRPr sz="1095"/>
            </a:lvl5pPr>
            <a:lvl6pPr marL="2743200" lvl="5" indent="-228600" algn="l">
              <a:lnSpc>
                <a:spcPct val="90000"/>
              </a:lnSpc>
              <a:spcBef>
                <a:spcPts val="547"/>
              </a:spcBef>
              <a:spcAft>
                <a:spcPts val="0"/>
              </a:spcAft>
              <a:buClr>
                <a:schemeClr val="dk1"/>
              </a:buClr>
              <a:buSzPts val="1095"/>
              <a:buNone/>
              <a:defRPr sz="1095"/>
            </a:lvl6pPr>
            <a:lvl7pPr marL="3200400" lvl="6" indent="-228600" algn="l">
              <a:lnSpc>
                <a:spcPct val="90000"/>
              </a:lnSpc>
              <a:spcBef>
                <a:spcPts val="547"/>
              </a:spcBef>
              <a:spcAft>
                <a:spcPts val="0"/>
              </a:spcAft>
              <a:buClr>
                <a:schemeClr val="dk1"/>
              </a:buClr>
              <a:buSzPts val="1095"/>
              <a:buNone/>
              <a:defRPr sz="1095"/>
            </a:lvl7pPr>
            <a:lvl8pPr marL="3657600" lvl="7" indent="-228600" algn="l">
              <a:lnSpc>
                <a:spcPct val="90000"/>
              </a:lnSpc>
              <a:spcBef>
                <a:spcPts val="547"/>
              </a:spcBef>
              <a:spcAft>
                <a:spcPts val="0"/>
              </a:spcAft>
              <a:buClr>
                <a:schemeClr val="dk1"/>
              </a:buClr>
              <a:buSzPts val="1095"/>
              <a:buNone/>
              <a:defRPr sz="1095"/>
            </a:lvl8pPr>
            <a:lvl9pPr marL="4114800" lvl="8" indent="-228600" algn="l">
              <a:lnSpc>
                <a:spcPct val="90000"/>
              </a:lnSpc>
              <a:spcBef>
                <a:spcPts val="547"/>
              </a:spcBef>
              <a:spcAft>
                <a:spcPts val="0"/>
              </a:spcAft>
              <a:buClr>
                <a:schemeClr val="dk1"/>
              </a:buClr>
              <a:buSzPts val="1095"/>
              <a:buNone/>
              <a:defRPr sz="1095"/>
            </a:lvl9pPr>
          </a:lstStyle>
          <a:p>
            <a:endParaRPr/>
          </a:p>
        </p:txBody>
      </p:sp>
      <p:sp>
        <p:nvSpPr>
          <p:cNvPr id="19" name="Google Shape;19;p18"/>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9"/>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9"/>
          <p:cNvSpPr txBox="1">
            <a:spLocks noGrp="1"/>
          </p:cNvSpPr>
          <p:nvPr>
            <p:ph type="body" idx="1"/>
          </p:nvPr>
        </p:nvSpPr>
        <p:spPr>
          <a:xfrm>
            <a:off x="917436" y="2209344"/>
            <a:ext cx="1150965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25" name="Google Shape;25;p19"/>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20"/>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0"/>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21"/>
          <p:cNvSpPr txBox="1">
            <a:spLocks noGrp="1"/>
          </p:cNvSpPr>
          <p:nvPr>
            <p:ph type="ctrTitle"/>
          </p:nvPr>
        </p:nvSpPr>
        <p:spPr>
          <a:xfrm>
            <a:off x="1668066" y="1358267"/>
            <a:ext cx="10008394" cy="288943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567"/>
              <a:buFont typeface="Calibri"/>
              <a:buNone/>
              <a:defRPr sz="65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subTitle" idx="1"/>
          </p:nvPr>
        </p:nvSpPr>
        <p:spPr>
          <a:xfrm>
            <a:off x="1668066" y="4359133"/>
            <a:ext cx="10008394" cy="200377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95"/>
              </a:spcBef>
              <a:spcAft>
                <a:spcPts val="0"/>
              </a:spcAft>
              <a:buClr>
                <a:schemeClr val="dk1"/>
              </a:buClr>
              <a:buSzPts val="2627"/>
              <a:buNone/>
              <a:defRPr sz="2627"/>
            </a:lvl1pPr>
            <a:lvl2pPr lvl="1" algn="ctr">
              <a:lnSpc>
                <a:spcPct val="90000"/>
              </a:lnSpc>
              <a:spcBef>
                <a:spcPts val="547"/>
              </a:spcBef>
              <a:spcAft>
                <a:spcPts val="0"/>
              </a:spcAft>
              <a:buClr>
                <a:schemeClr val="dk1"/>
              </a:buClr>
              <a:buSzPts val="2189"/>
              <a:buNone/>
              <a:defRPr sz="2189"/>
            </a:lvl2pPr>
            <a:lvl3pPr lvl="2" algn="ctr">
              <a:lnSpc>
                <a:spcPct val="90000"/>
              </a:lnSpc>
              <a:spcBef>
                <a:spcPts val="547"/>
              </a:spcBef>
              <a:spcAft>
                <a:spcPts val="0"/>
              </a:spcAft>
              <a:buClr>
                <a:schemeClr val="dk1"/>
              </a:buClr>
              <a:buSzPts val="1970"/>
              <a:buNone/>
              <a:defRPr sz="1970"/>
            </a:lvl3pPr>
            <a:lvl4pPr lvl="3" algn="ctr">
              <a:lnSpc>
                <a:spcPct val="90000"/>
              </a:lnSpc>
              <a:spcBef>
                <a:spcPts val="547"/>
              </a:spcBef>
              <a:spcAft>
                <a:spcPts val="0"/>
              </a:spcAft>
              <a:buClr>
                <a:schemeClr val="dk1"/>
              </a:buClr>
              <a:buSzPts val="1751"/>
              <a:buNone/>
              <a:defRPr sz="1751"/>
            </a:lvl4pPr>
            <a:lvl5pPr lvl="4" algn="ctr">
              <a:lnSpc>
                <a:spcPct val="90000"/>
              </a:lnSpc>
              <a:spcBef>
                <a:spcPts val="547"/>
              </a:spcBef>
              <a:spcAft>
                <a:spcPts val="0"/>
              </a:spcAft>
              <a:buClr>
                <a:schemeClr val="dk1"/>
              </a:buClr>
              <a:buSzPts val="1751"/>
              <a:buNone/>
              <a:defRPr sz="1751"/>
            </a:lvl5pPr>
            <a:lvl6pPr lvl="5" algn="ctr">
              <a:lnSpc>
                <a:spcPct val="90000"/>
              </a:lnSpc>
              <a:spcBef>
                <a:spcPts val="547"/>
              </a:spcBef>
              <a:spcAft>
                <a:spcPts val="0"/>
              </a:spcAft>
              <a:buClr>
                <a:schemeClr val="dk1"/>
              </a:buClr>
              <a:buSzPts val="1751"/>
              <a:buNone/>
              <a:defRPr sz="1751"/>
            </a:lvl6pPr>
            <a:lvl7pPr lvl="6" algn="ctr">
              <a:lnSpc>
                <a:spcPct val="90000"/>
              </a:lnSpc>
              <a:spcBef>
                <a:spcPts val="547"/>
              </a:spcBef>
              <a:spcAft>
                <a:spcPts val="0"/>
              </a:spcAft>
              <a:buClr>
                <a:schemeClr val="dk1"/>
              </a:buClr>
              <a:buSzPts val="1751"/>
              <a:buNone/>
              <a:defRPr sz="1751"/>
            </a:lvl7pPr>
            <a:lvl8pPr lvl="7" algn="ctr">
              <a:lnSpc>
                <a:spcPct val="90000"/>
              </a:lnSpc>
              <a:spcBef>
                <a:spcPts val="547"/>
              </a:spcBef>
              <a:spcAft>
                <a:spcPts val="0"/>
              </a:spcAft>
              <a:buClr>
                <a:schemeClr val="dk1"/>
              </a:buClr>
              <a:buSzPts val="1751"/>
              <a:buNone/>
              <a:defRPr sz="1751"/>
            </a:lvl8pPr>
            <a:lvl9pPr lvl="8" algn="ctr">
              <a:lnSpc>
                <a:spcPct val="90000"/>
              </a:lnSpc>
              <a:spcBef>
                <a:spcPts val="547"/>
              </a:spcBef>
              <a:spcAft>
                <a:spcPts val="0"/>
              </a:spcAft>
              <a:buClr>
                <a:schemeClr val="dk1"/>
              </a:buClr>
              <a:buSzPts val="1751"/>
              <a:buNone/>
              <a:defRPr sz="1751"/>
            </a:lvl9pPr>
          </a:lstStyle>
          <a:p>
            <a:endParaRPr/>
          </a:p>
        </p:txBody>
      </p:sp>
      <p:sp>
        <p:nvSpPr>
          <p:cNvPr id="36" name="Google Shape;36;p21"/>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910486" y="2069100"/>
            <a:ext cx="11509653" cy="34523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567"/>
              <a:buFont typeface="Calibri"/>
              <a:buNone/>
              <a:defRPr sz="65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2"/>
          <p:cNvSpPr txBox="1">
            <a:spLocks noGrp="1"/>
          </p:cNvSpPr>
          <p:nvPr>
            <p:ph type="body" idx="1"/>
          </p:nvPr>
        </p:nvSpPr>
        <p:spPr>
          <a:xfrm>
            <a:off x="910486" y="5554101"/>
            <a:ext cx="11509653" cy="181550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rgbClr val="888888"/>
              </a:buClr>
              <a:buSzPts val="2627"/>
              <a:buNone/>
              <a:defRPr sz="2627">
                <a:solidFill>
                  <a:srgbClr val="888888"/>
                </a:solidFill>
              </a:defRPr>
            </a:lvl1pPr>
            <a:lvl2pPr marL="914400" lvl="1" indent="-228600" algn="l">
              <a:lnSpc>
                <a:spcPct val="90000"/>
              </a:lnSpc>
              <a:spcBef>
                <a:spcPts val="547"/>
              </a:spcBef>
              <a:spcAft>
                <a:spcPts val="0"/>
              </a:spcAft>
              <a:buClr>
                <a:srgbClr val="888888"/>
              </a:buClr>
              <a:buSzPts val="2189"/>
              <a:buNone/>
              <a:defRPr sz="2189">
                <a:solidFill>
                  <a:srgbClr val="888888"/>
                </a:solidFill>
              </a:defRPr>
            </a:lvl2pPr>
            <a:lvl3pPr marL="1371600" lvl="2" indent="-228600" algn="l">
              <a:lnSpc>
                <a:spcPct val="90000"/>
              </a:lnSpc>
              <a:spcBef>
                <a:spcPts val="547"/>
              </a:spcBef>
              <a:spcAft>
                <a:spcPts val="0"/>
              </a:spcAft>
              <a:buClr>
                <a:srgbClr val="888888"/>
              </a:buClr>
              <a:buSzPts val="1970"/>
              <a:buNone/>
              <a:defRPr sz="1970">
                <a:solidFill>
                  <a:srgbClr val="888888"/>
                </a:solidFill>
              </a:defRPr>
            </a:lvl3pPr>
            <a:lvl4pPr marL="1828800" lvl="3" indent="-228600" algn="l">
              <a:lnSpc>
                <a:spcPct val="90000"/>
              </a:lnSpc>
              <a:spcBef>
                <a:spcPts val="547"/>
              </a:spcBef>
              <a:spcAft>
                <a:spcPts val="0"/>
              </a:spcAft>
              <a:buClr>
                <a:srgbClr val="888888"/>
              </a:buClr>
              <a:buSzPts val="1751"/>
              <a:buNone/>
              <a:defRPr sz="1751">
                <a:solidFill>
                  <a:srgbClr val="888888"/>
                </a:solidFill>
              </a:defRPr>
            </a:lvl4pPr>
            <a:lvl5pPr marL="2286000" lvl="4" indent="-228600" algn="l">
              <a:lnSpc>
                <a:spcPct val="90000"/>
              </a:lnSpc>
              <a:spcBef>
                <a:spcPts val="547"/>
              </a:spcBef>
              <a:spcAft>
                <a:spcPts val="0"/>
              </a:spcAft>
              <a:buClr>
                <a:srgbClr val="888888"/>
              </a:buClr>
              <a:buSzPts val="1751"/>
              <a:buNone/>
              <a:defRPr sz="1751">
                <a:solidFill>
                  <a:srgbClr val="888888"/>
                </a:solidFill>
              </a:defRPr>
            </a:lvl5pPr>
            <a:lvl6pPr marL="2743200" lvl="5" indent="-228600" algn="l">
              <a:lnSpc>
                <a:spcPct val="90000"/>
              </a:lnSpc>
              <a:spcBef>
                <a:spcPts val="547"/>
              </a:spcBef>
              <a:spcAft>
                <a:spcPts val="0"/>
              </a:spcAft>
              <a:buClr>
                <a:srgbClr val="888888"/>
              </a:buClr>
              <a:buSzPts val="1751"/>
              <a:buNone/>
              <a:defRPr sz="1751">
                <a:solidFill>
                  <a:srgbClr val="888888"/>
                </a:solidFill>
              </a:defRPr>
            </a:lvl6pPr>
            <a:lvl7pPr marL="3200400" lvl="6" indent="-228600" algn="l">
              <a:lnSpc>
                <a:spcPct val="90000"/>
              </a:lnSpc>
              <a:spcBef>
                <a:spcPts val="547"/>
              </a:spcBef>
              <a:spcAft>
                <a:spcPts val="0"/>
              </a:spcAft>
              <a:buClr>
                <a:srgbClr val="888888"/>
              </a:buClr>
              <a:buSzPts val="1751"/>
              <a:buNone/>
              <a:defRPr sz="1751">
                <a:solidFill>
                  <a:srgbClr val="888888"/>
                </a:solidFill>
              </a:defRPr>
            </a:lvl7pPr>
            <a:lvl8pPr marL="3657600" lvl="7" indent="-228600" algn="l">
              <a:lnSpc>
                <a:spcPct val="90000"/>
              </a:lnSpc>
              <a:spcBef>
                <a:spcPts val="547"/>
              </a:spcBef>
              <a:spcAft>
                <a:spcPts val="0"/>
              </a:spcAft>
              <a:buClr>
                <a:srgbClr val="888888"/>
              </a:buClr>
              <a:buSzPts val="1751"/>
              <a:buNone/>
              <a:defRPr sz="1751">
                <a:solidFill>
                  <a:srgbClr val="888888"/>
                </a:solidFill>
              </a:defRPr>
            </a:lvl8pPr>
            <a:lvl9pPr marL="4114800" lvl="8" indent="-228600" algn="l">
              <a:lnSpc>
                <a:spcPct val="90000"/>
              </a:lnSpc>
              <a:spcBef>
                <a:spcPts val="547"/>
              </a:spcBef>
              <a:spcAft>
                <a:spcPts val="0"/>
              </a:spcAft>
              <a:buClr>
                <a:srgbClr val="888888"/>
              </a:buClr>
              <a:buSzPts val="1751"/>
              <a:buNone/>
              <a:defRPr sz="1751">
                <a:solidFill>
                  <a:srgbClr val="888888"/>
                </a:solidFill>
              </a:defRPr>
            </a:lvl9pPr>
          </a:lstStyle>
          <a:p>
            <a:endParaRPr/>
          </a:p>
        </p:txBody>
      </p:sp>
      <p:sp>
        <p:nvSpPr>
          <p:cNvPr id="42" name="Google Shape;42;p22"/>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body" idx="1"/>
          </p:nvPr>
        </p:nvSpPr>
        <p:spPr>
          <a:xfrm>
            <a:off x="917436" y="2209344"/>
            <a:ext cx="567142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48" name="Google Shape;48;p23"/>
          <p:cNvSpPr txBox="1">
            <a:spLocks noGrp="1"/>
          </p:cNvSpPr>
          <p:nvPr>
            <p:ph type="body" idx="2"/>
          </p:nvPr>
        </p:nvSpPr>
        <p:spPr>
          <a:xfrm>
            <a:off x="6755666" y="2209344"/>
            <a:ext cx="567142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49" name="Google Shape;49;p23"/>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24"/>
          <p:cNvSpPr txBox="1">
            <a:spLocks noGrp="1"/>
          </p:cNvSpPr>
          <p:nvPr>
            <p:ph type="title"/>
          </p:nvPr>
        </p:nvSpPr>
        <p:spPr>
          <a:xfrm>
            <a:off x="919174"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4"/>
          <p:cNvSpPr txBox="1">
            <a:spLocks noGrp="1"/>
          </p:cNvSpPr>
          <p:nvPr>
            <p:ph type="body" idx="1"/>
          </p:nvPr>
        </p:nvSpPr>
        <p:spPr>
          <a:xfrm>
            <a:off x="919175" y="2034519"/>
            <a:ext cx="5645359" cy="99708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95"/>
              </a:spcBef>
              <a:spcAft>
                <a:spcPts val="0"/>
              </a:spcAft>
              <a:buClr>
                <a:schemeClr val="dk1"/>
              </a:buClr>
              <a:buSzPts val="2627"/>
              <a:buNone/>
              <a:defRPr sz="2627" b="1"/>
            </a:lvl1pPr>
            <a:lvl2pPr marL="914400" lvl="1" indent="-228600" algn="l">
              <a:lnSpc>
                <a:spcPct val="90000"/>
              </a:lnSpc>
              <a:spcBef>
                <a:spcPts val="547"/>
              </a:spcBef>
              <a:spcAft>
                <a:spcPts val="0"/>
              </a:spcAft>
              <a:buClr>
                <a:schemeClr val="dk1"/>
              </a:buClr>
              <a:buSzPts val="2189"/>
              <a:buNone/>
              <a:defRPr sz="2189" b="1"/>
            </a:lvl2pPr>
            <a:lvl3pPr marL="1371600" lvl="2" indent="-228600" algn="l">
              <a:lnSpc>
                <a:spcPct val="90000"/>
              </a:lnSpc>
              <a:spcBef>
                <a:spcPts val="547"/>
              </a:spcBef>
              <a:spcAft>
                <a:spcPts val="0"/>
              </a:spcAft>
              <a:buClr>
                <a:schemeClr val="dk1"/>
              </a:buClr>
              <a:buSzPts val="1970"/>
              <a:buNone/>
              <a:defRPr sz="1970" b="1"/>
            </a:lvl3pPr>
            <a:lvl4pPr marL="1828800" lvl="3" indent="-228600" algn="l">
              <a:lnSpc>
                <a:spcPct val="90000"/>
              </a:lnSpc>
              <a:spcBef>
                <a:spcPts val="547"/>
              </a:spcBef>
              <a:spcAft>
                <a:spcPts val="0"/>
              </a:spcAft>
              <a:buClr>
                <a:schemeClr val="dk1"/>
              </a:buClr>
              <a:buSzPts val="1751"/>
              <a:buNone/>
              <a:defRPr sz="1751" b="1"/>
            </a:lvl4pPr>
            <a:lvl5pPr marL="2286000" lvl="4" indent="-228600" algn="l">
              <a:lnSpc>
                <a:spcPct val="90000"/>
              </a:lnSpc>
              <a:spcBef>
                <a:spcPts val="547"/>
              </a:spcBef>
              <a:spcAft>
                <a:spcPts val="0"/>
              </a:spcAft>
              <a:buClr>
                <a:schemeClr val="dk1"/>
              </a:buClr>
              <a:buSzPts val="1751"/>
              <a:buNone/>
              <a:defRPr sz="1751" b="1"/>
            </a:lvl5pPr>
            <a:lvl6pPr marL="2743200" lvl="5" indent="-228600" algn="l">
              <a:lnSpc>
                <a:spcPct val="90000"/>
              </a:lnSpc>
              <a:spcBef>
                <a:spcPts val="547"/>
              </a:spcBef>
              <a:spcAft>
                <a:spcPts val="0"/>
              </a:spcAft>
              <a:buClr>
                <a:schemeClr val="dk1"/>
              </a:buClr>
              <a:buSzPts val="1751"/>
              <a:buNone/>
              <a:defRPr sz="1751" b="1"/>
            </a:lvl6pPr>
            <a:lvl7pPr marL="3200400" lvl="6" indent="-228600" algn="l">
              <a:lnSpc>
                <a:spcPct val="90000"/>
              </a:lnSpc>
              <a:spcBef>
                <a:spcPts val="547"/>
              </a:spcBef>
              <a:spcAft>
                <a:spcPts val="0"/>
              </a:spcAft>
              <a:buClr>
                <a:schemeClr val="dk1"/>
              </a:buClr>
              <a:buSzPts val="1751"/>
              <a:buNone/>
              <a:defRPr sz="1751" b="1"/>
            </a:lvl7pPr>
            <a:lvl8pPr marL="3657600" lvl="7" indent="-228600" algn="l">
              <a:lnSpc>
                <a:spcPct val="90000"/>
              </a:lnSpc>
              <a:spcBef>
                <a:spcPts val="547"/>
              </a:spcBef>
              <a:spcAft>
                <a:spcPts val="0"/>
              </a:spcAft>
              <a:buClr>
                <a:schemeClr val="dk1"/>
              </a:buClr>
              <a:buSzPts val="1751"/>
              <a:buNone/>
              <a:defRPr sz="1751" b="1"/>
            </a:lvl8pPr>
            <a:lvl9pPr marL="4114800" lvl="8" indent="-228600" algn="l">
              <a:lnSpc>
                <a:spcPct val="90000"/>
              </a:lnSpc>
              <a:spcBef>
                <a:spcPts val="547"/>
              </a:spcBef>
              <a:spcAft>
                <a:spcPts val="0"/>
              </a:spcAft>
              <a:buClr>
                <a:schemeClr val="dk1"/>
              </a:buClr>
              <a:buSzPts val="1751"/>
              <a:buNone/>
              <a:defRPr sz="1751" b="1"/>
            </a:lvl9pPr>
          </a:lstStyle>
          <a:p>
            <a:endParaRPr/>
          </a:p>
        </p:txBody>
      </p:sp>
      <p:sp>
        <p:nvSpPr>
          <p:cNvPr id="55" name="Google Shape;55;p24"/>
          <p:cNvSpPr txBox="1">
            <a:spLocks noGrp="1"/>
          </p:cNvSpPr>
          <p:nvPr>
            <p:ph type="body" idx="2"/>
          </p:nvPr>
        </p:nvSpPr>
        <p:spPr>
          <a:xfrm>
            <a:off x="919175" y="3031605"/>
            <a:ext cx="5645359" cy="445903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56" name="Google Shape;56;p24"/>
          <p:cNvSpPr txBox="1">
            <a:spLocks noGrp="1"/>
          </p:cNvSpPr>
          <p:nvPr>
            <p:ph type="body" idx="3"/>
          </p:nvPr>
        </p:nvSpPr>
        <p:spPr>
          <a:xfrm>
            <a:off x="6755666" y="2034519"/>
            <a:ext cx="5673161" cy="99708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95"/>
              </a:spcBef>
              <a:spcAft>
                <a:spcPts val="0"/>
              </a:spcAft>
              <a:buClr>
                <a:schemeClr val="dk1"/>
              </a:buClr>
              <a:buSzPts val="2627"/>
              <a:buNone/>
              <a:defRPr sz="2627" b="1"/>
            </a:lvl1pPr>
            <a:lvl2pPr marL="914400" lvl="1" indent="-228600" algn="l">
              <a:lnSpc>
                <a:spcPct val="90000"/>
              </a:lnSpc>
              <a:spcBef>
                <a:spcPts val="547"/>
              </a:spcBef>
              <a:spcAft>
                <a:spcPts val="0"/>
              </a:spcAft>
              <a:buClr>
                <a:schemeClr val="dk1"/>
              </a:buClr>
              <a:buSzPts val="2189"/>
              <a:buNone/>
              <a:defRPr sz="2189" b="1"/>
            </a:lvl2pPr>
            <a:lvl3pPr marL="1371600" lvl="2" indent="-228600" algn="l">
              <a:lnSpc>
                <a:spcPct val="90000"/>
              </a:lnSpc>
              <a:spcBef>
                <a:spcPts val="547"/>
              </a:spcBef>
              <a:spcAft>
                <a:spcPts val="0"/>
              </a:spcAft>
              <a:buClr>
                <a:schemeClr val="dk1"/>
              </a:buClr>
              <a:buSzPts val="1970"/>
              <a:buNone/>
              <a:defRPr sz="1970" b="1"/>
            </a:lvl3pPr>
            <a:lvl4pPr marL="1828800" lvl="3" indent="-228600" algn="l">
              <a:lnSpc>
                <a:spcPct val="90000"/>
              </a:lnSpc>
              <a:spcBef>
                <a:spcPts val="547"/>
              </a:spcBef>
              <a:spcAft>
                <a:spcPts val="0"/>
              </a:spcAft>
              <a:buClr>
                <a:schemeClr val="dk1"/>
              </a:buClr>
              <a:buSzPts val="1751"/>
              <a:buNone/>
              <a:defRPr sz="1751" b="1"/>
            </a:lvl4pPr>
            <a:lvl5pPr marL="2286000" lvl="4" indent="-228600" algn="l">
              <a:lnSpc>
                <a:spcPct val="90000"/>
              </a:lnSpc>
              <a:spcBef>
                <a:spcPts val="547"/>
              </a:spcBef>
              <a:spcAft>
                <a:spcPts val="0"/>
              </a:spcAft>
              <a:buClr>
                <a:schemeClr val="dk1"/>
              </a:buClr>
              <a:buSzPts val="1751"/>
              <a:buNone/>
              <a:defRPr sz="1751" b="1"/>
            </a:lvl5pPr>
            <a:lvl6pPr marL="2743200" lvl="5" indent="-228600" algn="l">
              <a:lnSpc>
                <a:spcPct val="90000"/>
              </a:lnSpc>
              <a:spcBef>
                <a:spcPts val="547"/>
              </a:spcBef>
              <a:spcAft>
                <a:spcPts val="0"/>
              </a:spcAft>
              <a:buClr>
                <a:schemeClr val="dk1"/>
              </a:buClr>
              <a:buSzPts val="1751"/>
              <a:buNone/>
              <a:defRPr sz="1751" b="1"/>
            </a:lvl6pPr>
            <a:lvl7pPr marL="3200400" lvl="6" indent="-228600" algn="l">
              <a:lnSpc>
                <a:spcPct val="90000"/>
              </a:lnSpc>
              <a:spcBef>
                <a:spcPts val="547"/>
              </a:spcBef>
              <a:spcAft>
                <a:spcPts val="0"/>
              </a:spcAft>
              <a:buClr>
                <a:schemeClr val="dk1"/>
              </a:buClr>
              <a:buSzPts val="1751"/>
              <a:buNone/>
              <a:defRPr sz="1751" b="1"/>
            </a:lvl7pPr>
            <a:lvl8pPr marL="3657600" lvl="7" indent="-228600" algn="l">
              <a:lnSpc>
                <a:spcPct val="90000"/>
              </a:lnSpc>
              <a:spcBef>
                <a:spcPts val="547"/>
              </a:spcBef>
              <a:spcAft>
                <a:spcPts val="0"/>
              </a:spcAft>
              <a:buClr>
                <a:schemeClr val="dk1"/>
              </a:buClr>
              <a:buSzPts val="1751"/>
              <a:buNone/>
              <a:defRPr sz="1751" b="1"/>
            </a:lvl8pPr>
            <a:lvl9pPr marL="4114800" lvl="8" indent="-228600" algn="l">
              <a:lnSpc>
                <a:spcPct val="90000"/>
              </a:lnSpc>
              <a:spcBef>
                <a:spcPts val="547"/>
              </a:spcBef>
              <a:spcAft>
                <a:spcPts val="0"/>
              </a:spcAft>
              <a:buClr>
                <a:schemeClr val="dk1"/>
              </a:buClr>
              <a:buSzPts val="1751"/>
              <a:buNone/>
              <a:defRPr sz="1751" b="1"/>
            </a:lvl9pPr>
          </a:lstStyle>
          <a:p>
            <a:endParaRPr/>
          </a:p>
        </p:txBody>
      </p:sp>
      <p:sp>
        <p:nvSpPr>
          <p:cNvPr id="57" name="Google Shape;57;p24"/>
          <p:cNvSpPr txBox="1">
            <a:spLocks noGrp="1"/>
          </p:cNvSpPr>
          <p:nvPr>
            <p:ph type="body" idx="4"/>
          </p:nvPr>
        </p:nvSpPr>
        <p:spPr>
          <a:xfrm>
            <a:off x="6755666" y="3031605"/>
            <a:ext cx="5673161" cy="445903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58" name="Google Shape;58;p24"/>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25"/>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919175" y="553297"/>
            <a:ext cx="4303956" cy="1936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502"/>
              <a:buFont typeface="Calibri"/>
              <a:buNone/>
              <a:defRPr sz="3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txBox="1">
            <a:spLocks noGrp="1"/>
          </p:cNvSpPr>
          <p:nvPr>
            <p:ph type="body" idx="1"/>
          </p:nvPr>
        </p:nvSpPr>
        <p:spPr>
          <a:xfrm>
            <a:off x="5673161" y="1194968"/>
            <a:ext cx="6755666" cy="5897989"/>
          </a:xfrm>
          <a:prstGeom prst="rect">
            <a:avLst/>
          </a:prstGeom>
          <a:noFill/>
          <a:ln>
            <a:noFill/>
          </a:ln>
        </p:spPr>
        <p:txBody>
          <a:bodyPr spcFirstLastPara="1" wrap="square" lIns="91425" tIns="45700" rIns="91425" bIns="45700" anchor="t" anchorCtr="0">
            <a:normAutofit/>
          </a:bodyPr>
          <a:lstStyle>
            <a:lvl1pPr marL="457200" lvl="0" indent="-450977" algn="l">
              <a:lnSpc>
                <a:spcPct val="90000"/>
              </a:lnSpc>
              <a:spcBef>
                <a:spcPts val="1095"/>
              </a:spcBef>
              <a:spcAft>
                <a:spcPts val="0"/>
              </a:spcAft>
              <a:buClr>
                <a:schemeClr val="dk1"/>
              </a:buClr>
              <a:buSzPts val="3502"/>
              <a:buChar char="•"/>
              <a:defRPr sz="3502"/>
            </a:lvl1pPr>
            <a:lvl2pPr marL="914400" lvl="1" indent="-423228" algn="l">
              <a:lnSpc>
                <a:spcPct val="90000"/>
              </a:lnSpc>
              <a:spcBef>
                <a:spcPts val="547"/>
              </a:spcBef>
              <a:spcAft>
                <a:spcPts val="0"/>
              </a:spcAft>
              <a:buClr>
                <a:schemeClr val="dk1"/>
              </a:buClr>
              <a:buSzPts val="3065"/>
              <a:buChar char="•"/>
              <a:defRPr sz="3065"/>
            </a:lvl2pPr>
            <a:lvl3pPr marL="1371600" lvl="2" indent="-395415" algn="l">
              <a:lnSpc>
                <a:spcPct val="90000"/>
              </a:lnSpc>
              <a:spcBef>
                <a:spcPts val="547"/>
              </a:spcBef>
              <a:spcAft>
                <a:spcPts val="0"/>
              </a:spcAft>
              <a:buClr>
                <a:schemeClr val="dk1"/>
              </a:buClr>
              <a:buSzPts val="2627"/>
              <a:buChar char="•"/>
              <a:defRPr sz="2627"/>
            </a:lvl3pPr>
            <a:lvl4pPr marL="1828800" lvl="3" indent="-367602" algn="l">
              <a:lnSpc>
                <a:spcPct val="90000"/>
              </a:lnSpc>
              <a:spcBef>
                <a:spcPts val="547"/>
              </a:spcBef>
              <a:spcAft>
                <a:spcPts val="0"/>
              </a:spcAft>
              <a:buClr>
                <a:schemeClr val="dk1"/>
              </a:buClr>
              <a:buSzPts val="2189"/>
              <a:buChar char="•"/>
              <a:defRPr sz="2189"/>
            </a:lvl4pPr>
            <a:lvl5pPr marL="2286000" lvl="4" indent="-367602" algn="l">
              <a:lnSpc>
                <a:spcPct val="90000"/>
              </a:lnSpc>
              <a:spcBef>
                <a:spcPts val="547"/>
              </a:spcBef>
              <a:spcAft>
                <a:spcPts val="0"/>
              </a:spcAft>
              <a:buClr>
                <a:schemeClr val="dk1"/>
              </a:buClr>
              <a:buSzPts val="2189"/>
              <a:buChar char="•"/>
              <a:defRPr sz="2189"/>
            </a:lvl5pPr>
            <a:lvl6pPr marL="2743200" lvl="5" indent="-367602" algn="l">
              <a:lnSpc>
                <a:spcPct val="90000"/>
              </a:lnSpc>
              <a:spcBef>
                <a:spcPts val="547"/>
              </a:spcBef>
              <a:spcAft>
                <a:spcPts val="0"/>
              </a:spcAft>
              <a:buClr>
                <a:schemeClr val="dk1"/>
              </a:buClr>
              <a:buSzPts val="2189"/>
              <a:buChar char="•"/>
              <a:defRPr sz="2189"/>
            </a:lvl6pPr>
            <a:lvl7pPr marL="3200400" lvl="6" indent="-367602" algn="l">
              <a:lnSpc>
                <a:spcPct val="90000"/>
              </a:lnSpc>
              <a:spcBef>
                <a:spcPts val="547"/>
              </a:spcBef>
              <a:spcAft>
                <a:spcPts val="0"/>
              </a:spcAft>
              <a:buClr>
                <a:schemeClr val="dk1"/>
              </a:buClr>
              <a:buSzPts val="2189"/>
              <a:buChar char="•"/>
              <a:defRPr sz="2189"/>
            </a:lvl7pPr>
            <a:lvl8pPr marL="3657600" lvl="7" indent="-367602" algn="l">
              <a:lnSpc>
                <a:spcPct val="90000"/>
              </a:lnSpc>
              <a:spcBef>
                <a:spcPts val="547"/>
              </a:spcBef>
              <a:spcAft>
                <a:spcPts val="0"/>
              </a:spcAft>
              <a:buClr>
                <a:schemeClr val="dk1"/>
              </a:buClr>
              <a:buSzPts val="2189"/>
              <a:buChar char="•"/>
              <a:defRPr sz="2189"/>
            </a:lvl8pPr>
            <a:lvl9pPr marL="4114800" lvl="8" indent="-367602" algn="l">
              <a:lnSpc>
                <a:spcPct val="90000"/>
              </a:lnSpc>
              <a:spcBef>
                <a:spcPts val="547"/>
              </a:spcBef>
              <a:spcAft>
                <a:spcPts val="0"/>
              </a:spcAft>
              <a:buClr>
                <a:schemeClr val="dk1"/>
              </a:buClr>
              <a:buSzPts val="2189"/>
              <a:buChar char="•"/>
              <a:defRPr sz="2189"/>
            </a:lvl9pPr>
          </a:lstStyle>
          <a:p>
            <a:endParaRPr/>
          </a:p>
        </p:txBody>
      </p:sp>
      <p:sp>
        <p:nvSpPr>
          <p:cNvPr id="68" name="Google Shape;68;p26"/>
          <p:cNvSpPr txBox="1">
            <a:spLocks noGrp="1"/>
          </p:cNvSpPr>
          <p:nvPr>
            <p:ph type="body" idx="2"/>
          </p:nvPr>
        </p:nvSpPr>
        <p:spPr>
          <a:xfrm>
            <a:off x="919175" y="2489835"/>
            <a:ext cx="4303956" cy="46127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chemeClr val="dk1"/>
              </a:buClr>
              <a:buSzPts val="1751"/>
              <a:buNone/>
              <a:defRPr sz="1751"/>
            </a:lvl1pPr>
            <a:lvl2pPr marL="914400" lvl="1" indent="-228600" algn="l">
              <a:lnSpc>
                <a:spcPct val="90000"/>
              </a:lnSpc>
              <a:spcBef>
                <a:spcPts val="547"/>
              </a:spcBef>
              <a:spcAft>
                <a:spcPts val="0"/>
              </a:spcAft>
              <a:buClr>
                <a:schemeClr val="dk1"/>
              </a:buClr>
              <a:buSzPts val="1532"/>
              <a:buNone/>
              <a:defRPr sz="1532"/>
            </a:lvl2pPr>
            <a:lvl3pPr marL="1371600" lvl="2" indent="-228600" algn="l">
              <a:lnSpc>
                <a:spcPct val="90000"/>
              </a:lnSpc>
              <a:spcBef>
                <a:spcPts val="547"/>
              </a:spcBef>
              <a:spcAft>
                <a:spcPts val="0"/>
              </a:spcAft>
              <a:buClr>
                <a:schemeClr val="dk1"/>
              </a:buClr>
              <a:buSzPts val="1313"/>
              <a:buNone/>
              <a:defRPr sz="1313"/>
            </a:lvl3pPr>
            <a:lvl4pPr marL="1828800" lvl="3" indent="-228600" algn="l">
              <a:lnSpc>
                <a:spcPct val="90000"/>
              </a:lnSpc>
              <a:spcBef>
                <a:spcPts val="547"/>
              </a:spcBef>
              <a:spcAft>
                <a:spcPts val="0"/>
              </a:spcAft>
              <a:buClr>
                <a:schemeClr val="dk1"/>
              </a:buClr>
              <a:buSzPts val="1095"/>
              <a:buNone/>
              <a:defRPr sz="1095"/>
            </a:lvl4pPr>
            <a:lvl5pPr marL="2286000" lvl="4" indent="-228600" algn="l">
              <a:lnSpc>
                <a:spcPct val="90000"/>
              </a:lnSpc>
              <a:spcBef>
                <a:spcPts val="547"/>
              </a:spcBef>
              <a:spcAft>
                <a:spcPts val="0"/>
              </a:spcAft>
              <a:buClr>
                <a:schemeClr val="dk1"/>
              </a:buClr>
              <a:buSzPts val="1095"/>
              <a:buNone/>
              <a:defRPr sz="1095"/>
            </a:lvl5pPr>
            <a:lvl6pPr marL="2743200" lvl="5" indent="-228600" algn="l">
              <a:lnSpc>
                <a:spcPct val="90000"/>
              </a:lnSpc>
              <a:spcBef>
                <a:spcPts val="547"/>
              </a:spcBef>
              <a:spcAft>
                <a:spcPts val="0"/>
              </a:spcAft>
              <a:buClr>
                <a:schemeClr val="dk1"/>
              </a:buClr>
              <a:buSzPts val="1095"/>
              <a:buNone/>
              <a:defRPr sz="1095"/>
            </a:lvl6pPr>
            <a:lvl7pPr marL="3200400" lvl="6" indent="-228600" algn="l">
              <a:lnSpc>
                <a:spcPct val="90000"/>
              </a:lnSpc>
              <a:spcBef>
                <a:spcPts val="547"/>
              </a:spcBef>
              <a:spcAft>
                <a:spcPts val="0"/>
              </a:spcAft>
              <a:buClr>
                <a:schemeClr val="dk1"/>
              </a:buClr>
              <a:buSzPts val="1095"/>
              <a:buNone/>
              <a:defRPr sz="1095"/>
            </a:lvl7pPr>
            <a:lvl8pPr marL="3657600" lvl="7" indent="-228600" algn="l">
              <a:lnSpc>
                <a:spcPct val="90000"/>
              </a:lnSpc>
              <a:spcBef>
                <a:spcPts val="547"/>
              </a:spcBef>
              <a:spcAft>
                <a:spcPts val="0"/>
              </a:spcAft>
              <a:buClr>
                <a:schemeClr val="dk1"/>
              </a:buClr>
              <a:buSzPts val="1095"/>
              <a:buNone/>
              <a:defRPr sz="1095"/>
            </a:lvl8pPr>
            <a:lvl9pPr marL="4114800" lvl="8" indent="-228600" algn="l">
              <a:lnSpc>
                <a:spcPct val="90000"/>
              </a:lnSpc>
              <a:spcBef>
                <a:spcPts val="547"/>
              </a:spcBef>
              <a:spcAft>
                <a:spcPts val="0"/>
              </a:spcAft>
              <a:buClr>
                <a:schemeClr val="dk1"/>
              </a:buClr>
              <a:buSzPts val="1095"/>
              <a:buNone/>
              <a:defRPr sz="1095"/>
            </a:lvl9pPr>
          </a:lstStyle>
          <a:p>
            <a:endParaRPr/>
          </a:p>
        </p:txBody>
      </p:sp>
      <p:sp>
        <p:nvSpPr>
          <p:cNvPr id="69" name="Google Shape;69;p26"/>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4039300" y="-912520"/>
            <a:ext cx="5265925" cy="1150965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471683" y="2519863"/>
            <a:ext cx="7033400" cy="28774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633453" y="-274147"/>
            <a:ext cx="7033400" cy="846543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816"/>
              <a:buFont typeface="Calibri"/>
              <a:buNone/>
              <a:defRPr sz="4816"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917436" y="2209344"/>
            <a:ext cx="11509653" cy="5265925"/>
          </a:xfrm>
          <a:prstGeom prst="rect">
            <a:avLst/>
          </a:prstGeom>
          <a:noFill/>
          <a:ln>
            <a:noFill/>
          </a:ln>
        </p:spPr>
        <p:txBody>
          <a:bodyPr spcFirstLastPara="1" wrap="square" lIns="91425" tIns="45700" rIns="91425" bIns="45700" anchor="t" anchorCtr="0">
            <a:normAutofit/>
          </a:bodyPr>
          <a:lstStyle>
            <a:lvl1pPr marL="457200" marR="0" lvl="0" indent="-423228" algn="l" rtl="0">
              <a:lnSpc>
                <a:spcPct val="90000"/>
              </a:lnSpc>
              <a:spcBef>
                <a:spcPts val="1095"/>
              </a:spcBef>
              <a:spcAft>
                <a:spcPts val="0"/>
              </a:spcAft>
              <a:buClr>
                <a:schemeClr val="dk1"/>
              </a:buClr>
              <a:buSzPts val="3065"/>
              <a:buFont typeface="Arial"/>
              <a:buChar char="•"/>
              <a:defRPr sz="3065" b="0" i="0" u="none" strike="noStrike" cap="none">
                <a:solidFill>
                  <a:schemeClr val="dk1"/>
                </a:solidFill>
                <a:latin typeface="Calibri"/>
                <a:ea typeface="Calibri"/>
                <a:cs typeface="Calibri"/>
                <a:sym typeface="Calibri"/>
              </a:defRPr>
            </a:lvl1pPr>
            <a:lvl2pPr marL="914400" marR="0" lvl="1" indent="-395415" algn="l" rtl="0">
              <a:lnSpc>
                <a:spcPct val="90000"/>
              </a:lnSpc>
              <a:spcBef>
                <a:spcPts val="547"/>
              </a:spcBef>
              <a:spcAft>
                <a:spcPts val="0"/>
              </a:spcAft>
              <a:buClr>
                <a:schemeClr val="dk1"/>
              </a:buClr>
              <a:buSzPts val="2627"/>
              <a:buFont typeface="Arial"/>
              <a:buChar char="•"/>
              <a:defRPr sz="2627" b="0" i="0" u="none" strike="noStrike" cap="none">
                <a:solidFill>
                  <a:schemeClr val="dk1"/>
                </a:solidFill>
                <a:latin typeface="Calibri"/>
                <a:ea typeface="Calibri"/>
                <a:cs typeface="Calibri"/>
                <a:sym typeface="Calibri"/>
              </a:defRPr>
            </a:lvl2pPr>
            <a:lvl3pPr marL="1371600" marR="0" lvl="2" indent="-367602" algn="l" rtl="0">
              <a:lnSpc>
                <a:spcPct val="90000"/>
              </a:lnSpc>
              <a:spcBef>
                <a:spcPts val="547"/>
              </a:spcBef>
              <a:spcAft>
                <a:spcPts val="0"/>
              </a:spcAft>
              <a:buClr>
                <a:schemeClr val="dk1"/>
              </a:buClr>
              <a:buSzPts val="2189"/>
              <a:buFont typeface="Arial"/>
              <a:buChar char="•"/>
              <a:defRPr sz="2189" b="0" i="0" u="none" strike="noStrike" cap="none">
                <a:solidFill>
                  <a:schemeClr val="dk1"/>
                </a:solidFill>
                <a:latin typeface="Calibri"/>
                <a:ea typeface="Calibri"/>
                <a:cs typeface="Calibri"/>
                <a:sym typeface="Calibri"/>
              </a:defRPr>
            </a:lvl3pPr>
            <a:lvl4pPr marL="1828800" marR="0" lvl="3"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4pPr>
            <a:lvl5pPr marL="2286000" marR="0" lvl="4"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5pPr>
            <a:lvl6pPr marL="2743200" marR="0" lvl="5"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6pPr>
            <a:lvl7pPr marL="3200400" marR="0" lvl="6"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7pPr>
            <a:lvl8pPr marL="3657600" marR="0" lvl="7"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8pPr>
            <a:lvl9pPr marL="4114800" marR="0" lvl="8"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3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3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313" b="0" i="0" u="none" strike="noStrike" cap="none">
                <a:solidFill>
                  <a:srgbClr val="888888"/>
                </a:solidFill>
                <a:latin typeface="Calibri"/>
                <a:ea typeface="Calibri"/>
                <a:cs typeface="Calibri"/>
                <a:sym typeface="Calibri"/>
              </a:defRPr>
            </a:lvl1pPr>
            <a:lvl2pPr marL="0" marR="0" lvl="1" indent="0" algn="r" rtl="0">
              <a:spcBef>
                <a:spcPts val="0"/>
              </a:spcBef>
              <a:buNone/>
              <a:defRPr sz="1313" b="0" i="0" u="none" strike="noStrike" cap="none">
                <a:solidFill>
                  <a:srgbClr val="888888"/>
                </a:solidFill>
                <a:latin typeface="Calibri"/>
                <a:ea typeface="Calibri"/>
                <a:cs typeface="Calibri"/>
                <a:sym typeface="Calibri"/>
              </a:defRPr>
            </a:lvl2pPr>
            <a:lvl3pPr marL="0" marR="0" lvl="2" indent="0" algn="r" rtl="0">
              <a:spcBef>
                <a:spcPts val="0"/>
              </a:spcBef>
              <a:buNone/>
              <a:defRPr sz="1313" b="0" i="0" u="none" strike="noStrike" cap="none">
                <a:solidFill>
                  <a:srgbClr val="888888"/>
                </a:solidFill>
                <a:latin typeface="Calibri"/>
                <a:ea typeface="Calibri"/>
                <a:cs typeface="Calibri"/>
                <a:sym typeface="Calibri"/>
              </a:defRPr>
            </a:lvl3pPr>
            <a:lvl4pPr marL="0" marR="0" lvl="3" indent="0" algn="r" rtl="0">
              <a:spcBef>
                <a:spcPts val="0"/>
              </a:spcBef>
              <a:buNone/>
              <a:defRPr sz="1313" b="0" i="0" u="none" strike="noStrike" cap="none">
                <a:solidFill>
                  <a:srgbClr val="888888"/>
                </a:solidFill>
                <a:latin typeface="Calibri"/>
                <a:ea typeface="Calibri"/>
                <a:cs typeface="Calibri"/>
                <a:sym typeface="Calibri"/>
              </a:defRPr>
            </a:lvl4pPr>
            <a:lvl5pPr marL="0" marR="0" lvl="4" indent="0" algn="r" rtl="0">
              <a:spcBef>
                <a:spcPts val="0"/>
              </a:spcBef>
              <a:buNone/>
              <a:defRPr sz="1313" b="0" i="0" u="none" strike="noStrike" cap="none">
                <a:solidFill>
                  <a:srgbClr val="888888"/>
                </a:solidFill>
                <a:latin typeface="Calibri"/>
                <a:ea typeface="Calibri"/>
                <a:cs typeface="Calibri"/>
                <a:sym typeface="Calibri"/>
              </a:defRPr>
            </a:lvl5pPr>
            <a:lvl6pPr marL="0" marR="0" lvl="5" indent="0" algn="r" rtl="0">
              <a:spcBef>
                <a:spcPts val="0"/>
              </a:spcBef>
              <a:buNone/>
              <a:defRPr sz="1313" b="0" i="0" u="none" strike="noStrike" cap="none">
                <a:solidFill>
                  <a:srgbClr val="888888"/>
                </a:solidFill>
                <a:latin typeface="Calibri"/>
                <a:ea typeface="Calibri"/>
                <a:cs typeface="Calibri"/>
                <a:sym typeface="Calibri"/>
              </a:defRPr>
            </a:lvl6pPr>
            <a:lvl7pPr marL="0" marR="0" lvl="6" indent="0" algn="r" rtl="0">
              <a:spcBef>
                <a:spcPts val="0"/>
              </a:spcBef>
              <a:buNone/>
              <a:defRPr sz="1313" b="0" i="0" u="none" strike="noStrike" cap="none">
                <a:solidFill>
                  <a:srgbClr val="888888"/>
                </a:solidFill>
                <a:latin typeface="Calibri"/>
                <a:ea typeface="Calibri"/>
                <a:cs typeface="Calibri"/>
                <a:sym typeface="Calibri"/>
              </a:defRPr>
            </a:lvl7pPr>
            <a:lvl8pPr marL="0" marR="0" lvl="7" indent="0" algn="r" rtl="0">
              <a:spcBef>
                <a:spcPts val="0"/>
              </a:spcBef>
              <a:buNone/>
              <a:defRPr sz="1313" b="0" i="0" u="none" strike="noStrike" cap="none">
                <a:solidFill>
                  <a:srgbClr val="888888"/>
                </a:solidFill>
                <a:latin typeface="Calibri"/>
                <a:ea typeface="Calibri"/>
                <a:cs typeface="Calibri"/>
                <a:sym typeface="Calibri"/>
              </a:defRPr>
            </a:lvl8pPr>
            <a:lvl9pPr marL="0" marR="0" lvl="8" indent="0" algn="r" rtl="0">
              <a:spcBef>
                <a:spcPts val="0"/>
              </a:spcBef>
              <a:buNone/>
              <a:defRPr sz="1313"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a:stretch/>
        </p:blipFill>
        <p:spPr>
          <a:xfrm>
            <a:off x="465222" y="951197"/>
            <a:ext cx="4680068" cy="1271403"/>
          </a:xfrm>
          <a:prstGeom prst="rect">
            <a:avLst/>
          </a:prstGeom>
          <a:noFill/>
          <a:ln>
            <a:noFill/>
          </a:ln>
        </p:spPr>
      </p:pic>
      <p:pic>
        <p:nvPicPr>
          <p:cNvPr id="90" name="Google Shape;90;p1"/>
          <p:cNvPicPr preferRelativeResize="0">
            <a:picLocks noGrp="1"/>
          </p:cNvPicPr>
          <p:nvPr>
            <p:ph type="pic" idx="2"/>
          </p:nvPr>
        </p:nvPicPr>
        <p:blipFill rotWithShape="1">
          <a:blip r:embed="rId4">
            <a:alphaModFix/>
          </a:blip>
          <a:srcRect l="24336" t="-389" r="7822" b="-196"/>
          <a:stretch/>
        </p:blipFill>
        <p:spPr>
          <a:xfrm>
            <a:off x="5342021" y="-83757"/>
            <a:ext cx="8831179" cy="8537946"/>
          </a:xfrm>
          <a:prstGeom prst="rect">
            <a:avLst/>
          </a:prstGeom>
          <a:noFill/>
          <a:ln>
            <a:noFill/>
          </a:ln>
        </p:spPr>
      </p:pic>
      <p:sp>
        <p:nvSpPr>
          <p:cNvPr id="91" name="Google Shape;91;p1"/>
          <p:cNvSpPr txBox="1">
            <a:spLocks noGrp="1"/>
          </p:cNvSpPr>
          <p:nvPr>
            <p:ph type="body" idx="1"/>
          </p:nvPr>
        </p:nvSpPr>
        <p:spPr>
          <a:xfrm>
            <a:off x="203922" y="2813686"/>
            <a:ext cx="5202668" cy="4878675"/>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90000"/>
              </a:lnSpc>
              <a:spcBef>
                <a:spcPts val="0"/>
              </a:spcBef>
              <a:spcAft>
                <a:spcPts val="0"/>
              </a:spcAft>
              <a:buClr>
                <a:schemeClr val="dk1"/>
              </a:buClr>
              <a:buSzPct val="100000"/>
              <a:buNone/>
            </a:pPr>
            <a:endParaRPr/>
          </a:p>
          <a:p>
            <a:pPr marL="0" lvl="0" indent="0" algn="l" rtl="0">
              <a:lnSpc>
                <a:spcPct val="90000"/>
              </a:lnSpc>
              <a:spcBef>
                <a:spcPts val="1095"/>
              </a:spcBef>
              <a:spcAft>
                <a:spcPts val="0"/>
              </a:spcAft>
              <a:buClr>
                <a:schemeClr val="dk1"/>
              </a:buClr>
              <a:buSzPct val="100000"/>
              <a:buNone/>
            </a:pPr>
            <a:endParaRPr>
              <a:latin typeface="Arial"/>
              <a:ea typeface="Arial"/>
              <a:cs typeface="Arial"/>
              <a:sym typeface="Arial"/>
            </a:endParaRPr>
          </a:p>
          <a:p>
            <a:pPr marL="0" lvl="0" indent="0" algn="l" rtl="0">
              <a:lnSpc>
                <a:spcPct val="90000"/>
              </a:lnSpc>
              <a:spcBef>
                <a:spcPts val="1095"/>
              </a:spcBef>
              <a:spcAft>
                <a:spcPts val="0"/>
              </a:spcAft>
              <a:buClr>
                <a:schemeClr val="dk1"/>
              </a:buClr>
              <a:buSzPct val="100000"/>
              <a:buNone/>
            </a:pPr>
            <a:endParaRPr sz="2079">
              <a:latin typeface="Arial"/>
              <a:ea typeface="Arial"/>
              <a:cs typeface="Arial"/>
              <a:sym typeface="Arial"/>
            </a:endParaRPr>
          </a:p>
          <a:p>
            <a:pPr marL="0" lvl="0" indent="0" algn="l" rtl="0">
              <a:lnSpc>
                <a:spcPct val="90000"/>
              </a:lnSpc>
              <a:spcBef>
                <a:spcPts val="1095"/>
              </a:spcBef>
              <a:spcAft>
                <a:spcPts val="0"/>
              </a:spcAft>
              <a:buClr>
                <a:schemeClr val="dk1"/>
              </a:buClr>
              <a:buSzPct val="100000"/>
              <a:buNone/>
            </a:pPr>
            <a:endParaRPr sz="2079">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46">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3800" b="1">
                <a:latin typeface="Cambria"/>
                <a:ea typeface="Cambria"/>
                <a:cs typeface="Cambria"/>
                <a:sym typeface="Cambria"/>
              </a:rPr>
              <a:t>Proposal for Legal Services</a:t>
            </a:r>
            <a:endParaRPr/>
          </a:p>
          <a:p>
            <a:pPr marL="0" lvl="0" indent="0" algn="l" rtl="0">
              <a:lnSpc>
                <a:spcPct val="90000"/>
              </a:lnSpc>
              <a:spcBef>
                <a:spcPts val="1095"/>
              </a:spcBef>
              <a:spcAft>
                <a:spcPts val="0"/>
              </a:spcAft>
              <a:buClr>
                <a:schemeClr val="dk1"/>
              </a:buClr>
              <a:buSzPct val="100000"/>
              <a:buNone/>
            </a:pPr>
            <a:endParaRPr sz="3800" b="1">
              <a:latin typeface="Cambria"/>
              <a:ea typeface="Cambria"/>
              <a:cs typeface="Cambria"/>
              <a:sym typeface="Cambria"/>
            </a:endParaRPr>
          </a:p>
          <a:p>
            <a:pPr marL="0" lvl="0" indent="0" algn="l" rtl="0">
              <a:lnSpc>
                <a:spcPct val="100000"/>
              </a:lnSpc>
              <a:spcBef>
                <a:spcPts val="0"/>
              </a:spcBef>
              <a:spcAft>
                <a:spcPts val="0"/>
              </a:spcAft>
              <a:buClr>
                <a:srgbClr val="C00000"/>
              </a:buClr>
              <a:buSzPct val="100000"/>
              <a:buNone/>
            </a:pPr>
            <a:r>
              <a:rPr lang="en-US" sz="3800" b="1">
                <a:solidFill>
                  <a:srgbClr val="C00000"/>
                </a:solidFill>
                <a:latin typeface="Cambria"/>
                <a:ea typeface="Cambria"/>
                <a:cs typeface="Cambria"/>
                <a:sym typeface="Cambria"/>
              </a:rPr>
              <a:t>VITAFOR</a:t>
            </a:r>
            <a:endParaRPr sz="3800" b="1">
              <a:solidFill>
                <a:srgbClr val="C00000"/>
              </a:solidFill>
              <a:latin typeface="Cambria"/>
              <a:ea typeface="Cambria"/>
              <a:cs typeface="Cambria"/>
              <a:sym typeface="Cambria"/>
            </a:endParaRPr>
          </a:p>
          <a:p>
            <a:pPr marL="0" lvl="0" indent="0" algn="l" rtl="0">
              <a:lnSpc>
                <a:spcPct val="100000"/>
              </a:lnSpc>
              <a:spcBef>
                <a:spcPts val="0"/>
              </a:spcBef>
              <a:spcAft>
                <a:spcPts val="0"/>
              </a:spcAft>
              <a:buClr>
                <a:schemeClr val="dk1"/>
              </a:buClr>
              <a:buSzPct val="100000"/>
              <a:buNone/>
            </a:pPr>
            <a:endParaRPr sz="3800" b="1" i="1">
              <a:solidFill>
                <a:srgbClr val="C00000"/>
              </a:solidFill>
              <a:latin typeface="Cambria"/>
              <a:ea typeface="Cambria"/>
              <a:cs typeface="Cambria"/>
              <a:sym typeface="Cambria"/>
            </a:endParaRPr>
          </a:p>
          <a:p>
            <a:pPr marL="0" lvl="0" indent="0" algn="l" rtl="0">
              <a:lnSpc>
                <a:spcPct val="100000"/>
              </a:lnSpc>
              <a:spcBef>
                <a:spcPts val="0"/>
              </a:spcBef>
              <a:spcAft>
                <a:spcPts val="0"/>
              </a:spcAft>
              <a:buClr>
                <a:srgbClr val="C00000"/>
              </a:buClr>
              <a:buSzPct val="100000"/>
              <a:buNone/>
            </a:pPr>
            <a:r>
              <a:rPr lang="en-US" sz="3800" b="1" i="1">
                <a:solidFill>
                  <a:srgbClr val="C00000"/>
                </a:solidFill>
                <a:latin typeface="Cambria"/>
                <a:ea typeface="Cambria"/>
                <a:cs typeface="Cambria"/>
                <a:sym typeface="Cambria"/>
              </a:rPr>
              <a:t> </a:t>
            </a:r>
            <a:endParaRPr sz="3800" b="1">
              <a:solidFill>
                <a:srgbClr val="C00000"/>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1900" b="1">
              <a:solidFill>
                <a:srgbClr val="DA1F28"/>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46" i="1">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97087"/>
              <a:buNone/>
            </a:pPr>
            <a:r>
              <a:rPr lang="en-US" i="1">
                <a:latin typeface="Cambria"/>
                <a:ea typeface="Cambria"/>
                <a:cs typeface="Cambria"/>
                <a:sym typeface="Cambria"/>
              </a:rPr>
              <a:t>14 decembrie 2025</a:t>
            </a:r>
            <a:endParaRPr/>
          </a:p>
        </p:txBody>
      </p:sp>
      <p:sp>
        <p:nvSpPr>
          <p:cNvPr id="92" name="Google Shape;92;p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970"/>
              <a:buFont typeface="Cambria"/>
              <a:buNone/>
            </a:pPr>
            <a:br>
              <a:rPr lang="en-US" sz="1970" i="1">
                <a:latin typeface="Cambria"/>
                <a:ea typeface="Cambria"/>
                <a:cs typeface="Cambria"/>
                <a:sym typeface="Cambria"/>
              </a:rPr>
            </a:br>
            <a:endParaRPr sz="1970" b="1">
              <a:latin typeface="Cambria"/>
              <a:ea typeface="Cambria"/>
              <a:cs typeface="Cambria"/>
              <a:sym typeface="Cambria"/>
            </a:endParaRPr>
          </a:p>
        </p:txBody>
      </p:sp>
      <p:sp>
        <p:nvSpPr>
          <p:cNvPr id="99" name="Google Shape;99;p2"/>
          <p:cNvSpPr txBox="1">
            <a:spLocks noGrp="1"/>
          </p:cNvSpPr>
          <p:nvPr>
            <p:ph type="body" idx="1"/>
          </p:nvPr>
        </p:nvSpPr>
        <p:spPr>
          <a:xfrm>
            <a:off x="917430" y="3371850"/>
            <a:ext cx="11509659" cy="41258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endParaRPr sz="1600">
              <a:latin typeface="Cambria"/>
              <a:ea typeface="Cambria"/>
              <a:cs typeface="Cambria"/>
              <a:sym typeface="Cambria"/>
            </a:endParaRPr>
          </a:p>
          <a:p>
            <a:pPr marL="401376" lvl="0" indent="0" algn="l" rtl="0">
              <a:lnSpc>
                <a:spcPct val="90000"/>
              </a:lnSpc>
              <a:spcBef>
                <a:spcPts val="1095"/>
              </a:spcBef>
              <a:spcAft>
                <a:spcPts val="0"/>
              </a:spcAft>
              <a:buClr>
                <a:schemeClr val="dk1"/>
              </a:buClr>
              <a:buSzPts val="5600"/>
              <a:buNone/>
            </a:pPr>
            <a:r>
              <a:rPr lang="en-US" sz="5600">
                <a:latin typeface="Cambria"/>
                <a:ea typeface="Cambria"/>
                <a:cs typeface="Cambria"/>
                <a:sym typeface="Cambria"/>
              </a:rPr>
              <a:t>			</a:t>
            </a:r>
            <a:endParaRPr/>
          </a:p>
        </p:txBody>
      </p:sp>
      <p:sp>
        <p:nvSpPr>
          <p:cNvPr id="100" name="Google Shape;100;p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ERA Profile</a:t>
            </a:r>
            <a:endParaRPr/>
          </a:p>
        </p:txBody>
      </p:sp>
      <p:sp>
        <p:nvSpPr>
          <p:cNvPr id="101" name="Google Shape;101;p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cxnSp>
        <p:nvCxnSpPr>
          <p:cNvPr id="102" name="Google Shape;102;p2"/>
          <p:cNvCxnSpPr/>
          <p:nvPr/>
        </p:nvCxnSpPr>
        <p:spPr>
          <a:xfrm rot="10800000" flipH="1">
            <a:off x="917436" y="1835336"/>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03" name="Google Shape;103;p2"/>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aphicFrame>
        <p:nvGraphicFramePr>
          <p:cNvPr id="104" name="Google Shape;104;p2"/>
          <p:cNvGraphicFramePr/>
          <p:nvPr/>
        </p:nvGraphicFramePr>
        <p:xfrm>
          <a:off x="917431" y="294932"/>
          <a:ext cx="11321400" cy="1806980"/>
        </p:xfrm>
        <a:graphic>
          <a:graphicData uri="http://schemas.openxmlformats.org/drawingml/2006/table">
            <a:tbl>
              <a:tblPr bandRow="1">
                <a:noFill/>
                <a:tableStyleId>{73599C68-CCEA-4331-8874-6C1E036581AA}</a:tableStyleId>
              </a:tblPr>
              <a:tblGrid>
                <a:gridCol w="1109875">
                  <a:extLst>
                    <a:ext uri="{9D8B030D-6E8A-4147-A177-3AD203B41FA5}">
                      <a16:colId xmlns:a16="http://schemas.microsoft.com/office/drawing/2014/main" val="20000"/>
                    </a:ext>
                  </a:extLst>
                </a:gridCol>
                <a:gridCol w="6860175">
                  <a:extLst>
                    <a:ext uri="{9D8B030D-6E8A-4147-A177-3AD203B41FA5}">
                      <a16:colId xmlns:a16="http://schemas.microsoft.com/office/drawing/2014/main" val="20001"/>
                    </a:ext>
                  </a:extLst>
                </a:gridCol>
                <a:gridCol w="3351350">
                  <a:extLst>
                    <a:ext uri="{9D8B030D-6E8A-4147-A177-3AD203B41FA5}">
                      <a16:colId xmlns:a16="http://schemas.microsoft.com/office/drawing/2014/main" val="20002"/>
                    </a:ext>
                  </a:extLst>
                </a:gridCol>
              </a:tblGrid>
              <a:tr h="1778950">
                <a:tc>
                  <a:txBody>
                    <a:bodyPr/>
                    <a:lstStyle/>
                    <a:p>
                      <a:pPr marL="0" marR="0" lvl="0" indent="0" algn="l" rtl="0">
                        <a:spcBef>
                          <a:spcPts val="0"/>
                        </a:spcBef>
                        <a:spcAft>
                          <a:spcPts val="0"/>
                        </a:spcAft>
                        <a:buNone/>
                      </a:pPr>
                      <a:endParaRPr sz="1800" b="0">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a:latin typeface="Cambria"/>
                          <a:ea typeface="Cambria"/>
                          <a:cs typeface="Cambria"/>
                          <a:sym typeface="Cambria"/>
                        </a:rPr>
                        <a:t>        Vitalie BÎRCĂ</a:t>
                      </a:r>
                      <a:endParaRPr/>
                    </a:p>
                    <a:p>
                      <a:pPr marL="0" marR="0" lvl="0" indent="0" algn="l" rtl="0">
                        <a:spcBef>
                          <a:spcPts val="0"/>
                        </a:spcBef>
                        <a:spcAft>
                          <a:spcPts val="0"/>
                        </a:spcAft>
                        <a:buNone/>
                      </a:pPr>
                      <a:r>
                        <a:rPr lang="en-US" sz="1600" b="0">
                          <a:latin typeface="Cambria"/>
                          <a:ea typeface="Cambria"/>
                          <a:cs typeface="Cambria"/>
                          <a:sym typeface="Cambria"/>
                        </a:rPr>
                        <a:t>        Administrator</a:t>
                      </a:r>
                      <a:endParaRPr/>
                    </a:p>
                    <a:p>
                      <a:pPr marL="0" marR="0" lvl="0" indent="0" algn="l" rtl="0">
                        <a:lnSpc>
                          <a:spcPct val="100000"/>
                        </a:lnSpc>
                        <a:spcBef>
                          <a:spcPts val="0"/>
                        </a:spcBef>
                        <a:spcAft>
                          <a:spcPts val="0"/>
                        </a:spcAft>
                        <a:buClr>
                          <a:schemeClr val="dk1"/>
                        </a:buClr>
                        <a:buSzPts val="1600"/>
                        <a:buFont typeface="Cambria"/>
                        <a:buNone/>
                      </a:pPr>
                      <a:r>
                        <a:rPr lang="en-US" sz="1600" b="0" i="0">
                          <a:solidFill>
                            <a:schemeClr val="dk1"/>
                          </a:solidFill>
                          <a:latin typeface="Cambria"/>
                          <a:ea typeface="Cambria"/>
                          <a:cs typeface="Cambria"/>
                          <a:sym typeface="Cambria"/>
                        </a:rPr>
                        <a:t>        VITAFOR S.R.L </a:t>
                      </a:r>
                      <a:endParaRPr/>
                    </a:p>
                    <a:p>
                      <a:pPr marL="0" marR="0" lvl="0" indent="0" algn="l" rtl="0">
                        <a:lnSpc>
                          <a:spcPct val="100000"/>
                        </a:lnSpc>
                        <a:spcBef>
                          <a:spcPts val="0"/>
                        </a:spcBef>
                        <a:spcAft>
                          <a:spcPts val="0"/>
                        </a:spcAft>
                        <a:buClr>
                          <a:schemeClr val="dk1"/>
                        </a:buClr>
                        <a:buSzPts val="1600"/>
                        <a:buFont typeface="Cambria"/>
                        <a:buNone/>
                      </a:pPr>
                      <a:r>
                        <a:rPr lang="en-US" sz="1600">
                          <a:solidFill>
                            <a:schemeClr val="dk1"/>
                          </a:solidFill>
                          <a:latin typeface="Cambria"/>
                          <a:ea typeface="Cambria"/>
                          <a:cs typeface="Cambria"/>
                          <a:sym typeface="Cambria"/>
                        </a:rPr>
                        <a:t>        Chișinău, str. Valea Bîcului 5/3</a:t>
                      </a:r>
                      <a:endParaRPr/>
                    </a:p>
                    <a:p>
                      <a:pPr marL="0" marR="0" lvl="0" indent="0" algn="l" rtl="0">
                        <a:lnSpc>
                          <a:spcPct val="100000"/>
                        </a:lnSpc>
                        <a:spcBef>
                          <a:spcPts val="0"/>
                        </a:spcBef>
                        <a:spcAft>
                          <a:spcPts val="0"/>
                        </a:spcAft>
                        <a:buClr>
                          <a:schemeClr val="dk1"/>
                        </a:buClr>
                        <a:buSzPts val="1600"/>
                        <a:buFont typeface="Cambria"/>
                        <a:buNone/>
                      </a:pPr>
                      <a:r>
                        <a:rPr lang="en-US" sz="1600">
                          <a:solidFill>
                            <a:schemeClr val="dk1"/>
                          </a:solidFill>
                          <a:latin typeface="Cambria"/>
                          <a:ea typeface="Cambria"/>
                          <a:cs typeface="Cambria"/>
                          <a:sym typeface="Cambria"/>
                        </a:rPr>
                        <a:t>        Republic of Moldova</a:t>
                      </a:r>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C00000"/>
                        </a:solidFill>
                        <a:latin typeface="Cambria"/>
                        <a:ea typeface="Cambria"/>
                        <a:cs typeface="Cambria"/>
                        <a:sym typeface="Cambria"/>
                      </a:endParaRPr>
                    </a:p>
                    <a:p>
                      <a:pPr marL="0" marR="0" lvl="0" indent="0" algn="l" rtl="0">
                        <a:lnSpc>
                          <a:spcPct val="100000"/>
                        </a:lnSpc>
                        <a:spcBef>
                          <a:spcPts val="0"/>
                        </a:spcBef>
                        <a:spcAft>
                          <a:spcPts val="0"/>
                        </a:spcAft>
                        <a:buClr>
                          <a:srgbClr val="C00000"/>
                        </a:buClr>
                        <a:buSzPts val="1600"/>
                        <a:buFont typeface="Cambria"/>
                        <a:buNone/>
                      </a:pPr>
                      <a:r>
                        <a:rPr lang="en-US" sz="1600" b="1">
                          <a:solidFill>
                            <a:srgbClr val="C00000"/>
                          </a:solidFill>
                          <a:latin typeface="Cambria"/>
                          <a:ea typeface="Cambria"/>
                          <a:cs typeface="Cambria"/>
                          <a:sym typeface="Cambria"/>
                        </a:rPr>
                        <a:t>         </a:t>
                      </a:r>
                      <a:endParaRPr sz="1600" b="0" i="0">
                        <a:solidFill>
                          <a:schemeClr val="dk1"/>
                        </a:solidFill>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a:solidFill>
                            <a:srgbClr val="C00000"/>
                          </a:solidFill>
                          <a:latin typeface="Cambria"/>
                          <a:ea typeface="Cambria"/>
                          <a:cs typeface="Cambria"/>
                          <a:sym typeface="Cambria"/>
                        </a:rPr>
                        <a:t>Efrim, Rosca si Asociatii</a:t>
                      </a:r>
                      <a:endParaRPr sz="1600" b="1">
                        <a:solidFill>
                          <a:srgbClr val="C00000"/>
                        </a:solidFill>
                        <a:latin typeface="Cambria"/>
                        <a:ea typeface="Cambria"/>
                        <a:cs typeface="Cambria"/>
                        <a:sym typeface="Cambria"/>
                      </a:endParaRPr>
                    </a:p>
                    <a:p>
                      <a:pPr marL="0" marR="0" lvl="0" indent="0" algn="l" rtl="0">
                        <a:spcBef>
                          <a:spcPts val="0"/>
                        </a:spcBef>
                        <a:spcAft>
                          <a:spcPts val="0"/>
                        </a:spcAft>
                        <a:buNone/>
                      </a:pPr>
                      <a:r>
                        <a:rPr lang="en-US" sz="1600" b="0">
                          <a:solidFill>
                            <a:schemeClr val="dk1"/>
                          </a:solidFill>
                          <a:latin typeface="Cambria"/>
                          <a:ea typeface="Cambria"/>
                          <a:cs typeface="Cambria"/>
                          <a:sym typeface="Cambria"/>
                        </a:rPr>
                        <a:t>Str. Bucuresti, 72</a:t>
                      </a:r>
                      <a:endParaRPr/>
                    </a:p>
                    <a:p>
                      <a:pPr marL="0" marR="0" lvl="0" indent="0" algn="l" rtl="0">
                        <a:spcBef>
                          <a:spcPts val="0"/>
                        </a:spcBef>
                        <a:spcAft>
                          <a:spcPts val="0"/>
                        </a:spcAft>
                        <a:buNone/>
                      </a:pPr>
                      <a:r>
                        <a:rPr lang="en-US" sz="1600">
                          <a:latin typeface="Cambria"/>
                          <a:ea typeface="Cambria"/>
                          <a:cs typeface="Cambria"/>
                          <a:sym typeface="Cambria"/>
                        </a:rPr>
                        <a:t>Chisinau, MD2012</a:t>
                      </a:r>
                      <a:endParaRPr/>
                    </a:p>
                    <a:p>
                      <a:pPr marL="0" marR="0" lvl="0" indent="0" algn="l" rtl="0">
                        <a:spcBef>
                          <a:spcPts val="0"/>
                        </a:spcBef>
                        <a:spcAft>
                          <a:spcPts val="0"/>
                        </a:spcAft>
                        <a:buNone/>
                      </a:pPr>
                      <a:r>
                        <a:rPr lang="en-US" sz="1600">
                          <a:latin typeface="Cambria"/>
                          <a:ea typeface="Cambria"/>
                          <a:cs typeface="Cambria"/>
                          <a:sym typeface="Cambria"/>
                        </a:rPr>
                        <a:t>Republic of Moldova</a:t>
                      </a:r>
                      <a:endParaRPr sz="1600" b="0">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05" name="Google Shape;105;p2"/>
          <p:cNvGrpSpPr/>
          <p:nvPr/>
        </p:nvGrpSpPr>
        <p:grpSpPr>
          <a:xfrm>
            <a:off x="639425" y="7686554"/>
            <a:ext cx="611624" cy="278385"/>
            <a:chOff x="639425" y="7686554"/>
            <a:chExt cx="611624" cy="278385"/>
          </a:xfrm>
        </p:grpSpPr>
        <p:pic>
          <p:nvPicPr>
            <p:cNvPr id="106" name="Google Shape;106;p2"/>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07" name="Google Shape;107;p2"/>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08" name="Google Shape;108;p2"/>
          <p:cNvSpPr txBox="1"/>
          <p:nvPr/>
        </p:nvSpPr>
        <p:spPr>
          <a:xfrm>
            <a:off x="1084242" y="2102021"/>
            <a:ext cx="11342847" cy="54237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mbria"/>
                <a:ea typeface="Cambria"/>
                <a:cs typeface="Cambria"/>
                <a:sym typeface="Cambria"/>
              </a:rPr>
              <a:t>Dear Mr. BÎRCĂ</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Efrim, Roșca &amp; Asociații is pleased to submit this proposal for legal services, in response to your request regarding the potential acquisition by VITAFOR S.R.L. of 100% of the shares of Joint Venture "Moldova Zahar".</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Our assistance will cover, from the perspective of the law of the Republic of Moldova, the essential stages of the transaction, including legal due diligence, transaction structuring, drafting and negotiating the share purchase agreement, as well as legal support related to the closing of the transaction, closing formalities and registration of resulting rights.</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Attached you will find the proposed scope of services, team composition, working assumptions and fee estimate. We remain at your disposal for any clarifications and are available to discuss any relevant aspect of the Transaction.</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Respectfully,</a:t>
            </a:r>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Oleg EFRIM</a:t>
            </a:r>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Managing Partner</a:t>
            </a:r>
            <a:endParaRPr/>
          </a:p>
          <a:p>
            <a:pPr marL="4155450" marR="0" lvl="8" indent="0" algn="l" rtl="0">
              <a:spcBef>
                <a:spcPts val="0"/>
              </a:spcBef>
              <a:spcAft>
                <a:spcPts val="0"/>
              </a:spcAft>
              <a:buNone/>
            </a:pPr>
            <a:endParaRPr sz="2045"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Section 1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Subject matter of services</a:t>
            </a:r>
            <a:endParaRPr sz="2900">
              <a:solidFill>
                <a:schemeClr val="lt1"/>
              </a:solidFill>
            </a:endParaRPr>
          </a:p>
        </p:txBody>
      </p:sp>
      <p:sp>
        <p:nvSpPr>
          <p:cNvPr id="115" name="Google Shape;115;p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116" name="Google Shape;116;p3"/>
          <p:cNvGrpSpPr/>
          <p:nvPr/>
        </p:nvGrpSpPr>
        <p:grpSpPr>
          <a:xfrm>
            <a:off x="639425" y="7686554"/>
            <a:ext cx="611624" cy="278385"/>
            <a:chOff x="639425" y="7686554"/>
            <a:chExt cx="611624" cy="278385"/>
          </a:xfrm>
        </p:grpSpPr>
        <p:pic>
          <p:nvPicPr>
            <p:cNvPr id="117" name="Google Shape;117;p3"/>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18" name="Google Shape;118;p3"/>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19" name="Google Shape;119;p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body" idx="1"/>
          </p:nvPr>
        </p:nvSpPr>
        <p:spPr>
          <a:xfrm>
            <a:off x="917436" y="996596"/>
            <a:ext cx="11716212" cy="6663625"/>
          </a:xfrm>
          <a:prstGeom prst="rect">
            <a:avLst/>
          </a:prstGeom>
          <a:noFill/>
          <a:ln>
            <a:noFill/>
          </a:ln>
        </p:spPr>
        <p:txBody>
          <a:bodyPr spcFirstLastPara="1" wrap="square" lIns="91425" tIns="45700" rIns="91425" bIns="45700" anchor="ctr" anchorCtr="0">
            <a:normAutofit fontScale="55000" lnSpcReduction="20000"/>
          </a:bodyPr>
          <a:lstStyle/>
          <a:p>
            <a:pPr marL="0" lvl="0" indent="0" algn="just" rtl="0">
              <a:lnSpc>
                <a:spcPct val="90000"/>
              </a:lnSpc>
              <a:spcBef>
                <a:spcPts val="0"/>
              </a:spcBef>
              <a:spcAft>
                <a:spcPts val="0"/>
              </a:spcAft>
              <a:buClr>
                <a:srgbClr val="C00000"/>
              </a:buClr>
              <a:buSzPct val="100000"/>
              <a:buNone/>
            </a:pPr>
            <a:r>
              <a:rPr lang="en-US" sz="3600" b="1">
                <a:solidFill>
                  <a:srgbClr val="C00000"/>
                </a:solidFill>
                <a:latin typeface="Cambria"/>
                <a:ea typeface="Cambria"/>
                <a:cs typeface="Cambria"/>
                <a:sym typeface="Cambria"/>
              </a:rPr>
              <a:t>Description of services: </a:t>
            </a:r>
            <a:endParaRPr/>
          </a:p>
          <a:p>
            <a:pPr marL="0" lvl="0" indent="0" algn="l" rtl="0">
              <a:lnSpc>
                <a:spcPct val="90000"/>
              </a:lnSpc>
              <a:spcBef>
                <a:spcPts val="1095"/>
              </a:spcBef>
              <a:spcAft>
                <a:spcPts val="0"/>
              </a:spcAft>
              <a:buClr>
                <a:schemeClr val="dk1"/>
              </a:buClr>
              <a:buSzPct val="100000"/>
              <a:buNone/>
            </a:pPr>
            <a:r>
              <a:rPr lang="en-US" sz="3300">
                <a:latin typeface="Cambria"/>
                <a:ea typeface="Cambria"/>
                <a:cs typeface="Cambria"/>
                <a:sym typeface="Cambria"/>
              </a:rPr>
              <a:t>Our proposal has as its subject matter the provision of comprehensive legal and transactional assistance in connection with the potential acquisition of 100% of the shares of a sugar producing enterprise (hereinafter referred to as "Target Company"), covering all stages of the transaction, from preliminary consultation to assistance following completion thereof.</a:t>
            </a:r>
            <a:endParaRPr/>
          </a:p>
          <a:p>
            <a:pPr marL="0" lvl="0" indent="0" algn="l" rtl="0">
              <a:lnSpc>
                <a:spcPct val="90000"/>
              </a:lnSpc>
              <a:spcBef>
                <a:spcPts val="1095"/>
              </a:spcBef>
              <a:spcAft>
                <a:spcPts val="0"/>
              </a:spcAft>
              <a:buClr>
                <a:srgbClr val="C00000"/>
              </a:buClr>
              <a:buSzPct val="100000"/>
              <a:buNone/>
            </a:pPr>
            <a:r>
              <a:rPr lang="en-US" sz="3300" b="1">
                <a:solidFill>
                  <a:srgbClr val="C00000"/>
                </a:solidFill>
                <a:latin typeface="Cambria"/>
                <a:ea typeface="Cambria"/>
                <a:cs typeface="Cambria"/>
                <a:sym typeface="Cambria"/>
              </a:rPr>
              <a:t>Stage I – Legal due diligence ("Red Flags" Analysis)</a:t>
            </a:r>
            <a:endParaRPr/>
          </a:p>
          <a:p>
            <a:pPr marL="0" lvl="0" indent="0" algn="l" rtl="0">
              <a:lnSpc>
                <a:spcPct val="90000"/>
              </a:lnSpc>
              <a:spcBef>
                <a:spcPts val="1095"/>
              </a:spcBef>
              <a:spcAft>
                <a:spcPts val="0"/>
              </a:spcAft>
              <a:buClr>
                <a:schemeClr val="dk1"/>
              </a:buClr>
              <a:buSzPct val="100000"/>
              <a:buNone/>
            </a:pPr>
            <a:r>
              <a:rPr lang="en-US" sz="6400" u="sng">
                <a:latin typeface="Cambria"/>
                <a:ea typeface="Cambria"/>
                <a:cs typeface="Cambria"/>
                <a:sym typeface="Cambria"/>
              </a:rPr>
              <a:t> </a:t>
            </a:r>
            <a:endParaRPr sz="6000">
              <a:latin typeface="Cambria"/>
              <a:ea typeface="Cambria"/>
              <a:cs typeface="Cambria"/>
              <a:sym typeface="Cambria"/>
            </a:endParaRPr>
          </a:p>
          <a:p>
            <a:pPr marL="500405" lvl="1" indent="0" algn="just" rtl="0">
              <a:lnSpc>
                <a:spcPct val="90000"/>
              </a:lnSpc>
              <a:spcBef>
                <a:spcPts val="547"/>
              </a:spcBef>
              <a:spcAft>
                <a:spcPts val="0"/>
              </a:spcAft>
              <a:buClr>
                <a:schemeClr val="dk1"/>
              </a:buClr>
              <a:buSzPct val="100000"/>
              <a:buNone/>
            </a:pPr>
            <a:endParaRPr sz="64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4800">
                <a:latin typeface="Cambria"/>
                <a:ea typeface="Cambria"/>
                <a:cs typeface="Cambria"/>
                <a:sym typeface="Cambria"/>
              </a:rPr>
              <a:t> </a:t>
            </a:r>
            <a:endParaRPr>
              <a:latin typeface="Cambria"/>
              <a:ea typeface="Cambria"/>
              <a:cs typeface="Cambria"/>
              <a:sym typeface="Cambria"/>
            </a:endParaRPr>
          </a:p>
          <a:p>
            <a:pPr marL="250203" lvl="0" indent="0" algn="l" rtl="0">
              <a:lnSpc>
                <a:spcPct val="90000"/>
              </a:lnSpc>
              <a:spcBef>
                <a:spcPts val="1095"/>
              </a:spcBef>
              <a:spcAft>
                <a:spcPts val="0"/>
              </a:spcAft>
              <a:buClr>
                <a:schemeClr val="dk1"/>
              </a:buClr>
              <a:buSzPct val="100000"/>
              <a:buNone/>
            </a:pPr>
            <a:endParaRPr sz="7200">
              <a:latin typeface="Cambria"/>
              <a:ea typeface="Cambria"/>
              <a:cs typeface="Cambria"/>
              <a:sym typeface="Cambria"/>
            </a:endParaRPr>
          </a:p>
          <a:p>
            <a:pPr marL="250203" lvl="0" indent="-117488" algn="l" rtl="0">
              <a:lnSpc>
                <a:spcPct val="90000"/>
              </a:lnSpc>
              <a:spcBef>
                <a:spcPts val="1095"/>
              </a:spcBef>
              <a:spcAft>
                <a:spcPts val="0"/>
              </a:spcAft>
              <a:buClr>
                <a:schemeClr val="dk1"/>
              </a:buClr>
              <a:buSzPct val="100000"/>
              <a:buFont typeface="Calibri"/>
              <a:buNone/>
            </a:pPr>
            <a:endParaRPr sz="3800">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Font typeface="Calibri"/>
              <a:buNone/>
            </a:pPr>
            <a:endParaRPr>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endParaRPr sz="2300">
              <a:latin typeface="Cambria"/>
              <a:ea typeface="Cambria"/>
              <a:cs typeface="Cambria"/>
              <a:sym typeface="Cambria"/>
            </a:endParaRPr>
          </a:p>
          <a:p>
            <a:pPr marL="0" lvl="0" indent="0" algn="just" rtl="0">
              <a:lnSpc>
                <a:spcPct val="125000"/>
              </a:lnSpc>
              <a:spcBef>
                <a:spcPts val="1095"/>
              </a:spcBef>
              <a:spcAft>
                <a:spcPts val="0"/>
              </a:spcAft>
              <a:buClr>
                <a:schemeClr val="dk1"/>
              </a:buClr>
              <a:buSzPct val="100000"/>
              <a:buNone/>
            </a:pPr>
            <a:r>
              <a:rPr lang="en-US" sz="7200" u="sng">
                <a:latin typeface="Cambria"/>
                <a:ea typeface="Cambria"/>
                <a:cs typeface="Cambria"/>
                <a:sym typeface="Cambria"/>
              </a:rPr>
              <a:t> </a:t>
            </a:r>
            <a:endParaRPr sz="72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7200">
                <a:latin typeface="Cambria"/>
                <a:ea typeface="Cambria"/>
                <a:cs typeface="Cambria"/>
                <a:sym typeface="Cambria"/>
              </a:rPr>
              <a:t> </a:t>
            </a:r>
            <a:br>
              <a:rPr lang="en-US" sz="7200">
                <a:latin typeface="Cambria"/>
                <a:ea typeface="Cambria"/>
                <a:cs typeface="Cambria"/>
                <a:sym typeface="Cambria"/>
              </a:rPr>
            </a:br>
            <a:r>
              <a:rPr lang="en-US" sz="7200">
                <a:latin typeface="Cambria"/>
                <a:ea typeface="Cambria"/>
                <a:cs typeface="Cambria"/>
                <a:sym typeface="Cambria"/>
              </a:rPr>
              <a:t/>
            </a:r>
            <a:endParaRPr sz="1200">
              <a:latin typeface="Cambria"/>
              <a:ea typeface="Cambria"/>
              <a:cs typeface="Cambria"/>
              <a:sym typeface="Cambria"/>
            </a:endParaRPr>
          </a:p>
          <a:p>
            <a:pPr marL="0" lvl="0" indent="0" algn="l" rtl="0">
              <a:lnSpc>
                <a:spcPct val="90000"/>
              </a:lnSpc>
              <a:spcBef>
                <a:spcPts val="1095"/>
              </a:spcBef>
              <a:spcAft>
                <a:spcPts val="0"/>
              </a:spcAft>
              <a:buClr>
                <a:srgbClr val="212121"/>
              </a:buClr>
              <a:buSzPct val="100000"/>
              <a:buNone/>
            </a:pPr>
            <a:r>
              <a:rPr lang="en-US" sz="2000" i="0">
                <a:solidFill>
                  <a:srgbClr val="212121"/>
                </a:solidFill>
                <a:latin typeface="Cambria"/>
                <a:ea typeface="Cambria"/>
                <a:cs typeface="Cambria"/>
                <a:sym typeface="Cambria"/>
              </a:rPr>
              <a:t> </a:t>
            </a:r>
            <a:endParaRPr sz="2000">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None/>
            </a:pPr>
            <a:endParaRPr>
              <a:latin typeface="Cambria"/>
              <a:ea typeface="Cambria"/>
              <a:cs typeface="Cambria"/>
              <a:sym typeface="Cambria"/>
            </a:endParaRPr>
          </a:p>
        </p:txBody>
      </p:sp>
      <p:sp>
        <p:nvSpPr>
          <p:cNvPr id="126" name="Google Shape;126;p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cxnSp>
        <p:nvCxnSpPr>
          <p:cNvPr id="127" name="Google Shape;127;p4"/>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28" name="Google Shape;128;p4"/>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29" name="Google Shape;129;p4"/>
          <p:cNvGrpSpPr/>
          <p:nvPr/>
        </p:nvGrpSpPr>
        <p:grpSpPr>
          <a:xfrm>
            <a:off x="639425" y="7686554"/>
            <a:ext cx="611624" cy="278385"/>
            <a:chOff x="639425" y="7686554"/>
            <a:chExt cx="611624" cy="278385"/>
          </a:xfrm>
        </p:grpSpPr>
        <p:pic>
          <p:nvPicPr>
            <p:cNvPr id="130" name="Google Shape;130;p4"/>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31" name="Google Shape;131;p4"/>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32" name="Google Shape;132;p4"/>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1: Description of services</a:t>
            </a:r>
            <a:endParaRPr sz="1400" b="1">
              <a:solidFill>
                <a:schemeClr val="dk1"/>
              </a:solidFill>
              <a:latin typeface="Cambria"/>
              <a:ea typeface="Cambria"/>
              <a:cs typeface="Cambria"/>
              <a:sym typeface="Cambria"/>
            </a:endParaRPr>
          </a:p>
        </p:txBody>
      </p:sp>
      <p:sp>
        <p:nvSpPr>
          <p:cNvPr id="133" name="Google Shape;133;p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Proposal for Legal Services</a:t>
            </a:r>
            <a:endParaRPr/>
          </a:p>
          <a:p>
            <a:pPr marL="0" lvl="0" indent="0" algn="ctr" rtl="0">
              <a:spcBef>
                <a:spcPts val="0"/>
              </a:spcBef>
              <a:spcAft>
                <a:spcPts val="0"/>
              </a:spcAft>
              <a:buNone/>
            </a:pPr>
            <a:endParaRPr sz="1000" b="1">
              <a:latin typeface="Cambria"/>
              <a:ea typeface="Cambria"/>
              <a:cs typeface="Cambria"/>
              <a:sym typeface="Cambria"/>
            </a:endParaRPr>
          </a:p>
        </p:txBody>
      </p:sp>
      <p:graphicFrame>
        <p:nvGraphicFramePr>
          <p:cNvPr id="134" name="Google Shape;134;p4"/>
          <p:cNvGraphicFramePr/>
          <p:nvPr/>
        </p:nvGraphicFramePr>
        <p:xfrm>
          <a:off x="1084242" y="2855175"/>
          <a:ext cx="11342850" cy="5098875"/>
        </p:xfrm>
        <a:graphic>
          <a:graphicData uri="http://schemas.openxmlformats.org/drawingml/2006/table">
            <a:tbl>
              <a:tblPr firstRow="1" bandRow="1">
                <a:noFill/>
                <a:tableStyleId>{6FF0782A-B248-4C6F-8606-AE48E0E161FE}</a:tableStyleId>
              </a:tblPr>
              <a:tblGrid>
                <a:gridCol w="5671425">
                  <a:extLst>
                    <a:ext uri="{9D8B030D-6E8A-4147-A177-3AD203B41FA5}">
                      <a16:colId xmlns:a16="http://schemas.microsoft.com/office/drawing/2014/main" val="20000"/>
                    </a:ext>
                  </a:extLst>
                </a:gridCol>
                <a:gridCol w="5671425">
                  <a:extLst>
                    <a:ext uri="{9D8B030D-6E8A-4147-A177-3AD203B41FA5}">
                      <a16:colId xmlns:a16="http://schemas.microsoft.com/office/drawing/2014/main" val="20001"/>
                    </a:ext>
                  </a:extLst>
                </a:gridCol>
              </a:tblGrid>
              <a:tr h="5098875">
                <a:tc>
                  <a:txBody>
                    <a:bodyPr/>
                    <a:lstStyle/>
                    <a:p>
                      <a:pPr marL="0" marR="0" lvl="0" indent="0" algn="l" rtl="0">
                        <a:spcBef>
                          <a:spcPts val="0"/>
                        </a:spcBef>
                        <a:spcAft>
                          <a:spcPts val="0"/>
                        </a:spcAft>
                        <a:buClr>
                          <a:schemeClr val="dk1"/>
                        </a:buClr>
                        <a:buSzPts val="1600"/>
                        <a:buFont typeface="Cambria"/>
                        <a:buNone/>
                      </a:pPr>
                      <a:r>
                        <a:rPr lang="en-US" sz="1600" b="1" u="none">
                          <a:solidFill>
                            <a:schemeClr val="dk1"/>
                          </a:solidFill>
                          <a:latin typeface="Cambria"/>
                          <a:ea typeface="Cambria"/>
                          <a:cs typeface="Cambria"/>
                          <a:sym typeface="Cambria"/>
                        </a:rPr>
                        <a:t>1. Organization, coordination and performance of legal due diligence analysis of the documents made available to us</a:t>
                      </a:r>
                      <a:endParaRPr/>
                    </a:p>
                    <a:p>
                      <a:pPr marL="0" marR="0" lvl="0" indent="0" algn="l" rtl="0">
                        <a:spcBef>
                          <a:spcPts val="0"/>
                        </a:spcBef>
                        <a:spcAft>
                          <a:spcPts val="0"/>
                        </a:spcAft>
                        <a:buClr>
                          <a:schemeClr val="dk1"/>
                        </a:buClr>
                        <a:buSzPts val="1600"/>
                        <a:buFont typeface="Calibri"/>
                        <a:buNone/>
                      </a:pPr>
                      <a:endParaRPr sz="1600" b="0" u="sng">
                        <a:solidFill>
                          <a:schemeClr val="dk1"/>
                        </a:solidFill>
                        <a:latin typeface="Cambria"/>
                        <a:ea typeface="Cambria"/>
                        <a:cs typeface="Cambria"/>
                        <a:sym typeface="Cambria"/>
                      </a:endParaRPr>
                    </a:p>
                    <a:p>
                      <a:pPr marL="0" marR="0" lvl="0" indent="0" algn="l" rtl="0">
                        <a:spcBef>
                          <a:spcPts val="0"/>
                        </a:spcBef>
                        <a:spcAft>
                          <a:spcPts val="0"/>
                        </a:spcAft>
                        <a:buClr>
                          <a:schemeClr val="dk1"/>
                        </a:buClr>
                        <a:buSzPts val="1600"/>
                        <a:buFont typeface="Cambria"/>
                        <a:buNone/>
                      </a:pPr>
                      <a:r>
                        <a:rPr lang="en-US" sz="1600" b="0">
                          <a:solidFill>
                            <a:schemeClr val="dk1"/>
                          </a:solidFill>
                          <a:latin typeface="Cambria"/>
                          <a:ea typeface="Cambria"/>
                          <a:cs typeface="Cambria"/>
                          <a:sym typeface="Cambria"/>
                        </a:rPr>
                        <a:t>The analysis will include, without limitation, the following areas:</a:t>
                      </a:r>
                      <a:endParaRPr/>
                    </a:p>
                    <a:p>
                      <a:pPr marL="0" marR="0" lvl="0" indent="0" algn="l" rtl="0">
                        <a:spcBef>
                          <a:spcPts val="0"/>
                        </a:spcBef>
                        <a:spcAft>
                          <a:spcPts val="0"/>
                        </a:spcAft>
                        <a:buClr>
                          <a:schemeClr val="dk1"/>
                        </a:buClr>
                        <a:buSzPts val="1600"/>
                        <a:buFont typeface="Calibri"/>
                        <a:buNone/>
                      </a:pP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Corporate and capital structure aspects (legal status, corporate governance, shareholder structure, restrictions on transfer of shares, previous reorganizations);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Rights over assets, including land, industrial buildings, production facilities, silos, equipment and other fixed assets</a:t>
                      </a:r>
                      <a:endParaRPr/>
                    </a:p>
                    <a:p>
                      <a:pPr marL="0" marR="0" lvl="0" indent="-101600" algn="l" rtl="0">
                        <a:lnSpc>
                          <a:spcPct val="100000"/>
                        </a:lnSpc>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Authorizations and regulatory compliance, including production permits, environmental permits, sanitary-veterinary and phytosanitary approvals, food safety requirements and applicable technical standards; Environmental law, including obligations regarding emissions, waste management, water resource use, potential historical contamination and remediation measures;</a:t>
                      </a:r>
                      <a:endParaRPr/>
                    </a:p>
                    <a:p>
                      <a:pPr marL="0" marR="0" lvl="0" indent="0" algn="l" rtl="0">
                        <a:spcBef>
                          <a:spcPts val="0"/>
                        </a:spcBef>
                        <a:spcAft>
                          <a:spcPts val="0"/>
                        </a:spcAft>
                        <a:buNone/>
                      </a:pPr>
                      <a:endParaRPr sz="1600" b="0">
                        <a:solidFill>
                          <a:schemeClr val="dk1"/>
                        </a:solidFill>
                      </a:endParaRPr>
                    </a:p>
                  </a:txBody>
                  <a:tcPr marL="91450" marR="91450" marT="45725" marB="45725"/>
                </a:tc>
                <a:tc>
                  <a:txBody>
                    <a:bodyPr/>
                    <a:lstStyle/>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Agricultural raw material supply contracts, including sugar beet delivery contracts, long-term arrangements and dependency risks;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Energy and utilities, including supply contracts and particularities related to intensive energy consumption</a:t>
                      </a:r>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Significant commercial contracts, including sales, distribution, logistics, storage, service provision and outsourcing contracts;</a:t>
                      </a:r>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Financing and guarantees, including credit agreements, pledges, mortgages and potential support schemes or subsidies;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Labor law, including collective agreements, trade union relations, key personnel and social risks;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Litigation and administrative procedures, including ongoing controls, sanctions or investigations;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Information technology, intellectual property and know-how, including trademarks, licenses and production technologies;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Competition aspects, foreign investments and other regulatory requirements, insofar as they are applicable to the transaction.</a:t>
                      </a:r>
                      <a:endParaRPr/>
                    </a:p>
                    <a:p>
                      <a:pPr marL="0" marR="0" lvl="0" indent="0" algn="l" rtl="0">
                        <a:spcBef>
                          <a:spcPts val="0"/>
                        </a:spcBef>
                        <a:spcAft>
                          <a:spcPts val="0"/>
                        </a:spcAft>
                        <a:buNone/>
                      </a:pPr>
                      <a:endParaRPr sz="1600" b="0">
                        <a:solidFill>
                          <a:schemeClr val="dk1"/>
                        </a:solidFill>
                      </a:endParaRPr>
                    </a:p>
                  </a:txBody>
                  <a:tcPr marL="91450" marR="91450" marT="45725" marB="45725"/>
                </a:tc>
                <a:extLst>
                  <a:ext uri="{0D108BD9-81ED-4DB2-BD59-A6C34878D82A}">
                    <a16:rowId xmlns:a16="http://schemas.microsoft.com/office/drawing/2014/main" val="1000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t" anchorCtr="0">
            <a:normAutofit fontScale="94000"/>
          </a:bodyPr>
          <a:lstStyle/>
          <a:p>
            <a:pPr marL="0" lvl="0" indent="0" algn="just" rtl="0">
              <a:lnSpc>
                <a:spcPct val="90000"/>
              </a:lnSpc>
              <a:spcBef>
                <a:spcPts val="1095"/>
              </a:spcBef>
              <a:spcAft>
                <a:spcPts val="0"/>
              </a:spcAft>
              <a:buClr>
                <a:schemeClr val="dk1"/>
              </a:buClr>
              <a:buSzPct val="100000"/>
              <a:buNone/>
            </a:pPr>
            <a:endParaRPr lang="en-US" sz="2400" b="1" dirty="0">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2. Identification of missing documents, formulation of additional information requests and conducting, as applicable, written or oral clarification sessions. </a:t>
            </a:r>
            <a:endParaRPr sz="2400" dirty="0">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3. Preparation and periodic updating of a legal due diligence report of "red flags" type, which will include:</a:t>
            </a:r>
            <a:endParaRPr sz="2400" dirty="0">
              <a:latin typeface="Cambria"/>
              <a:ea typeface="Cambria"/>
              <a:cs typeface="Cambria"/>
              <a:sym typeface="Cambria"/>
            </a:endParaRPr>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a:latin typeface="Cambria"/>
                <a:ea typeface="Cambria"/>
                <a:cs typeface="Cambria"/>
                <a:sym typeface="Cambria"/>
              </a:rPr>
              <a:t>an executive summary of the main findings;</a:t>
            </a:r>
            <a:endParaRPr sz="2400" dirty="0"/>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a:latin typeface="Cambria"/>
                <a:ea typeface="Cambria"/>
                <a:cs typeface="Cambria"/>
                <a:sym typeface="Cambria"/>
              </a:rPr>
              <a:t>a list of essential risks, with recommendations regarding their elimination, limitation or reflection in the transaction documentation;</a:t>
            </a:r>
            <a:endParaRPr sz="2400" dirty="0"/>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err="1">
                <a:latin typeface="Cambria"/>
                <a:ea typeface="Cambria"/>
                <a:cs typeface="Cambria"/>
                <a:sym typeface="Cambria"/>
              </a:rPr>
              <a:t>the main report and related annexes, if applicable. </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4. Participation in meetings with the Target Company's management and other relevant experts, physically or through remote communication means. </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5. Participation in periodic update meetings with the Client and its consultants.</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6. Prompt notification to the Client regarding any significant risk identified during the analysis, including risks that exceed the initially agreed scope, but are relevant to the transaction</a:t>
            </a:r>
            <a:endParaRPr sz="2400"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1:  Description of services</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t" anchorCtr="0">
            <a:normAutofit fontScale="30000" lnSpcReduction="10000"/>
          </a:bodyPr>
          <a:lstStyle/>
          <a:p>
            <a:pPr marL="0" lvl="0" indent="0" algn="just" rtl="0">
              <a:lnSpc>
                <a:spcPct val="90000"/>
              </a:lnSpc>
              <a:spcBef>
                <a:spcPts val="1095"/>
              </a:spcBef>
              <a:spcAft>
                <a:spcPts val="0"/>
              </a:spcAft>
              <a:buClr>
                <a:srgbClr val="C00000"/>
              </a:buClr>
              <a:buSzPct val="100000"/>
              <a:buNone/>
            </a:pPr>
            <a:r>
              <a:rPr lang="en-US" sz="6400" b="1" dirty="0">
                <a:solidFill>
                  <a:srgbClr val="C00000"/>
                </a:solidFill>
                <a:latin typeface="Cambria"/>
                <a:ea typeface="Cambria"/>
                <a:cs typeface="Cambria"/>
                <a:sym typeface="Cambria"/>
              </a:rPr>
              <a:t>Stage II</a:t>
            </a:r>
            <a:endParaRPr dirty="0"/>
          </a:p>
          <a:p>
            <a:pPr marL="0" lvl="0" indent="0" algn="just" rtl="0">
              <a:lnSpc>
                <a:spcPct val="90000"/>
              </a:lnSpc>
              <a:spcBef>
                <a:spcPts val="1095"/>
              </a:spcBef>
              <a:spcAft>
                <a:spcPts val="0"/>
              </a:spcAft>
              <a:buClr>
                <a:schemeClr val="dk1"/>
              </a:buClr>
              <a:buSzPct val="100000"/>
              <a:buNone/>
            </a:pPr>
            <a:r>
              <a:rPr lang="en-US" sz="6400" b="1" dirty="0">
                <a:latin typeface="Cambria"/>
                <a:ea typeface="Cambria"/>
                <a:cs typeface="Cambria"/>
                <a:sym typeface="Cambria"/>
              </a:rPr>
              <a:t>a) Preparation, review and negotiation of the sale-purchase agreement</a:t>
            </a:r>
            <a:endParaRPr sz="6400" dirty="0">
              <a:latin typeface="Cambria"/>
              <a:ea typeface="Cambria"/>
              <a:cs typeface="Cambria"/>
              <a:sym typeface="Cambria"/>
            </a:endParaRPr>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Preparation of the share sale-purchase agreement from the buyer's perspective or, as applicable, analysis and review of the draft proposed by the seller.</a:t>
            </a:r>
            <a:endParaRPr dirty="0"/>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Integration of findings resulting from due diligence and the Client's commercial position into the contractual documentation.</a:t>
            </a:r>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Review of documentation in up to three (3) internal rounds and participation in up to three (3) negotiation rounds with the seller.</a:t>
            </a:r>
            <a:endParaRPr dirty="0"/>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Legal assistance during negotiations, including participation in meetings, physically or through videoconference. Note: We will not provide assistance on any aspects related to the application of English law</a:t>
            </a:r>
            <a:endParaRPr dirty="0"/>
          </a:p>
          <a:p>
            <a:pPr marL="250203" lvl="0" indent="-148603" algn="just" rtl="0">
              <a:lnSpc>
                <a:spcPct val="90000"/>
              </a:lnSpc>
              <a:spcBef>
                <a:spcPts val="1095"/>
              </a:spcBef>
              <a:spcAft>
                <a:spcPts val="0"/>
              </a:spcAft>
              <a:buClr>
                <a:schemeClr val="dk1"/>
              </a:buClr>
              <a:buSzPct val="100000"/>
              <a:buFont typeface="Noto Sans Symbols"/>
              <a:buNone/>
            </a:pPr>
            <a:endParaRPr sz="6400" b="1"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b="1" dirty="0">
                <a:latin typeface="Cambria"/>
                <a:ea typeface="Cambria"/>
                <a:cs typeface="Cambria"/>
                <a:sym typeface="Cambria"/>
              </a:rPr>
              <a:t>b) Legal assistance between signing and completion</a:t>
            </a: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dirty="0" err="1">
                <a:latin typeface="Cambria"/>
                <a:ea typeface="Cambria"/>
                <a:cs typeface="Cambria"/>
                <a:sym typeface="Cambria"/>
              </a:rPr>
              <a:t>Provision of legal assistance during the period between signing and completion of the transaction, including: </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preparation of document lists for signing and completion;</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advice regarding fulfillment of suspensive conditions;</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assistance for notifications, approvals and registrations necessary for transaction completion.</a:t>
            </a:r>
            <a:endParaRPr dirty="0"/>
          </a:p>
          <a:p>
            <a:pPr marL="1251014" lvl="2" indent="-148603" algn="l" rtl="0">
              <a:lnSpc>
                <a:spcPct val="90000"/>
              </a:lnSpc>
              <a:spcBef>
                <a:spcPts val="547"/>
              </a:spcBef>
              <a:spcAft>
                <a:spcPts val="0"/>
              </a:spcAft>
              <a:buClr>
                <a:schemeClr val="dk1"/>
              </a:buClr>
              <a:buSzPct val="100000"/>
              <a:buFont typeface="Noto Sans Symbols"/>
              <a:buNone/>
            </a:pP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b="1" dirty="0">
                <a:latin typeface="Cambria"/>
                <a:ea typeface="Cambria"/>
                <a:cs typeface="Cambria"/>
                <a:sym typeface="Cambria"/>
              </a:rPr>
              <a:t>c) Post-transaction completion assistance</a:t>
            </a: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dirty="0" err="1">
                <a:latin typeface="Cambria"/>
                <a:ea typeface="Cambria"/>
                <a:cs typeface="Cambria"/>
                <a:sym typeface="Cambria"/>
              </a:rPr>
              <a:t>Providing legal assistance for fulfilling post-transaction formalities, registration of acquired rights and implementation of measures agreed after transaction completion.</a:t>
            </a:r>
            <a:endParaRPr lang="en-US"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1: Service Description</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extLst>
      <p:ext uri="{BB962C8B-B14F-4D97-AF65-F5344CB8AC3E}">
        <p14:creationId xmlns:p14="http://schemas.microsoft.com/office/powerpoint/2010/main" val="60893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ctr" anchorCtr="0">
            <a:normAutofit fontScale="97500"/>
          </a:bodyPr>
          <a:lstStyle/>
          <a:p>
            <a:pPr marL="500405" lvl="1" indent="0" algn="just" rtl="0">
              <a:lnSpc>
                <a:spcPct val="90000"/>
              </a:lnSpc>
              <a:spcBef>
                <a:spcPts val="547"/>
              </a:spcBef>
              <a:spcAft>
                <a:spcPts val="0"/>
              </a:spcAft>
              <a:buClr>
                <a:srgbClr val="C00000"/>
              </a:buClr>
              <a:buSzPct val="100000"/>
              <a:buNone/>
            </a:pPr>
            <a:r>
              <a:rPr lang="en-US" sz="2800" b="1" dirty="0">
                <a:solidFill>
                  <a:srgbClr val="C00000"/>
                </a:solidFill>
                <a:latin typeface="Cambria"/>
                <a:ea typeface="Cambria"/>
                <a:cs typeface="Cambria"/>
                <a:sym typeface="Cambria"/>
              </a:rPr>
              <a:t>Stage III (requires analysis)</a:t>
            </a:r>
            <a:endParaRPr lang="en-US" sz="2800" dirty="0"/>
          </a:p>
          <a:p>
            <a:pPr marL="500405" lvl="1" indent="0" algn="just" rtl="0">
              <a:lnSpc>
                <a:spcPct val="90000"/>
              </a:lnSpc>
              <a:spcBef>
                <a:spcPts val="547"/>
              </a:spcBef>
              <a:spcAft>
                <a:spcPts val="0"/>
              </a:spcAft>
              <a:buClr>
                <a:schemeClr val="dk1"/>
              </a:buClr>
              <a:buSzPct val="100000"/>
              <a:buNone/>
            </a:pPr>
            <a:r>
              <a:rPr lang="en-US" sz="2800" dirty="0">
                <a:latin typeface="Cambria"/>
                <a:ea typeface="Cambria"/>
                <a:cs typeface="Cambria"/>
                <a:sym typeface="Cambria"/>
              </a:rPr>
              <a:t>Preliminary analysis of notification obligation and applicable legal thresholds, definition of relevant markets and control relationships, as well as drafting and filing the notification dossier with the Competition Council. The assistance will also cover interaction with the authority throughout the procedure, including formulation of responses to information requests and legal support until adoption of the final decision.</a:t>
            </a:r>
            <a:endParaRPr sz="2800"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1: Service Description</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extLst>
      <p:ext uri="{BB962C8B-B14F-4D97-AF65-F5344CB8AC3E}">
        <p14:creationId xmlns:p14="http://schemas.microsoft.com/office/powerpoint/2010/main" val="134448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53"/>
        <p:cNvGrpSpPr/>
        <p:nvPr/>
      </p:nvGrpSpPr>
      <p:grpSpPr>
        <a:xfrm>
          <a:off x="0" y="0"/>
          <a:ext cx="0" cy="0"/>
          <a:chOff x="0" y="0"/>
          <a:chExt cx="0" cy="0"/>
        </a:xfrm>
      </p:grpSpPr>
      <p:sp>
        <p:nvSpPr>
          <p:cNvPr id="154" name="Google Shape;154;p6"/>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Section 2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Financial Offer</a:t>
            </a:r>
            <a:endParaRPr sz="2900">
              <a:solidFill>
                <a:schemeClr val="lt1"/>
              </a:solidFill>
            </a:endParaRPr>
          </a:p>
        </p:txBody>
      </p:sp>
      <p:sp>
        <p:nvSpPr>
          <p:cNvPr id="155" name="Google Shape;155;p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156" name="Google Shape;156;p6"/>
          <p:cNvGrpSpPr/>
          <p:nvPr/>
        </p:nvGrpSpPr>
        <p:grpSpPr>
          <a:xfrm>
            <a:off x="639425" y="7686554"/>
            <a:ext cx="611624" cy="278385"/>
            <a:chOff x="639425" y="7686554"/>
            <a:chExt cx="611624" cy="278385"/>
          </a:xfrm>
        </p:grpSpPr>
        <p:pic>
          <p:nvPicPr>
            <p:cNvPr id="157" name="Google Shape;157;p6"/>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58" name="Google Shape;158;p6"/>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59" name="Google Shape;159;p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7"/>
          <p:cNvSpPr txBox="1">
            <a:spLocks noGrp="1"/>
          </p:cNvSpPr>
          <p:nvPr>
            <p:ph type="body" idx="1"/>
          </p:nvPr>
        </p:nvSpPr>
        <p:spPr>
          <a:xfrm>
            <a:off x="917435" y="962671"/>
            <a:ext cx="11509653" cy="6374104"/>
          </a:xfrm>
          <a:prstGeom prst="rect">
            <a:avLst/>
          </a:prstGeom>
          <a:noFill/>
          <a:ln>
            <a:noFill/>
          </a:ln>
        </p:spPr>
        <p:txBody>
          <a:bodyPr spcFirstLastPara="1" wrap="square" lIns="91425" tIns="45700" rIns="91425" bIns="45700" anchor="t" anchorCtr="0">
            <a:normAutofit fontScale="40000" lnSpcReduction="20000"/>
          </a:bodyPr>
          <a:lstStyle/>
          <a:p>
            <a:pPr marL="0" lvl="0" indent="0" algn="l" rtl="0">
              <a:lnSpc>
                <a:spcPct val="90000"/>
              </a:lnSpc>
              <a:spcBef>
                <a:spcPts val="0"/>
              </a:spcBef>
              <a:spcAft>
                <a:spcPts val="0"/>
              </a:spcAft>
              <a:buClr>
                <a:schemeClr val="dk1"/>
              </a:buClr>
              <a:buSzPct val="97879"/>
              <a:buNone/>
            </a:pPr>
            <a:br>
              <a:rPr lang="en-US"/>
            </a:br>
            <a:endParaRPr/>
          </a:p>
          <a:p>
            <a:pPr marL="0" lvl="0" indent="0" algn="l" rtl="0">
              <a:lnSpc>
                <a:spcPct val="90000"/>
              </a:lnSpc>
              <a:spcBef>
                <a:spcPts val="1095"/>
              </a:spcBef>
              <a:spcAft>
                <a:spcPts val="0"/>
              </a:spcAft>
              <a:buClr>
                <a:srgbClr val="C00000"/>
              </a:buClr>
              <a:buSzPct val="100000"/>
              <a:buNone/>
            </a:pPr>
            <a:r>
              <a:rPr lang="en-US" sz="4500" b="1">
                <a:solidFill>
                  <a:srgbClr val="C00000"/>
                </a:solidFill>
                <a:latin typeface="Cambria"/>
                <a:ea typeface="Cambria"/>
                <a:cs typeface="Cambria"/>
                <a:sym typeface="Cambria"/>
              </a:rPr>
              <a:t>Fee Structure and Cost Estimation</a:t>
            </a:r>
            <a:endParaRPr sz="4500">
              <a:solidFill>
                <a:srgbClr val="C00000"/>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Our standard aggregate hourly rate for 2025 is 250 EUR/hour. Based on the project complexity and the large number of hours we estimate, we are prepared to offer a preferential rate of 175 EUR/hour</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Based on the activities envisaged for Stage I and Stage II, the total legal effort is estimated at approximately 140–180 hours. The time estimation reflects the historical size of the Target Company's activity, the specific complexity of an industrial sugar-producing enterprise, as well as the need for in-depth legal analysis of the structure, assets, contracts and legal compliance related to its activity in recent years.</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Under these conditions, the estimated fee for Stage I – legal due diligence and preliminary transactional assistance is based on a volume of approximately 85–100 hours, corresponding to an estimated fee between 14,875 EUR and 17,500 EUR.</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For Stage II – legal assistance related to the sale-purchase contract and transaction completion process, the work volume is estimated at approximately 35–45 hours, corresponding to an estimated fee between 6,125 EUR and 7,875 EUR.</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The total estimated fee for Stage I and Stage II is therefore situated in a range between 21,000 EUR and 25,375 EUR, to be adjusted as appropriate based on the actual complexity of the transaction, negotiation developments and actual volume of documentation analyzed.</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In case the transaction will be subject to the obligation of economic concentration notification, the legal assistance related to this stage is estimated separately, considering the distinct nature of the procedure and interaction with the competition authority. In a standard scenario, the legal effort required for notification preparation, drafting the concentration form, analysis of relevant markets, interaction with the Competition Council and assistance throughout the procedure is estimated at approximately 25–35 hours, corresponding to an estimated fee between 4,375 EUR and 6,125 EUR, calculated at the standard hourly rate.</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 </a:t>
            </a:r>
            <a:endParaRPr/>
          </a:p>
          <a:p>
            <a:pPr marL="0" lvl="0" indent="0" algn="ctr" rtl="0">
              <a:lnSpc>
                <a:spcPct val="90000"/>
              </a:lnSpc>
              <a:spcBef>
                <a:spcPts val="1095"/>
              </a:spcBef>
              <a:spcAft>
                <a:spcPts val="0"/>
              </a:spcAft>
              <a:buClr>
                <a:schemeClr val="dk1"/>
              </a:buClr>
              <a:buSzPct val="100000"/>
              <a:buNone/>
            </a:pPr>
            <a:endParaRPr sz="1800" b="1">
              <a:latin typeface="Cambria"/>
              <a:ea typeface="Cambria"/>
              <a:cs typeface="Cambria"/>
              <a:sym typeface="Cambria"/>
            </a:endParaRPr>
          </a:p>
          <a:p>
            <a:pPr marL="0" lvl="0" indent="0" algn="ctr" rtl="0">
              <a:lnSpc>
                <a:spcPct val="90000"/>
              </a:lnSpc>
              <a:spcBef>
                <a:spcPts val="1095"/>
              </a:spcBef>
              <a:spcAft>
                <a:spcPts val="0"/>
              </a:spcAft>
              <a:buClr>
                <a:schemeClr val="dk1"/>
              </a:buClr>
              <a:buSzPct val="100000"/>
              <a:buNone/>
            </a:pPr>
            <a:r>
              <a:rPr lang="en-US" sz="1800" b="1">
                <a:latin typeface="Cambria"/>
                <a:ea typeface="Cambria"/>
                <a:cs typeface="Cambria"/>
                <a:sym typeface="Cambria"/>
              </a:rPr>
              <a:t> </a:t>
            </a:r>
            <a:endParaRPr sz="1800" b="1">
              <a:latin typeface="Cambria"/>
              <a:ea typeface="Cambria"/>
              <a:cs typeface="Cambria"/>
              <a:sym typeface="Cambria"/>
            </a:endParaRPr>
          </a:p>
        </p:txBody>
      </p:sp>
      <p:sp>
        <p:nvSpPr>
          <p:cNvPr id="166" name="Google Shape;166;p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cxnSp>
        <p:nvCxnSpPr>
          <p:cNvPr id="167" name="Google Shape;167;p7"/>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68" name="Google Shape;168;p7"/>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69" name="Google Shape;169;p7"/>
          <p:cNvGrpSpPr/>
          <p:nvPr/>
        </p:nvGrpSpPr>
        <p:grpSpPr>
          <a:xfrm>
            <a:off x="639425" y="7686554"/>
            <a:ext cx="611624" cy="278385"/>
            <a:chOff x="639425" y="7686554"/>
            <a:chExt cx="611624" cy="278385"/>
          </a:xfrm>
        </p:grpSpPr>
        <p:pic>
          <p:nvPicPr>
            <p:cNvPr id="170" name="Google Shape;170;p7"/>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71" name="Google Shape;171;p7"/>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72" name="Google Shape;172;p7"/>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2: Financial Offer</a:t>
            </a:r>
            <a:endParaRPr sz="1400" b="1">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77"/>
        <p:cNvGrpSpPr/>
        <p:nvPr/>
      </p:nvGrpSpPr>
      <p:grpSpPr>
        <a:xfrm>
          <a:off x="0" y="0"/>
          <a:ext cx="0" cy="0"/>
          <a:chOff x="0" y="0"/>
          <a:chExt cx="0" cy="0"/>
        </a:xfrm>
      </p:grpSpPr>
      <p:sp>
        <p:nvSpPr>
          <p:cNvPr id="178" name="Google Shape;178;p8"/>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Section 3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ERA Profile</a:t>
            </a:r>
            <a:endParaRPr sz="2900">
              <a:solidFill>
                <a:schemeClr val="lt1"/>
              </a:solidFill>
            </a:endParaRPr>
          </a:p>
        </p:txBody>
      </p:sp>
      <p:sp>
        <p:nvSpPr>
          <p:cNvPr id="179" name="Google Shape;179;p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180" name="Google Shape;180;p8"/>
          <p:cNvGrpSpPr/>
          <p:nvPr/>
        </p:nvGrpSpPr>
        <p:grpSpPr>
          <a:xfrm>
            <a:off x="639425" y="7686554"/>
            <a:ext cx="611624" cy="278385"/>
            <a:chOff x="639425" y="7686554"/>
            <a:chExt cx="611624" cy="278385"/>
          </a:xfrm>
        </p:grpSpPr>
        <p:pic>
          <p:nvPicPr>
            <p:cNvPr id="181" name="Google Shape;181;p8"/>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82" name="Google Shape;182;p8"/>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txBox="1">
            <a:spLocks noGrp="1"/>
          </p:cNvSpPr>
          <p:nvPr>
            <p:ph type="body" idx="1"/>
          </p:nvPr>
        </p:nvSpPr>
        <p:spPr>
          <a:xfrm>
            <a:off x="917435" y="962671"/>
            <a:ext cx="11509653" cy="6663623"/>
          </a:xfrm>
          <a:prstGeom prst="rect">
            <a:avLst/>
          </a:prstGeom>
          <a:noFill/>
          <a:ln>
            <a:noFill/>
          </a:ln>
        </p:spPr>
        <p:txBody>
          <a:bodyPr spcFirstLastPara="1" wrap="square" lIns="91425" tIns="45700" rIns="91425" bIns="45700" anchor="ctr" anchorCtr="0">
            <a:normAutofit fontScale="55000" lnSpcReduction="20000"/>
          </a:bodyPr>
          <a:lstStyle/>
          <a:p>
            <a:pPr marL="0" lvl="0" indent="0" algn="just" rtl="0">
              <a:lnSpc>
                <a:spcPct val="120000"/>
              </a:lnSpc>
              <a:spcBef>
                <a:spcPts val="0"/>
              </a:spcBef>
              <a:spcAft>
                <a:spcPts val="0"/>
              </a:spcAft>
              <a:buClr>
                <a:srgbClr val="C00000"/>
              </a:buClr>
              <a:buSzPct val="100000"/>
              <a:buNone/>
            </a:pPr>
            <a:r>
              <a:rPr lang="en-US" sz="3200" b="1">
                <a:solidFill>
                  <a:srgbClr val="C00000"/>
                </a:solidFill>
                <a:latin typeface="Cambria"/>
                <a:ea typeface="Cambria"/>
                <a:cs typeface="Cambria"/>
                <a:sym typeface="Cambria"/>
              </a:rPr>
              <a:t>Who are we?</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Efrim, Roșca și Asociații (ERA) is recognized for its solid and consistent expertise in corporate law, commercial transactions and regulations, providing legal assistance to top-tier companies operating in dynamic and heavily regulated industries. The firm combines legal rigor with deep understanding of commercial realities, supporting clients both in leveraging strategic opportunities and managing complex legal risks.</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ERA's corporate law practice covers a complete spectrum of legal services, including corporate governance, mergers and acquisitions (M&amp;A), shareholder and management body matters, contract drafting and negotiation, implementation assistance, as well as regulatory advocacy and lobbying activities. The firm also provides specialized competition law advice, with expertise in economic concentration control, anti-competitive agreements, abuse of dominant position and state aid. ERA attorneys assist clients in evaluating hybrid distribution models, managing investigations and communicating with regulatory authorities, combining in-depth legal expertise with a practical market perspective.</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The firm's client portfolio covers over 23 economic sectors, including real estate, construction, banking, insurance, information technology and communications, media, automotive industry, energy, retail and industrial engineering, demonstrating ERA's ability to adapt to the specific challenges of each sector. Representative clients include Philip Morris Sales &amp; Marketing in the tobacco industry; Vienna Insurance Group, Moldasig and Donaris in the insurance sector; financial institutions such as Victoriabank, MAIB, FinComBank and Banca Transilvania (Romania); companies from the technology and industrial sectors, including Huawei, Google, TikTok, ISUZU and Draxlmaier; as well as major retailers such as METRO Cash &amp; Carry and Kaufland.</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ERA also provides frequent legal assistance to public authorities, including the Government of the Republic of Moldova, the National Commission of Financial Market and Moldova IT Park, offering reliable legal contributions in the development and implementation of public policies and regulatory framework.</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These long-term partnerships confirm ERA's position as a reference legal partner in the Republic of Moldova, both for private companies and public institutions. Clients choose ERA for comprehensive legal advice, adapted to the specifics of each sector, and for the confidence to make firm decisions in complex legal contexts.</a:t>
            </a:r>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None/>
            </a:pPr>
            <a:endParaRPr/>
          </a:p>
        </p:txBody>
      </p:sp>
      <p:sp>
        <p:nvSpPr>
          <p:cNvPr id="189" name="Google Shape;189;p9"/>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cxnSp>
        <p:nvCxnSpPr>
          <p:cNvPr id="190" name="Google Shape;190;p9"/>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91" name="Google Shape;191;p9"/>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92" name="Google Shape;192;p9"/>
          <p:cNvGrpSpPr/>
          <p:nvPr/>
        </p:nvGrpSpPr>
        <p:grpSpPr>
          <a:xfrm>
            <a:off x="639425" y="7686554"/>
            <a:ext cx="611624" cy="278385"/>
            <a:chOff x="639425" y="7686554"/>
            <a:chExt cx="611624" cy="278385"/>
          </a:xfrm>
        </p:grpSpPr>
        <p:pic>
          <p:nvPicPr>
            <p:cNvPr id="193" name="Google Shape;193;p9"/>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94" name="Google Shape;194;p9"/>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95" name="Google Shape;195;p9"/>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3: ERA Profile</a:t>
            </a:r>
            <a:endParaRPr/>
          </a:p>
        </p:txBody>
      </p:sp>
      <p:sp>
        <p:nvSpPr>
          <p:cNvPr id="196" name="Google Shape;196;p9"/>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000" b="1">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Cambria"/>
              <a:buNone/>
            </a:pPr>
            <a:r>
              <a:rPr lang="en-US" sz="3200" b="1">
                <a:solidFill>
                  <a:schemeClr val="lt1"/>
                </a:solidFill>
                <a:latin typeface="Cambria"/>
                <a:ea typeface="Cambria"/>
                <a:cs typeface="Cambria"/>
                <a:sym typeface="Cambria"/>
              </a:rPr>
              <a:t>Section 4</a:t>
            </a:r>
            <a:br>
              <a:rPr lang="en-US" sz="3200" b="1">
                <a:solidFill>
                  <a:schemeClr val="lt1"/>
                </a:solidFill>
                <a:latin typeface="Cambria"/>
                <a:ea typeface="Cambria"/>
                <a:cs typeface="Cambria"/>
                <a:sym typeface="Cambria"/>
              </a:rPr>
            </a:br>
            <a:r>
              <a:rPr lang="en-US" sz="3200" b="1">
                <a:solidFill>
                  <a:schemeClr val="lt1"/>
                </a:solidFill>
                <a:latin typeface="Cambria"/>
                <a:ea typeface="Cambria"/>
                <a:cs typeface="Cambria"/>
                <a:sym typeface="Cambria"/>
              </a:rPr>
              <a:t/>
            </a:r>
            <a:br>
              <a:rPr lang="en-US" sz="3200" b="1">
                <a:solidFill>
                  <a:schemeClr val="lt1"/>
                </a:solidFill>
                <a:latin typeface="Cambria"/>
                <a:ea typeface="Cambria"/>
                <a:cs typeface="Cambria"/>
                <a:sym typeface="Cambria"/>
              </a:rPr>
            </a:br>
            <a:r>
              <a:rPr lang="en-US" sz="3200" b="1">
                <a:solidFill>
                  <a:schemeClr val="lt1"/>
                </a:solidFill>
                <a:latin typeface="Cambria"/>
                <a:ea typeface="Cambria"/>
                <a:cs typeface="Cambria"/>
                <a:sym typeface="Cambria"/>
              </a:rPr>
              <a:t>Relevant Experience: Mergers and Acquisitions</a:t>
            </a:r>
            <a:endParaRPr sz="3200">
              <a:solidFill>
                <a:schemeClr val="lt1"/>
              </a:solidFill>
            </a:endParaRPr>
          </a:p>
        </p:txBody>
      </p:sp>
      <p:sp>
        <p:nvSpPr>
          <p:cNvPr id="203" name="Google Shape;203;p10"/>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04" name="Google Shape;204;p10"/>
          <p:cNvGrpSpPr/>
          <p:nvPr/>
        </p:nvGrpSpPr>
        <p:grpSpPr>
          <a:xfrm>
            <a:off x="639425" y="7686554"/>
            <a:ext cx="611624" cy="278385"/>
            <a:chOff x="639425" y="7686554"/>
            <a:chExt cx="611624" cy="278385"/>
          </a:xfrm>
        </p:grpSpPr>
        <p:pic>
          <p:nvPicPr>
            <p:cNvPr id="205" name="Google Shape;205;p10"/>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06" name="Google Shape;206;p10"/>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07" name="Google Shape;207;p10"/>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aphicFrame>
        <p:nvGraphicFramePr>
          <p:cNvPr id="213" name="Google Shape;213;p11"/>
          <p:cNvGraphicFramePr/>
          <p:nvPr>
            <p:extLst>
              <p:ext uri="{D42A27DB-BD31-4B8C-83A1-F6EECF244321}">
                <p14:modId xmlns:p14="http://schemas.microsoft.com/office/powerpoint/2010/main" val="2252648456"/>
              </p:ext>
            </p:extLst>
          </p:nvPr>
        </p:nvGraphicFramePr>
        <p:xfrm>
          <a:off x="299449" y="1408617"/>
          <a:ext cx="12745625" cy="5890380"/>
        </p:xfrm>
        <a:graphic>
          <a:graphicData uri="http://schemas.openxmlformats.org/drawingml/2006/table">
            <a:tbl>
              <a:tblPr firstCol="1">
                <a:noFill/>
                <a:tableStyleId>{73599C68-CCEA-4331-8874-6C1E036581AA}</a:tableStyleId>
              </a:tblPr>
              <a:tblGrid>
                <a:gridCol w="2375050">
                  <a:extLst>
                    <a:ext uri="{9D8B030D-6E8A-4147-A177-3AD203B41FA5}">
                      <a16:colId xmlns:a16="http://schemas.microsoft.com/office/drawing/2014/main" val="20000"/>
                    </a:ext>
                  </a:extLst>
                </a:gridCol>
                <a:gridCol w="10370575">
                  <a:extLst>
                    <a:ext uri="{9D8B030D-6E8A-4147-A177-3AD203B41FA5}">
                      <a16:colId xmlns:a16="http://schemas.microsoft.com/office/drawing/2014/main" val="20001"/>
                    </a:ext>
                  </a:extLst>
                </a:gridCol>
              </a:tblGrid>
              <a:tr h="274320">
                <a:tc>
                  <a:txBody>
                    <a:bodyPr/>
                    <a:lstStyle/>
                    <a:p>
                      <a:pPr marL="0" marR="0" lvl="0" indent="0" algn="l" rtl="0">
                        <a:spcBef>
                          <a:spcPts val="0"/>
                        </a:spcBef>
                        <a:spcAft>
                          <a:spcPts val="0"/>
                        </a:spcAft>
                        <a:buNone/>
                      </a:pPr>
                      <a:endParaRPr sz="1200" b="1">
                        <a:solidFill>
                          <a:schemeClr val="dk1"/>
                        </a:solidFill>
                        <a:latin typeface="Cambria"/>
                        <a:ea typeface="Cambria"/>
                        <a:cs typeface="Cambria"/>
                        <a:sym typeface="Cambria"/>
                      </a:endParaRPr>
                    </a:p>
                    <a:p>
                      <a:pPr marL="0" marR="0" lvl="0" indent="0" algn="l" rtl="0">
                        <a:spcBef>
                          <a:spcPts val="0"/>
                        </a:spcBef>
                        <a:spcAft>
                          <a:spcPts val="0"/>
                        </a:spcAft>
                        <a:buNone/>
                      </a:pPr>
                      <a:r>
                        <a:rPr lang="en-US" sz="1100" b="1">
                          <a:solidFill>
                            <a:schemeClr val="dk1"/>
                          </a:solidFill>
                          <a:latin typeface="Cambria"/>
                          <a:ea typeface="Cambria"/>
                          <a:cs typeface="Cambria"/>
                          <a:sym typeface="Cambria"/>
                        </a:rPr>
                        <a:t>Vienna Insurance Group</a:t>
                      </a:r>
                      <a:endParaRPr sz="1100" b="1">
                        <a:latin typeface="Cambria"/>
                        <a:ea typeface="Cambria"/>
                        <a:cs typeface="Cambria"/>
                        <a:sym typeface="Cambria"/>
                      </a:endParaRPr>
                    </a:p>
                  </a:txBody>
                  <a:tcPr marL="100075" marR="100075" marT="50050" marB="50050"/>
                </a:tc>
                <a:tc>
                  <a:txBody>
                    <a:bodyPr/>
                    <a:lstStyle/>
                    <a:p>
                      <a:pPr marL="0" marR="0" lvl="0" indent="0" algn="just" rtl="0">
                        <a:lnSpc>
                          <a:spcPct val="100000"/>
                        </a:lnSpc>
                        <a:spcBef>
                          <a:spcPts val="0"/>
                        </a:spcBef>
                        <a:spcAft>
                          <a:spcPts val="0"/>
                        </a:spcAft>
                        <a:buNone/>
                      </a:pPr>
                      <a:endParaRPr sz="11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100" b="0">
                          <a:solidFill>
                            <a:schemeClr val="dk1"/>
                          </a:solidFill>
                          <a:latin typeface="Cambria"/>
                          <a:ea typeface="Cambria"/>
                          <a:cs typeface="Cambria"/>
                          <a:sym typeface="Cambria"/>
                        </a:rPr>
                        <a:t>We provided legal assistance as sole attorneys for Vienna Insurance Group (VIG) in connection with the acquisition of Moldasig S.A., the largest insurance company in the Republic of Moldova, in a complex back-to-back transaction involving the state of the Republic of Moldova. The state initially acquired the shares through a cancellation and reissuance mechanism, subsequently selling them to a qualified investor through a public tender procedure. The transaction was structured to be completed by the end of August 2025. The operation had strategic importance both for the client and for the insurance market in the Republic of Moldova, representing an essential step in the stabilization and professionalization process of the sector. We played a decisive role in structuring the transaction, by designing a mechanism that allowed the state to acquire and immediately resell the shares in accordance with privatization legislation, ensuring the investor's legal security and compatibility with competition law requirements. The transaction structure involved the correlation and succession of two interdependent contracts — the acquisition of shares by the state and subsequent sale to VIG — conditioned by the finding of public interest and obtaining relevant regulatory approvals. Legal assistance covered all transaction stages, from due diligence and operation structuring, to transactional documentation negotiation and coordination with the main state authorities. Currently, the only pending stage is the economic concentration examination procedure before the Competition Council.</a:t>
                      </a:r>
                      <a:endParaRPr/>
                    </a:p>
                  </a:txBody>
                  <a:tcPr marL="100075" marR="100075" marT="50050" marB="50050"/>
                </a:tc>
                <a:extLst>
                  <a:ext uri="{0D108BD9-81ED-4DB2-BD59-A6C34878D82A}">
                    <a16:rowId xmlns:a16="http://schemas.microsoft.com/office/drawing/2014/main" val="10000"/>
                  </a:ext>
                </a:extLst>
              </a:tr>
              <a:tr h="274320">
                <a:tc>
                  <a:txBody>
                    <a:bodyPr/>
                    <a:lstStyle/>
                    <a:p>
                      <a:pPr marL="0" marR="0" lvl="0" indent="0" algn="l" rtl="0">
                        <a:spcBef>
                          <a:spcPts val="0"/>
                        </a:spcBef>
                        <a:spcAft>
                          <a:spcPts val="0"/>
                        </a:spcAft>
                        <a:buNone/>
                      </a:pPr>
                      <a:r>
                        <a:rPr lang="en-US" sz="1000" b="1">
                          <a:latin typeface="Cambria"/>
                          <a:ea typeface="Cambria"/>
                          <a:cs typeface="Cambria"/>
                          <a:sym typeface="Cambria"/>
                        </a:rPr>
                        <a:t>Government of the Republic of Moldova</a:t>
                      </a:r>
                      <a:endParaRPr/>
                    </a:p>
                    <a:p>
                      <a:pPr marL="0" marR="0" lvl="0" indent="0" algn="l" rtl="0">
                        <a:spcBef>
                          <a:spcPts val="0"/>
                        </a:spcBef>
                        <a:spcAft>
                          <a:spcPts val="0"/>
                        </a:spcAft>
                        <a:buNone/>
                      </a:pPr>
                      <a:endParaRPr sz="1200" b="0">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None/>
                      </a:pPr>
                      <a:r>
                        <a:rPr lang="en-US" sz="1100" b="0" dirty="0">
                          <a:solidFill>
                            <a:schemeClr val="dk1"/>
                          </a:solidFill>
                          <a:latin typeface="Cambria"/>
                          <a:ea typeface="Cambria"/>
                          <a:cs typeface="Cambria"/>
                          <a:sym typeface="Cambria"/>
                        </a:rPr>
                        <a:t>ERA provided legal assistance to the Government of the Republic of Moldova, through the Public Property Agency, in the transaction for the sale of 63.8865% of the share capital of B.C. "Moldindconbank" S.A., worth approximately 39,000,000 EUR, to Doverie United-Holding AD from Bulgaria. Doverie United-Holding AD, a European investor, acquired the single participation of 63.89% of the bank's capital. The transaction was carried out through the Public Property Agency, which initially acquired the shares from Moldindconbank and subsequently sold them to the Bulgarian investor through a public auction. ERA drafted the preliminary contract and the sale-purchase contract, actively participating in the negotiations related to the transaction.</a:t>
                      </a:r>
                      <a:endParaRPr dirty="0"/>
                    </a:p>
                    <a:p>
                      <a:pPr marL="0" marR="0" lvl="0" indent="0" algn="l" rtl="0">
                        <a:spcBef>
                          <a:spcPts val="0"/>
                        </a:spcBef>
                        <a:spcAft>
                          <a:spcPts val="0"/>
                        </a:spcAft>
                        <a:buNone/>
                      </a:pPr>
                      <a:r>
                        <a:rPr lang="en-US" sz="1100" b="0" dirty="0">
                          <a:solidFill>
                            <a:schemeClr val="dk1"/>
                          </a:solidFill>
                          <a:latin typeface="Cambria"/>
                          <a:ea typeface="Cambria"/>
                          <a:cs typeface="Cambria"/>
                          <a:sym typeface="Cambria"/>
                        </a:rPr>
                        <a:t>Additionally, ERA reviewed the Government Decision regarding the approval of the preliminary contract text, which included the sale-purchase contract as an annex, and assisted the client regarding the applicable requirements for competition authorization.</a:t>
                      </a:r>
                      <a:endParaRPr dirty="0"/>
                    </a:p>
                  </a:txBody>
                  <a:tcPr marL="100075" marR="100075" marT="50050" marB="50050"/>
                </a:tc>
                <a:extLst>
                  <a:ext uri="{0D108BD9-81ED-4DB2-BD59-A6C34878D82A}">
                    <a16:rowId xmlns:a16="http://schemas.microsoft.com/office/drawing/2014/main" val="10001"/>
                  </a:ext>
                </a:extLst>
              </a:tr>
              <a:tr h="274320">
                <a:tc>
                  <a:txBody>
                    <a:bodyPr/>
                    <a:lstStyle/>
                    <a:p>
                      <a:pPr marL="0" marR="0" lvl="0" indent="0" algn="l" rtl="0">
                        <a:spcBef>
                          <a:spcPts val="0"/>
                        </a:spcBef>
                        <a:spcAft>
                          <a:spcPts val="0"/>
                        </a:spcAft>
                        <a:buNone/>
                      </a:pPr>
                      <a:r>
                        <a:rPr lang="en-US" sz="1000" b="1">
                          <a:latin typeface="Cambria"/>
                          <a:ea typeface="Cambria"/>
                          <a:cs typeface="Cambria"/>
                          <a:sym typeface="Cambria"/>
                        </a:rPr>
                        <a:t>Government of the Republic of Moldova and MoldovaAgroIndBank S.A.</a:t>
                      </a:r>
                      <a:endParaRPr sz="1200" b="1">
                        <a:solidFill>
                          <a:schemeClr val="dk1"/>
                        </a:solidFill>
                        <a:latin typeface="Cambria"/>
                        <a:ea typeface="Cambria"/>
                        <a:cs typeface="Cambria"/>
                        <a:sym typeface="Cambria"/>
                      </a:endParaRPr>
                    </a:p>
                    <a:p>
                      <a:pPr marL="0" marR="0" lvl="0" indent="0" algn="l" rtl="0">
                        <a:spcBef>
                          <a:spcPts val="0"/>
                        </a:spcBef>
                        <a:spcAft>
                          <a:spcPts val="0"/>
                        </a:spcAft>
                        <a:buNone/>
                      </a:pPr>
                      <a:endParaRPr sz="1200" b="1">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None/>
                      </a:pPr>
                      <a:r>
                        <a:rPr lang="en-US" sz="1100" b="1">
                          <a:solidFill>
                            <a:schemeClr val="dk1"/>
                          </a:solidFill>
                          <a:latin typeface="Calibri"/>
                          <a:ea typeface="Calibri"/>
                          <a:cs typeface="Calibri"/>
                          <a:sym typeface="Calibri"/>
                        </a:rPr>
                        <a:t>ERA represented both the Government of the Republic of Moldova and Moldova-Agroindbank S.A. (MAIB) in this transaction. After several unsuccessful sale attempts, over 41% of the shares of Moldova-Agroindbank S.A., the largest bank in the Republic of Moldova, were traded on the Bucharest Stock Exchange, for a total price of approximately 450 million MDL. The two share packages were acquired by the state of the Republic of Moldova, for the purpose of resolving a systemic banking crisis.</a:t>
                      </a:r>
                      <a:endParaRPr/>
                    </a:p>
                    <a:p>
                      <a:pPr marL="0" marR="0" lvl="0" indent="0" algn="l" rtl="0">
                        <a:spcBef>
                          <a:spcPts val="0"/>
                        </a:spcBef>
                        <a:spcAft>
                          <a:spcPts val="0"/>
                        </a:spcAft>
                        <a:buNone/>
                      </a:pPr>
                      <a:r>
                        <a:rPr lang="en-US" sz="1100" b="0">
                          <a:solidFill>
                            <a:schemeClr val="dk1"/>
                          </a:solidFill>
                          <a:latin typeface="Cambria"/>
                          <a:ea typeface="Cambria"/>
                          <a:cs typeface="Cambria"/>
                          <a:sym typeface="Cambria"/>
                        </a:rPr>
                        <a:t>The transaction followed the Government's signing of a preliminary contract for the sale of these shares to an international consortium, led by the European Bank for Reconstruction and Development (EBRD). The structuring of this operation required a complex and multilateral approach, aimed at ensuring compliance with all applicable legal requirements, especially those in the field of competition law, as well as compliance with the specific procedures and requirements of banking and corporate law.</a:t>
                      </a:r>
                      <a:endParaRPr/>
                    </a:p>
                  </a:txBody>
                  <a:tcPr marL="100075" marR="100075" marT="50050" marB="50050"/>
                </a:tc>
                <a:extLst>
                  <a:ext uri="{0D108BD9-81ED-4DB2-BD59-A6C34878D82A}">
                    <a16:rowId xmlns:a16="http://schemas.microsoft.com/office/drawing/2014/main" val="10002"/>
                  </a:ext>
                </a:extLst>
              </a:tr>
              <a:tr h="274320">
                <a:tc>
                  <a:txBody>
                    <a:bodyPr/>
                    <a:lstStyle/>
                    <a:p>
                      <a:pPr marL="0" marR="0" lvl="0" indent="0" algn="l" rtl="0">
                        <a:spcBef>
                          <a:spcPts val="0"/>
                        </a:spcBef>
                        <a:spcAft>
                          <a:spcPts val="0"/>
                        </a:spcAft>
                        <a:buNone/>
                      </a:pPr>
                      <a:r>
                        <a:rPr lang="en-US" sz="1000" b="1">
                          <a:solidFill>
                            <a:schemeClr val="dk1"/>
                          </a:solidFill>
                          <a:latin typeface="Cambria"/>
                          <a:ea typeface="Cambria"/>
                          <a:cs typeface="Cambria"/>
                          <a:sym typeface="Cambria"/>
                        </a:rPr>
                        <a:t>SONY PICTURES</a:t>
                      </a:r>
                      <a:endParaRPr/>
                    </a:p>
                  </a:txBody>
                  <a:tcPr marL="100075" marR="100075" marT="50050" marB="50050"/>
                </a:tc>
                <a:tc>
                  <a:txBody>
                    <a:bodyPr/>
                    <a:lstStyle/>
                    <a:p>
                      <a:pPr marL="0" marR="0" lvl="0" indent="0" algn="l" rtl="0">
                        <a:spcBef>
                          <a:spcPts val="0"/>
                        </a:spcBef>
                        <a:spcAft>
                          <a:spcPts val="0"/>
                        </a:spcAft>
                        <a:buClr>
                          <a:schemeClr val="dk1"/>
                        </a:buClr>
                        <a:buSzPts val="1300"/>
                        <a:buFont typeface="Cambria"/>
                        <a:buNone/>
                      </a:pPr>
                      <a:r>
                        <a:rPr lang="en-US" sz="1100">
                          <a:latin typeface="Cambria"/>
                          <a:ea typeface="Cambria"/>
                          <a:cs typeface="Cambria"/>
                          <a:sym typeface="Cambria"/>
                        </a:rPr>
                        <a:t>ERA provided legal assistance to the client in a due diligence procedure, consisting of the analysis and evaluation of the corporate structure and contracts concluded by a local subsidiary in the Republic of Moldova, an IT company resident of Moldova IT Park. The activity carried out by ERA allowed the identification and highlighting of the main relevant legal aspects of the analyzed contracts, including their associated risks. Following the analysis, ERA formulated contract revision proposals, recommendations regarding necessary modifications, suggestions for adequate contractual clauses and concrete measures to be implemented, in order to align the contractual documentation with the applicable legal requirements and the client's commercial objectives.</a:t>
                      </a:r>
                      <a:endParaRPr/>
                    </a:p>
                  </a:txBody>
                  <a:tcPr marL="100075" marR="100075" marT="50050" marB="50050"/>
                </a:tc>
                <a:extLst>
                  <a:ext uri="{0D108BD9-81ED-4DB2-BD59-A6C34878D82A}">
                    <a16:rowId xmlns:a16="http://schemas.microsoft.com/office/drawing/2014/main" val="10003"/>
                  </a:ext>
                </a:extLst>
              </a:tr>
              <a:tr h="0">
                <a:tc>
                  <a:txBody>
                    <a:bodyPr/>
                    <a:lstStyle/>
                    <a:p>
                      <a:pPr marL="0" marR="0" lvl="0" indent="0" algn="l" rtl="0">
                        <a:spcBef>
                          <a:spcPts val="0"/>
                        </a:spcBef>
                        <a:spcAft>
                          <a:spcPts val="0"/>
                        </a:spcAft>
                        <a:buNone/>
                      </a:pPr>
                      <a:endParaRPr sz="1100" b="1">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Clr>
                          <a:schemeClr val="dk1"/>
                        </a:buClr>
                        <a:buSzPts val="1300"/>
                        <a:buFont typeface="Cambria"/>
                        <a:buNone/>
                      </a:pPr>
                      <a:r>
                        <a:rPr lang="en-US" sz="1100" dirty="0">
                          <a:latin typeface="Cambria"/>
                          <a:ea typeface="Cambria"/>
                          <a:cs typeface="Cambria"/>
                          <a:sym typeface="Cambria"/>
                        </a:rPr>
                        <a:t> </a:t>
                      </a:r>
                      <a:endParaRPr dirty="0"/>
                    </a:p>
                    <a:p>
                      <a:pPr marL="0" marR="0" lvl="0" indent="0" algn="l" rtl="0">
                        <a:spcBef>
                          <a:spcPts val="150"/>
                        </a:spcBef>
                        <a:spcAft>
                          <a:spcPts val="0"/>
                        </a:spcAft>
                        <a:buClr>
                          <a:schemeClr val="dk1"/>
                        </a:buClr>
                        <a:buSzPts val="1300"/>
                        <a:buFont typeface="Cambria"/>
                        <a:buNone/>
                      </a:pPr>
                      <a:r>
                        <a:rPr lang="en-US" sz="1100" dirty="0">
                          <a:latin typeface="Cambria"/>
                          <a:ea typeface="Cambria"/>
                          <a:cs typeface="Cambria"/>
                          <a:sym typeface="Cambria"/>
                        </a:rPr>
                        <a:t> </a:t>
                      </a:r>
                      <a:endParaRPr dirty="0"/>
                    </a:p>
                  </a:txBody>
                  <a:tcPr marL="100075" marR="100075" marT="50050" marB="50050"/>
                </a:tc>
                <a:extLst>
                  <a:ext uri="{0D108BD9-81ED-4DB2-BD59-A6C34878D82A}">
                    <a16:rowId xmlns:a16="http://schemas.microsoft.com/office/drawing/2014/main" val="10004"/>
                  </a:ext>
                </a:extLst>
              </a:tr>
            </a:tbl>
          </a:graphicData>
        </a:graphic>
      </p:graphicFrame>
      <p:sp>
        <p:nvSpPr>
          <p:cNvPr id="214" name="Google Shape;214;p1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cxnSp>
        <p:nvCxnSpPr>
          <p:cNvPr id="215" name="Google Shape;215;p11"/>
          <p:cNvCxnSpPr/>
          <p:nvPr/>
        </p:nvCxnSpPr>
        <p:spPr>
          <a:xfrm rot="10800000" flipH="1">
            <a:off x="917436" y="1047949"/>
            <a:ext cx="11509653" cy="33925"/>
          </a:xfrm>
          <a:prstGeom prst="straightConnector1">
            <a:avLst/>
          </a:prstGeom>
          <a:noFill/>
          <a:ln w="9525" cap="flat" cmpd="sng">
            <a:solidFill>
              <a:srgbClr val="DA1F28"/>
            </a:solidFill>
            <a:prstDash val="solid"/>
            <a:miter lim="8000"/>
            <a:headEnd type="none" w="sm" len="sm"/>
            <a:tailEnd type="none" w="sm" len="sm"/>
          </a:ln>
        </p:spPr>
      </p:cxnSp>
      <p:grpSp>
        <p:nvGrpSpPr>
          <p:cNvPr id="216" name="Google Shape;216;p11"/>
          <p:cNvGrpSpPr/>
          <p:nvPr/>
        </p:nvGrpSpPr>
        <p:grpSpPr>
          <a:xfrm>
            <a:off x="639425" y="7686554"/>
            <a:ext cx="611624" cy="278385"/>
            <a:chOff x="639425" y="7686554"/>
            <a:chExt cx="611624" cy="278385"/>
          </a:xfrm>
        </p:grpSpPr>
        <p:pic>
          <p:nvPicPr>
            <p:cNvPr id="217" name="Google Shape;217;p11"/>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18" name="Google Shape;218;p11"/>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19" name="Google Shape;219;p11"/>
          <p:cNvSpPr txBox="1"/>
          <p:nvPr/>
        </p:nvSpPr>
        <p:spPr>
          <a:xfrm>
            <a:off x="917436" y="667903"/>
            <a:ext cx="6285469" cy="35315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4: Mergers and acquisitions.</a:t>
            </a:r>
            <a:endParaRPr/>
          </a:p>
        </p:txBody>
      </p:sp>
      <p:sp>
        <p:nvSpPr>
          <p:cNvPr id="220" name="Google Shape;220;p11"/>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000" b="1">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225"/>
        <p:cNvGrpSpPr/>
        <p:nvPr/>
      </p:nvGrpSpPr>
      <p:grpSpPr>
        <a:xfrm>
          <a:off x="0" y="0"/>
          <a:ext cx="0" cy="0"/>
          <a:chOff x="0" y="0"/>
          <a:chExt cx="0" cy="0"/>
        </a:xfrm>
      </p:grpSpPr>
      <p:sp>
        <p:nvSpPr>
          <p:cNvPr id="226" name="Google Shape;226;p12"/>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Section 5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a: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ERA team for project</a:t>
            </a:r>
            <a:endParaRPr sz="2900">
              <a:solidFill>
                <a:schemeClr val="lt1"/>
              </a:solidFill>
            </a:endParaRPr>
          </a:p>
        </p:txBody>
      </p:sp>
      <p:sp>
        <p:nvSpPr>
          <p:cNvPr id="227" name="Google Shape;227;p1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28" name="Google Shape;228;p12"/>
          <p:cNvGrpSpPr/>
          <p:nvPr/>
        </p:nvGrpSpPr>
        <p:grpSpPr>
          <a:xfrm>
            <a:off x="639425" y="7686554"/>
            <a:ext cx="611624" cy="278385"/>
            <a:chOff x="639425" y="7686554"/>
            <a:chExt cx="611624" cy="278385"/>
          </a:xfrm>
        </p:grpSpPr>
        <p:pic>
          <p:nvPicPr>
            <p:cNvPr id="229" name="Google Shape;229;p12"/>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30" name="Google Shape;230;p12"/>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31" name="Google Shape;231;p1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chemeClr val="dk1"/>
              </a:buClr>
              <a:buSzPct val="100000"/>
              <a:buNone/>
            </a:pPr>
            <a:r>
              <a:rPr lang="en-US" sz="5600" b="1">
                <a:latin typeface="Cambria"/>
                <a:ea typeface="Cambria"/>
                <a:cs typeface="Cambria"/>
                <a:sym typeface="Cambria"/>
              </a:rPr>
              <a:t>OLEG EFRIM</a:t>
            </a: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Attorney, Managing Partner</a:t>
            </a:r>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is an attorney and one of the founders of ERA. Oleg Efrim graduated from the Faculty of Law of the Moldova State University, where he obtained a bachelor's degree and a master's degree in law.</a:t>
            </a:r>
            <a:endParaRPr/>
          </a:p>
          <a:p>
            <a:pPr marL="0" lvl="0" indent="0" algn="just"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Oleg is an arbitrator chosen by local and international investors for FIDIC contract disputes.</a:t>
            </a:r>
            <a:endParaRPr sz="5600" b="1">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began his career in the legal field in 1997, with prodigious activity in both the commercial and non-profit sectors, as well as in the public sector. Since the same year, Oleg Efrim has been a professor of Civil Law (Contract Law) at the Faculty of Law of the Moldova State University. As an attorney, Oleg Efrim has participated in numerous large-scale investment projects and has represented the interests of local and international clients in courts. In the public sector, in his position as People's Attorney, Vice-Minister and then Minister of Justice, Oleg Efrim has gained vast experience in the field of regulation, public procurement and other related fields.</a:t>
            </a: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has been nominated for:</a:t>
            </a:r>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Leading Individual by Legal 500 (2019, 2020).</a:t>
            </a:r>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Notable Practitioner by Chambers &amp; Partners in Litigation (2019, 2020, 2021).</a:t>
            </a:r>
            <a:endParaRPr sz="5600">
              <a:latin typeface="Cambria"/>
              <a:ea typeface="Cambria"/>
              <a:cs typeface="Cambria"/>
              <a:sym typeface="Cambria"/>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Highly Regarded in M&amp;A by IFLR1000 (2019, 2020, 2021).</a:t>
            </a: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speaks Romanian, Russian and English.</a:t>
            </a:r>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Professional experience:</a:t>
            </a:r>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250203" lvl="0" indent="-201562" algn="l" rtl="0">
              <a:lnSpc>
                <a:spcPct val="90000"/>
              </a:lnSpc>
              <a:spcBef>
                <a:spcPts val="1095"/>
              </a:spcBef>
              <a:spcAft>
                <a:spcPts val="0"/>
              </a:spcAft>
              <a:buClr>
                <a:schemeClr val="dk1"/>
              </a:buClr>
              <a:buSzPct val="100000"/>
              <a:buNone/>
            </a:pPr>
            <a:endParaRPr/>
          </a:p>
        </p:txBody>
      </p:sp>
      <p:sp>
        <p:nvSpPr>
          <p:cNvPr id="238" name="Google Shape;238;p1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Proposal for Legal Services</a:t>
            </a:r>
            <a:endParaRPr/>
          </a:p>
        </p:txBody>
      </p:sp>
      <p:sp>
        <p:nvSpPr>
          <p:cNvPr id="239" name="Google Shape;239;p1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cxnSp>
        <p:nvCxnSpPr>
          <p:cNvPr id="240" name="Google Shape;240;p13"/>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41" name="Google Shape;241;p13"/>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42" name="Google Shape;242;p13"/>
          <p:cNvGrpSpPr/>
          <p:nvPr/>
        </p:nvGrpSpPr>
        <p:grpSpPr>
          <a:xfrm>
            <a:off x="639425" y="7686554"/>
            <a:ext cx="611624" cy="278385"/>
            <a:chOff x="639425" y="7686554"/>
            <a:chExt cx="611624" cy="278385"/>
          </a:xfrm>
        </p:grpSpPr>
        <p:pic>
          <p:nvPicPr>
            <p:cNvPr id="243" name="Google Shape;243;p13"/>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44" name="Google Shape;244;p13"/>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45" name="Google Shape;245;p13"/>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5: CVs of ERA team members</a:t>
            </a:r>
            <a:endParaRPr/>
          </a:p>
        </p:txBody>
      </p:sp>
      <p:graphicFrame>
        <p:nvGraphicFramePr>
          <p:cNvPr id="246" name="Google Shape;246;p13"/>
          <p:cNvGraphicFramePr/>
          <p:nvPr/>
        </p:nvGraphicFramePr>
        <p:xfrm>
          <a:off x="7019428" y="1610617"/>
          <a:ext cx="5407650" cy="3854500"/>
        </p:xfrm>
        <a:graphic>
          <a:graphicData uri="http://schemas.openxmlformats.org/drawingml/2006/table">
            <a:tbl>
              <a:tblPr firstRow="1" firstCol="1" bandRow="1">
                <a:noFill/>
                <a:tableStyleId>{6FF0782A-B248-4C6F-8606-AE48E0E161FE}</a:tableStyleId>
              </a:tblPr>
              <a:tblGrid>
                <a:gridCol w="1958975">
                  <a:extLst>
                    <a:ext uri="{9D8B030D-6E8A-4147-A177-3AD203B41FA5}">
                      <a16:colId xmlns:a16="http://schemas.microsoft.com/office/drawing/2014/main" val="20000"/>
                    </a:ext>
                  </a:extLst>
                </a:gridCol>
                <a:gridCol w="3448675">
                  <a:extLst>
                    <a:ext uri="{9D8B030D-6E8A-4147-A177-3AD203B41FA5}">
                      <a16:colId xmlns:a16="http://schemas.microsoft.com/office/drawing/2014/main" val="20001"/>
                    </a:ext>
                  </a:extLst>
                </a:gridCol>
              </a:tblGrid>
              <a:tr h="1401650">
                <a:tc>
                  <a:txBody>
                    <a:bodyPr/>
                    <a:lstStyle/>
                    <a:p>
                      <a:pPr marL="0" marR="0" lvl="0" indent="0" algn="just" rtl="0">
                        <a:spcBef>
                          <a:spcPts val="0"/>
                        </a:spcBef>
                        <a:spcAft>
                          <a:spcPts val="0"/>
                        </a:spcAft>
                        <a:buNone/>
                      </a:pPr>
                      <a:r>
                        <a:rPr lang="en-US" sz="1100">
                          <a:latin typeface="Cambria"/>
                          <a:ea typeface="Cambria"/>
                          <a:cs typeface="Cambria"/>
                          <a:sym typeface="Cambria"/>
                        </a:rPr>
                        <a:t>April 2015/present</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March 2019 – January 2021</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March 2019 – January 2021</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Attorney, Managing Partner, Efrim, Roșca și Asociații, Law Firm</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Chairman of the Legal Committee, American Chamber (AmCham) in Moldova</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Chairman of the Regulatory Committee, European Business Association</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May 2011 – February 2015</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Minister of Justice of the Republic of Moldova</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November 2009 – May 2011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Deputy Minister of Justice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525625">
                <a:tc>
                  <a:txBody>
                    <a:bodyPr/>
                    <a:lstStyle/>
                    <a:p>
                      <a:pPr marL="0" marR="0" lvl="0" indent="0" algn="just" rtl="0">
                        <a:spcBef>
                          <a:spcPts val="0"/>
                        </a:spcBef>
                        <a:spcAft>
                          <a:spcPts val="0"/>
                        </a:spcAft>
                        <a:buNone/>
                      </a:pPr>
                      <a:r>
                        <a:rPr lang="en-US" sz="1100">
                          <a:latin typeface="Cambria"/>
                          <a:ea typeface="Cambria"/>
                          <a:cs typeface="Cambria"/>
                          <a:sym typeface="Cambria"/>
                        </a:rPr>
                        <a:t>October 2008 - November 2009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People's Advocate of the Republic of Moldova</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September 2002 – November 2008</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Associate Attorney at Law Firm "Avornic &amp; Partners"</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4"/>
                  </a:ext>
                </a:extLst>
              </a:tr>
              <a:tr h="525625">
                <a:tc>
                  <a:txBody>
                    <a:bodyPr/>
                    <a:lstStyle/>
                    <a:p>
                      <a:pPr marL="0" marR="0" lvl="0" indent="0" algn="just" rtl="0">
                        <a:spcBef>
                          <a:spcPts val="0"/>
                        </a:spcBef>
                        <a:spcAft>
                          <a:spcPts val="0"/>
                        </a:spcAft>
                        <a:buNone/>
                      </a:pPr>
                      <a:r>
                        <a:rPr lang="en-US" sz="1100">
                          <a:latin typeface="Cambria"/>
                          <a:ea typeface="Cambria"/>
                          <a:cs typeface="Cambria"/>
                          <a:sym typeface="Cambria"/>
                        </a:rPr>
                        <a:t>August 1997 – present</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University lecturer of Civil Law (contract law) at Moldova State University, Faculty of Law</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5"/>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November 1997– present,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Attorney, member of the Moldova Bar</a:t>
                      </a:r>
                      <a:endParaRPr sz="1000">
                        <a:latin typeface="Cambria"/>
                        <a:ea typeface="Cambria"/>
                        <a:cs typeface="Cambria"/>
                        <a:sym typeface="Cambria"/>
                      </a:endParaRPr>
                    </a:p>
                    <a:p>
                      <a:pPr marL="0" marR="0" lvl="0" indent="0" algn="l" rtl="0">
                        <a:spcBef>
                          <a:spcPts val="0"/>
                        </a:spcBef>
                        <a:spcAft>
                          <a:spcPts val="0"/>
                        </a:spcAft>
                        <a:buNone/>
                      </a:pPr>
                      <a:r>
                        <a:rPr lang="en-US" sz="10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6"/>
                  </a:ext>
                </a:extLst>
              </a:tr>
            </a:tbl>
          </a:graphicData>
        </a:graphic>
      </p:graphicFrame>
      <p:sp>
        <p:nvSpPr>
          <p:cNvPr id="247" name="Google Shape;247;p13"/>
          <p:cNvSpPr txBox="1"/>
          <p:nvPr/>
        </p:nvSpPr>
        <p:spPr>
          <a:xfrm>
            <a:off x="7019427" y="5869172"/>
            <a:ext cx="5845967" cy="14842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mbria"/>
                <a:ea typeface="Cambria"/>
                <a:cs typeface="Cambria"/>
                <a:sym typeface="Cambria"/>
              </a:rPr>
              <a:t>Studies:</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Moldova State University	</a:t>
            </a:r>
            <a:br>
              <a:rPr lang="en-US" sz="1400">
                <a:solidFill>
                  <a:schemeClr val="dk1"/>
                </a:solidFill>
                <a:latin typeface="Cambria"/>
                <a:ea typeface="Cambria"/>
                <a:cs typeface="Cambria"/>
                <a:sym typeface="Cambria"/>
              </a:rPr>
            </a:br>
            <a:r>
              <a:rPr lang="en-US" sz="1400">
                <a:solidFill>
                  <a:schemeClr val="dk1"/>
                </a:solidFill>
                <a:latin typeface="Cambria"/>
                <a:ea typeface="Cambria"/>
                <a:cs typeface="Cambria"/>
                <a:sym typeface="Cambria"/>
              </a:rPr>
              <a:t>Doctoral studies, research topic "Obligations arising from unjust enrichment" </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Moldova State University, Faculty of Law, LLM in private law</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Moldova State University, Faculty of Law, LLB degree in law </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endParaRPr sz="2045">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4"/>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chemeClr val="dk1"/>
              </a:buClr>
              <a:buSzPct val="100000"/>
              <a:buNone/>
            </a:pPr>
            <a:endParaRPr sz="5600" b="1">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VLADISLAV ROȘCA</a:t>
            </a: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Attorney, Partner</a:t>
            </a:r>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is an attorney and one of the founders of ERA. Vladislav Roşca graduated from the Faculty of Law of the University of Oradea, Romania, subsequently obtaining a Master's degree in Law at the International Academy of Economic Law of the Republic of Moldova.</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began his career in the legal field in 1999, representing local and international clients in numerous litigations with various areas of specialization. Vladislav Roşca has exceptional competencies and an impressive portfolio of complex and notable cases.</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was nominated by the prestigious publication Best Lawyers in the Litigation section in 2009 and 2010, as well as by Chambers &amp; Partners in the Litigation section in 2013 and 2014, 2019, 2020, 2021.</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Roșca's areas of expertise are: corporate and commercial law, capital market, real estate, insolvency, legal audit, commercial arbitration, commercial and civil litigation, administrative litigation and criminal law matters </a:t>
            </a:r>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Languages: Romanian, Russian, English, Italian.</a:t>
            </a:r>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Professional experience:</a:t>
            </a:r>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250203" lvl="0" indent="-201562" algn="l" rtl="0">
              <a:lnSpc>
                <a:spcPct val="90000"/>
              </a:lnSpc>
              <a:spcBef>
                <a:spcPts val="1095"/>
              </a:spcBef>
              <a:spcAft>
                <a:spcPts val="0"/>
              </a:spcAft>
              <a:buClr>
                <a:schemeClr val="dk1"/>
              </a:buClr>
              <a:buSzPct val="100000"/>
              <a:buNone/>
            </a:pPr>
            <a:endParaRPr/>
          </a:p>
        </p:txBody>
      </p:sp>
      <p:sp>
        <p:nvSpPr>
          <p:cNvPr id="254" name="Google Shape;254;p1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Proposal for Legal Services</a:t>
            </a:r>
            <a:endParaRPr/>
          </a:p>
        </p:txBody>
      </p:sp>
      <p:sp>
        <p:nvSpPr>
          <p:cNvPr id="255" name="Google Shape;255;p1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cxnSp>
        <p:nvCxnSpPr>
          <p:cNvPr id="256" name="Google Shape;256;p14"/>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57" name="Google Shape;257;p14"/>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58" name="Google Shape;258;p14"/>
          <p:cNvGrpSpPr/>
          <p:nvPr/>
        </p:nvGrpSpPr>
        <p:grpSpPr>
          <a:xfrm>
            <a:off x="639425" y="7686554"/>
            <a:ext cx="611624" cy="278385"/>
            <a:chOff x="639425" y="7686554"/>
            <a:chExt cx="611624" cy="278385"/>
          </a:xfrm>
        </p:grpSpPr>
        <p:pic>
          <p:nvPicPr>
            <p:cNvPr id="259" name="Google Shape;259;p14"/>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60" name="Google Shape;260;p14"/>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61" name="Google Shape;261;p14"/>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5: CVs of ERA team members</a:t>
            </a:r>
            <a:endParaRPr/>
          </a:p>
        </p:txBody>
      </p:sp>
      <p:graphicFrame>
        <p:nvGraphicFramePr>
          <p:cNvPr id="262" name="Google Shape;262;p14"/>
          <p:cNvGraphicFramePr/>
          <p:nvPr/>
        </p:nvGraphicFramePr>
        <p:xfrm>
          <a:off x="7109474" y="2768485"/>
          <a:ext cx="5317600" cy="2654125"/>
        </p:xfrm>
        <a:graphic>
          <a:graphicData uri="http://schemas.openxmlformats.org/drawingml/2006/table">
            <a:tbl>
              <a:tblPr firstCol="1" bandRow="1">
                <a:noFill/>
                <a:tableStyleId>{6FF0782A-B248-4C6F-8606-AE48E0E161FE}</a:tableStyleId>
              </a:tblPr>
              <a:tblGrid>
                <a:gridCol w="1530075">
                  <a:extLst>
                    <a:ext uri="{9D8B030D-6E8A-4147-A177-3AD203B41FA5}">
                      <a16:colId xmlns:a16="http://schemas.microsoft.com/office/drawing/2014/main" val="20000"/>
                    </a:ext>
                  </a:extLst>
                </a:gridCol>
                <a:gridCol w="3787525">
                  <a:extLst>
                    <a:ext uri="{9D8B030D-6E8A-4147-A177-3AD203B41FA5}">
                      <a16:colId xmlns:a16="http://schemas.microsoft.com/office/drawing/2014/main" val="20001"/>
                    </a:ext>
                  </a:extLst>
                </a:gridCol>
              </a:tblGrid>
              <a:tr h="612500">
                <a:tc>
                  <a:txBody>
                    <a:bodyPr/>
                    <a:lstStyle/>
                    <a:p>
                      <a:pPr marL="0" marR="0" lvl="0" indent="0" algn="just" rtl="0">
                        <a:spcBef>
                          <a:spcPts val="0"/>
                        </a:spcBef>
                        <a:spcAft>
                          <a:spcPts val="0"/>
                        </a:spcAft>
                        <a:buNone/>
                      </a:pPr>
                      <a:r>
                        <a:rPr lang="en-US" sz="1200">
                          <a:latin typeface="Cambria"/>
                          <a:ea typeface="Cambria"/>
                          <a:cs typeface="Cambria"/>
                          <a:sym typeface="Cambria"/>
                        </a:rPr>
                        <a:t>April 2015 - present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Law Firm Efrim, Roșca și Asociații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Attorney, Partner</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816650">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August 1999 - April 2015</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Law Office "Vladislav Roșca"</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Attorney</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816650">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September 1999 - June 2002</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University lecturer</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International Academy of Economic Law</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408325">
                <a:tc>
                  <a:txBody>
                    <a:bodyPr/>
                    <a:lstStyle/>
                    <a:p>
                      <a:pPr marL="0" marR="0" lvl="0" indent="0" algn="just" rtl="0">
                        <a:spcBef>
                          <a:spcPts val="0"/>
                        </a:spcBef>
                        <a:spcAft>
                          <a:spcPts val="0"/>
                        </a:spcAft>
                        <a:buNone/>
                      </a:pPr>
                      <a:r>
                        <a:rPr lang="en-US" sz="1200">
                          <a:latin typeface="Cambria"/>
                          <a:ea typeface="Cambria"/>
                          <a:cs typeface="Cambria"/>
                          <a:sym typeface="Cambria"/>
                        </a:rPr>
                        <a:t>August 1999 – present</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Attorney, member of the Moldova Bar</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txBox="1">
            <a:spLocks noGrp="1"/>
          </p:cNvSpPr>
          <p:nvPr>
            <p:ph type="body" idx="1"/>
          </p:nvPr>
        </p:nvSpPr>
        <p:spPr>
          <a:xfrm>
            <a:off x="917435" y="1144884"/>
            <a:ext cx="11509653" cy="5935564"/>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dk1"/>
              </a:buClr>
              <a:buSzPts val="1400"/>
              <a:buNone/>
            </a:pPr>
            <a:r>
              <a:rPr lang="en-US" sz="1400" b="1">
                <a:latin typeface="Cambria"/>
                <a:ea typeface="Cambria"/>
                <a:cs typeface="Cambria"/>
                <a:sym typeface="Cambria"/>
              </a:rPr>
              <a:t>INA JIMBEI (PhD)</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Managing Associate</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Ina JIMBEI is an attorney in the ERA team, university professor at the Faculty of Law of Moldova State University. She is one of the well-known specialists in civil procedural law and administrative law. Since 2018, Ina is one of the local experts working for EBRD. She has competencies in commercial law, competition law and the regulatory field.</a:t>
            </a:r>
            <a:endParaRPr sz="1400">
              <a:latin typeface="Cambria"/>
              <a:ea typeface="Cambria"/>
              <a:cs typeface="Cambria"/>
              <a:sym typeface="Cambria"/>
            </a:endParaRPr>
          </a:p>
          <a:p>
            <a:pPr marL="0" lvl="0" indent="0" algn="l" rtl="0">
              <a:lnSpc>
                <a:spcPct val="120000"/>
              </a:lnSpc>
              <a:spcBef>
                <a:spcPts val="1095"/>
              </a:spcBef>
              <a:spcAft>
                <a:spcPts val="0"/>
              </a:spcAft>
              <a:buClr>
                <a:schemeClr val="dk1"/>
              </a:buClr>
              <a:buSzPts val="1400"/>
              <a:buNone/>
            </a:pPr>
            <a:r>
              <a:rPr lang="en-US" sz="1400" b="1">
                <a:latin typeface="Cambria"/>
                <a:ea typeface="Cambria"/>
                <a:cs typeface="Cambria"/>
                <a:sym typeface="Cambria"/>
              </a:rPr>
              <a:t>Professional experience:</a:t>
            </a:r>
            <a:endParaRPr/>
          </a:p>
          <a:p>
            <a:pPr marL="0" lvl="0" indent="0" algn="l"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5600"/>
              <a:buNone/>
            </a:pPr>
            <a:endParaRPr sz="5600">
              <a:latin typeface="Cambria"/>
              <a:ea typeface="Cambria"/>
              <a:cs typeface="Cambria"/>
              <a:sym typeface="Cambria"/>
            </a:endParaRPr>
          </a:p>
          <a:p>
            <a:pPr marL="250203" lvl="0" indent="-55575" algn="l" rtl="0">
              <a:lnSpc>
                <a:spcPct val="90000"/>
              </a:lnSpc>
              <a:spcBef>
                <a:spcPts val="1095"/>
              </a:spcBef>
              <a:spcAft>
                <a:spcPts val="0"/>
              </a:spcAft>
              <a:buClr>
                <a:schemeClr val="dk1"/>
              </a:buClr>
              <a:buSzPts val="3065"/>
              <a:buNone/>
            </a:pPr>
            <a:endParaRPr/>
          </a:p>
        </p:txBody>
      </p:sp>
      <p:sp>
        <p:nvSpPr>
          <p:cNvPr id="269" name="Google Shape;269;p1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Proposal for Legal Services</a:t>
            </a:r>
            <a:endParaRPr/>
          </a:p>
        </p:txBody>
      </p:sp>
      <p:sp>
        <p:nvSpPr>
          <p:cNvPr id="270" name="Google Shape;270;p1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cxnSp>
        <p:nvCxnSpPr>
          <p:cNvPr id="271" name="Google Shape;271;p1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72" name="Google Shape;272;p1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73" name="Google Shape;273;p15"/>
          <p:cNvGrpSpPr/>
          <p:nvPr/>
        </p:nvGrpSpPr>
        <p:grpSpPr>
          <a:xfrm>
            <a:off x="639425" y="7686554"/>
            <a:ext cx="611624" cy="278385"/>
            <a:chOff x="639425" y="7686554"/>
            <a:chExt cx="611624" cy="278385"/>
          </a:xfrm>
        </p:grpSpPr>
        <p:pic>
          <p:nvPicPr>
            <p:cNvPr id="274" name="Google Shape;274;p1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75" name="Google Shape;275;p1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76" name="Google Shape;276;p1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5: CVs of ERA team members</a:t>
            </a:r>
            <a:endParaRPr/>
          </a:p>
        </p:txBody>
      </p:sp>
      <p:sp>
        <p:nvSpPr>
          <p:cNvPr id="277" name="Google Shape;277;p15"/>
          <p:cNvSpPr txBox="1"/>
          <p:nvPr/>
        </p:nvSpPr>
        <p:spPr>
          <a:xfrm>
            <a:off x="917435" y="5852527"/>
            <a:ext cx="5845967" cy="14842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mbria"/>
                <a:ea typeface="Cambria"/>
                <a:cs typeface="Cambria"/>
                <a:sym typeface="Cambria"/>
              </a:rPr>
              <a:t>Studies:</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PhD, Moldova State University, research topic "Procedure for examining appeals in civil proceedings"</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Moldova State University, Faculty of Law, LLM in Civil Procedural Law</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Moldova State University, Faculty of Law, LLB degree in law.</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endParaRPr sz="2045">
              <a:solidFill>
                <a:schemeClr val="dk1"/>
              </a:solidFill>
              <a:latin typeface="Calibri"/>
              <a:ea typeface="Calibri"/>
              <a:cs typeface="Calibri"/>
              <a:sym typeface="Calibri"/>
            </a:endParaRPr>
          </a:p>
        </p:txBody>
      </p:sp>
      <p:graphicFrame>
        <p:nvGraphicFramePr>
          <p:cNvPr id="278" name="Google Shape;278;p15"/>
          <p:cNvGraphicFramePr/>
          <p:nvPr/>
        </p:nvGraphicFramePr>
        <p:xfrm>
          <a:off x="917435" y="3966118"/>
          <a:ext cx="5407650" cy="1280160"/>
        </p:xfrm>
        <a:graphic>
          <a:graphicData uri="http://schemas.openxmlformats.org/drawingml/2006/table">
            <a:tbl>
              <a:tblPr firstRow="1" firstCol="1" bandRow="1">
                <a:noFill/>
                <a:tableStyleId>{6FF0782A-B248-4C6F-8606-AE48E0E161FE}</a:tableStyleId>
              </a:tblPr>
              <a:tblGrid>
                <a:gridCol w="1958975">
                  <a:extLst>
                    <a:ext uri="{9D8B030D-6E8A-4147-A177-3AD203B41FA5}">
                      <a16:colId xmlns:a16="http://schemas.microsoft.com/office/drawing/2014/main" val="20000"/>
                    </a:ext>
                  </a:extLst>
                </a:gridCol>
                <a:gridCol w="3448675">
                  <a:extLst>
                    <a:ext uri="{9D8B030D-6E8A-4147-A177-3AD203B41FA5}">
                      <a16:colId xmlns:a16="http://schemas.microsoft.com/office/drawing/2014/main" val="20001"/>
                    </a:ext>
                  </a:extLst>
                </a:gridCol>
              </a:tblGrid>
              <a:tr h="152400">
                <a:tc>
                  <a:txBody>
                    <a:bodyPr/>
                    <a:lstStyle/>
                    <a:p>
                      <a:pPr marL="0" marR="0" lvl="0" indent="0" algn="just" rtl="0">
                        <a:spcBef>
                          <a:spcPts val="0"/>
                        </a:spcBef>
                        <a:spcAft>
                          <a:spcPts val="0"/>
                        </a:spcAft>
                        <a:buNone/>
                      </a:pPr>
                      <a:r>
                        <a:rPr lang="en-US" sz="1200">
                          <a:latin typeface="Cambria"/>
                          <a:ea typeface="Cambria"/>
                          <a:cs typeface="Cambria"/>
                          <a:sym typeface="Cambria"/>
                        </a:rPr>
                        <a:t>February 2020-present</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Attorney, "Efrim, Roșca și Asociații", Law Firm</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December 2011 – January 2020</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Law Office Ina JIMBEI</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August 2012 - present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University lecturer in Civil Procedural Law, Faculty of Law of Moldova State University</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December 2011 - present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Attorney, member of the Moldova Bar</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bl>
          </a:graphicData>
        </a:graphic>
      </p:graphicFrame>
      <p:sp>
        <p:nvSpPr>
          <p:cNvPr id="279" name="Google Shape;279;p15"/>
          <p:cNvSpPr txBox="1"/>
          <p:nvPr/>
        </p:nvSpPr>
        <p:spPr>
          <a:xfrm>
            <a:off x="6929546" y="2710640"/>
            <a:ext cx="5845967" cy="37548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b="1">
                <a:solidFill>
                  <a:schemeClr val="dk1"/>
                </a:solidFill>
                <a:latin typeface="Cambria"/>
                <a:ea typeface="Cambria"/>
                <a:cs typeface="Cambria"/>
                <a:sym typeface="Cambria"/>
              </a:rPr>
              <a:t>Specialization courses</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18.07.2015 –14.08.2015</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Summer School in Comparative International Law and Competition Law (Franz von Liszt-Institut fur internationales Recht und Rechtsvergleichnung, Giessen, Frankfurt, Germany)</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08.06.2015 –18.07.2015</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Summer School in European law, international commercial law, competition law (Universitat Augsburg, Munich, Germany)</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04.07.2016-29.07.2016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Munich University Summer Training in German and European law – MUST (Ludwig-Maximilians-Universitat Munchen)</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endParaRPr sz="1400" b="1">
              <a:solidFill>
                <a:schemeClr val="dk1"/>
              </a:solidFill>
              <a:latin typeface="Cambria"/>
              <a:ea typeface="Cambria"/>
              <a:cs typeface="Cambria"/>
              <a:sym typeface="Cambria"/>
            </a:endParaRPr>
          </a:p>
          <a:p>
            <a:pPr marL="0" marR="0" lvl="0" indent="0" algn="just" rtl="0">
              <a:spcBef>
                <a:spcPts val="0"/>
              </a:spcBef>
              <a:spcAft>
                <a:spcPts val="0"/>
              </a:spcAft>
              <a:buNone/>
            </a:pPr>
            <a:endParaRPr sz="1400" b="1">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b="1">
                <a:solidFill>
                  <a:schemeClr val="dk1"/>
                </a:solidFill>
                <a:latin typeface="Cambria"/>
                <a:ea typeface="Cambria"/>
                <a:cs typeface="Cambria"/>
                <a:sym typeface="Cambria"/>
              </a:rPr>
              <a:t>Languages: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Romanian, Russian, English, German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6"/>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dk1"/>
              </a:buClr>
              <a:buSzPts val="1400"/>
              <a:buNone/>
            </a:pPr>
            <a:r>
              <a:rPr lang="en-US" sz="1400" b="1">
                <a:latin typeface="Cambria"/>
                <a:ea typeface="Cambria"/>
                <a:cs typeface="Cambria"/>
                <a:sym typeface="Cambria"/>
              </a:rPr>
              <a:t>GICU BLOȘENCO</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Corporate Department</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Gicu Bloșenco is an attorney in the ERA team. He obtained his law degree from Moldova State University and has demonstrated academic interest in civil law and commercial arbitration.</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Gicu's areas of expertise are corporate and commercial law, real estate, litigation and arbitration.</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From 2021 to 2023, he coached the Faculty of Law team from Moldova State University at the Willem C. Vis International Commercial Arbitration Moot competition.</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Gicu speaks Romanian, Russian, English and French.</a:t>
            </a:r>
            <a:endParaRPr sz="1400">
              <a:latin typeface="Cambria"/>
              <a:ea typeface="Cambria"/>
              <a:cs typeface="Cambria"/>
              <a:sym typeface="Cambria"/>
            </a:endParaRPr>
          </a:p>
          <a:p>
            <a:pPr marL="0" lvl="0" indent="0" algn="just" rtl="0">
              <a:lnSpc>
                <a:spcPct val="120000"/>
              </a:lnSpc>
              <a:spcBef>
                <a:spcPts val="1095"/>
              </a:spcBef>
              <a:spcAft>
                <a:spcPts val="0"/>
              </a:spcAft>
              <a:buClr>
                <a:schemeClr val="dk1"/>
              </a:buClr>
              <a:buSzPts val="1400"/>
              <a:buNone/>
            </a:pPr>
            <a:r>
              <a:rPr lang="en-US" sz="1400" b="1">
                <a:latin typeface="Cambria"/>
                <a:ea typeface="Cambria"/>
                <a:cs typeface="Cambria"/>
                <a:sym typeface="Cambria"/>
              </a:rPr>
              <a:t>Studies:</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Moldova State University, Faculty of Law, LLB degree in law.</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Professional Experience</a:t>
            </a:r>
            <a:endParaRPr sz="1400">
              <a:latin typeface="Cambria"/>
              <a:ea typeface="Cambria"/>
              <a:cs typeface="Cambria"/>
              <a:sym typeface="Cambria"/>
            </a:endParaRPr>
          </a:p>
          <a:p>
            <a:pPr marL="0" lvl="0" indent="0" algn="l" rtl="0">
              <a:lnSpc>
                <a:spcPct val="9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1400"/>
              <a:buNone/>
            </a:pPr>
            <a:endParaRPr sz="1400">
              <a:latin typeface="Cambria"/>
              <a:ea typeface="Cambria"/>
              <a:cs typeface="Cambria"/>
              <a:sym typeface="Cambria"/>
            </a:endParaRPr>
          </a:p>
          <a:p>
            <a:pPr marL="250203" lvl="0" indent="-55575" algn="l" rtl="0">
              <a:lnSpc>
                <a:spcPct val="90000"/>
              </a:lnSpc>
              <a:spcBef>
                <a:spcPts val="1095"/>
              </a:spcBef>
              <a:spcAft>
                <a:spcPts val="0"/>
              </a:spcAft>
              <a:buClr>
                <a:schemeClr val="dk1"/>
              </a:buClr>
              <a:buSzPts val="3065"/>
              <a:buNone/>
            </a:pPr>
            <a:endParaRPr/>
          </a:p>
        </p:txBody>
      </p:sp>
      <p:sp>
        <p:nvSpPr>
          <p:cNvPr id="286" name="Google Shape;286;p1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Proposal for Legal Services</a:t>
            </a:r>
            <a:endParaRPr/>
          </a:p>
        </p:txBody>
      </p:sp>
      <p:sp>
        <p:nvSpPr>
          <p:cNvPr id="287" name="Google Shape;287;p1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cxnSp>
        <p:nvCxnSpPr>
          <p:cNvPr id="288" name="Google Shape;288;p16"/>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89" name="Google Shape;289;p16"/>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90" name="Google Shape;290;p16"/>
          <p:cNvGrpSpPr/>
          <p:nvPr/>
        </p:nvGrpSpPr>
        <p:grpSpPr>
          <a:xfrm>
            <a:off x="639425" y="7686554"/>
            <a:ext cx="611624" cy="278385"/>
            <a:chOff x="639425" y="7686554"/>
            <a:chExt cx="611624" cy="278385"/>
          </a:xfrm>
        </p:grpSpPr>
        <p:pic>
          <p:nvPicPr>
            <p:cNvPr id="291" name="Google Shape;291;p16"/>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92" name="Google Shape;292;p16"/>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93" name="Google Shape;293;p16"/>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Section 5: CVs of ERA team members</a:t>
            </a:r>
            <a:endParaRPr/>
          </a:p>
        </p:txBody>
      </p:sp>
      <p:graphicFrame>
        <p:nvGraphicFramePr>
          <p:cNvPr id="294" name="Google Shape;294;p16"/>
          <p:cNvGraphicFramePr/>
          <p:nvPr/>
        </p:nvGraphicFramePr>
        <p:xfrm>
          <a:off x="7164493" y="1781175"/>
          <a:ext cx="5649600" cy="1828800"/>
        </p:xfrm>
        <a:graphic>
          <a:graphicData uri="http://schemas.openxmlformats.org/drawingml/2006/table">
            <a:tbl>
              <a:tblPr firstRow="1" firstCol="1" bandRow="1">
                <a:noFill/>
                <a:tableStyleId>{6FF0782A-B248-4C6F-8606-AE48E0E161FE}</a:tableStyleId>
              </a:tblPr>
              <a:tblGrid>
                <a:gridCol w="1868800">
                  <a:extLst>
                    <a:ext uri="{9D8B030D-6E8A-4147-A177-3AD203B41FA5}">
                      <a16:colId xmlns:a16="http://schemas.microsoft.com/office/drawing/2014/main" val="20000"/>
                    </a:ext>
                  </a:extLst>
                </a:gridCol>
                <a:gridCol w="3780800">
                  <a:extLst>
                    <a:ext uri="{9D8B030D-6E8A-4147-A177-3AD203B41FA5}">
                      <a16:colId xmlns:a16="http://schemas.microsoft.com/office/drawing/2014/main" val="20001"/>
                    </a:ext>
                  </a:extLst>
                </a:gridCol>
              </a:tblGrid>
              <a:tr h="514350">
                <a:tc>
                  <a:txBody>
                    <a:bodyPr/>
                    <a:lstStyle/>
                    <a:p>
                      <a:pPr marL="0" marR="0" lvl="0" indent="0" algn="l" rtl="0">
                        <a:spcBef>
                          <a:spcPts val="0"/>
                        </a:spcBef>
                        <a:spcAft>
                          <a:spcPts val="0"/>
                        </a:spcAft>
                        <a:buNone/>
                      </a:pPr>
                      <a:r>
                        <a:rPr lang="en-US" sz="1200">
                          <a:latin typeface="Cambria"/>
                          <a:ea typeface="Cambria"/>
                          <a:cs typeface="Cambria"/>
                          <a:sym typeface="Cambria"/>
                        </a:rPr>
                        <a:t>December 2023 – present</a:t>
                      </a: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l" rtl="0">
                        <a:spcBef>
                          <a:spcPts val="0"/>
                        </a:spcBef>
                        <a:spcAft>
                          <a:spcPts val="0"/>
                        </a:spcAft>
                        <a:buNone/>
                      </a:pPr>
                      <a:r>
                        <a:rPr lang="en-US" sz="1200">
                          <a:latin typeface="Cambria"/>
                          <a:ea typeface="Cambria"/>
                          <a:cs typeface="Cambria"/>
                          <a:sym typeface="Cambria"/>
                        </a:rPr>
                        <a:t>Efrim, Roșca și Asociații Law Firm </a:t>
                      </a: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Attorney</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152400">
                <a:tc>
                  <a:txBody>
                    <a:bodyPr/>
                    <a:lstStyle/>
                    <a:p>
                      <a:pPr marL="0" marR="0" lvl="0" indent="0" algn="l" rtl="0">
                        <a:spcBef>
                          <a:spcPts val="0"/>
                        </a:spcBef>
                        <a:spcAft>
                          <a:spcPts val="0"/>
                        </a:spcAft>
                        <a:buNone/>
                      </a:pPr>
                      <a:r>
                        <a:rPr lang="en-US" sz="1200">
                          <a:latin typeface="Cambria"/>
                          <a:ea typeface="Cambria"/>
                          <a:cs typeface="Cambria"/>
                          <a:sym typeface="Cambria"/>
                        </a:rPr>
                        <a:t>January 2021 - December 2023</a:t>
                      </a:r>
                      <a:endParaRPr sz="1200">
                        <a:latin typeface="Cambria"/>
                        <a:ea typeface="Cambria"/>
                        <a:cs typeface="Cambria"/>
                        <a:sym typeface="Cambria"/>
                      </a:endParaRPr>
                    </a:p>
                  </a:txBody>
                  <a:tcPr marL="68575" marR="68575" marT="0" marB="0"/>
                </a:tc>
                <a:tc>
                  <a:txBody>
                    <a:bodyPr/>
                    <a:lstStyle/>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Efrim, Roșca și Asociații Law Firm </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Trainee Lawyer</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152400">
                <a:tc>
                  <a:txBody>
                    <a:bodyPr/>
                    <a:lstStyle/>
                    <a:p>
                      <a:pPr marL="457200" marR="0" lvl="0" indent="-457200" algn="l" rtl="0">
                        <a:spcBef>
                          <a:spcPts val="0"/>
                        </a:spcBef>
                        <a:spcAft>
                          <a:spcPts val="0"/>
                        </a:spcAft>
                        <a:buNone/>
                      </a:pP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 September 2020 – January 2021</a:t>
                      </a:r>
                      <a:endParaRPr sz="1200">
                        <a:latin typeface="Cambria"/>
                        <a:ea typeface="Cambria"/>
                        <a:cs typeface="Cambria"/>
                        <a:sym typeface="Cambria"/>
                      </a:endParaRPr>
                    </a:p>
                  </a:txBody>
                  <a:tcPr marL="68575" marR="68575" marT="0" marB="0"/>
                </a:tc>
                <a:tc>
                  <a:txBody>
                    <a:bodyPr/>
                    <a:lstStyle/>
                    <a:p>
                      <a:pPr marL="0" marR="0" lvl="0" indent="0" algn="l" rtl="0">
                        <a:spcBef>
                          <a:spcPts val="0"/>
                        </a:spcBef>
                        <a:spcAft>
                          <a:spcPts val="0"/>
                        </a:spcAft>
                        <a:buNone/>
                      </a:pPr>
                      <a:endParaRPr sz="1200" b="0">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Efrim, Roșca și Asociații Law Firm </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Legal consultant</a:t>
                      </a:r>
                      <a:endParaRPr sz="1200" b="0" i="0" u="none" strike="noStrike" cap="none">
                        <a:solidFill>
                          <a:schemeClr val="dk1"/>
                        </a:solidFill>
                        <a:latin typeface="Cambria"/>
                        <a:ea typeface="Cambria"/>
                        <a:cs typeface="Cambria"/>
                        <a:sym typeface="Cambria"/>
                      </a:endParaRPr>
                    </a:p>
                    <a:p>
                      <a:pPr marL="0" marR="0" lvl="0" indent="0" algn="l" rtl="0">
                        <a:spcBef>
                          <a:spcPts val="0"/>
                        </a:spcBef>
                        <a:spcAft>
                          <a:spcPts val="0"/>
                        </a:spcAft>
                        <a:buNone/>
                      </a:pPr>
                      <a:endParaRPr sz="1200" b="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3678</Words>
  <Application>Microsoft Office PowerPoint</Application>
  <PresentationFormat>Custom</PresentationFormat>
  <Paragraphs>386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Noto Sans Symbols</vt:lpstr>
      <vt:lpstr>Office Theme</vt:lpstr>
      <vt:lpstr>PowerPoint Presentation</vt:lpstr>
      <vt:lpstr> </vt:lpstr>
      <vt:lpstr>Secțiunea 1   Obiectul serviciilor</vt:lpstr>
      <vt:lpstr>PowerPoint Presentation</vt:lpstr>
      <vt:lpstr>PowerPoint Presentation</vt:lpstr>
      <vt:lpstr>PowerPoint Presentation</vt:lpstr>
      <vt:lpstr>PowerPoint Presentation</vt:lpstr>
      <vt:lpstr>Secțiunea 2   Oferta financiară</vt:lpstr>
      <vt:lpstr>PowerPoint Presentation</vt:lpstr>
      <vt:lpstr>Secțiunea 3   Profilul ERA </vt:lpstr>
      <vt:lpstr>PowerPoint Presentation</vt:lpstr>
      <vt:lpstr>Secțiunea 4  Experiență relevantă: Fuziuni și Achiziții</vt:lpstr>
      <vt:lpstr>PowerPoint Presentation</vt:lpstr>
      <vt:lpstr>Secțiunea 5    Echipa ERA pentru proiect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Efrim,Paul P.</cp:lastModifiedBy>
  <cp:revision>5</cp:revision>
  <dcterms:created xsi:type="dcterms:W3CDTF">2017-09-15T07:02:19Z</dcterms:created>
  <dcterms:modified xsi:type="dcterms:W3CDTF">2026-06-01T16:24:14Z</dcterms:modified>
</cp:coreProperties>
</file>